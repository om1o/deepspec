
<file path=[Content_Types].xml><?xml version="1.0" encoding="utf-8"?>
<Types xmlns="http://schemas.openxmlformats.org/package/2006/content-types">
  <Default Extension="xml" ContentType="application/vnd.openxmlformats-package.core-properties+xml"/>
  <Default Extension="bin" ContentType="image/webp"/>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8cca4bea23148d9" /><Relationship Type="http://schemas.openxmlformats.org/officeDocument/2006/relationships/extended-properties" Target="/docProps/app.xml" Id="Rd360a83960374e91" /><Relationship Type="http://schemas.openxmlformats.org/officeDocument/2006/relationships/officeDocument" Target="/ppt/presentation.xml" Id="Rcdb79144a67247a7" /></Relationships>
</file>

<file path=ppt/presentation.xml><?xml version="1.0" encoding="utf-8"?>
<p:presentation xmlns:p="http://schemas.openxmlformats.org/presentationml/2006/main">
  <p:sldMasterIdLst>
    <p:sldMasterId xmlns:r="http://schemas.openxmlformats.org/officeDocument/2006/relationships" id="2147483648" r:id="R038ed04b095e4451"/>
  </p:sldMasterIdLst>
  <p:notesMasterIdLst>
    <p:notesMasterId xmlns:r="http://schemas.openxmlformats.org/officeDocument/2006/relationships" r:id="Re1df67a249f54a01"/>
  </p:notesMasterIdLst>
  <p:sldIdLst>
    <p:sldId xmlns:r="http://schemas.openxmlformats.org/officeDocument/2006/relationships" id="256" r:id="R484271d48bed4ba5"/>
    <p:sldId xmlns:r="http://schemas.openxmlformats.org/officeDocument/2006/relationships" id="257" r:id="R6002e3aa853a4f6f"/>
    <p:sldId xmlns:r="http://schemas.openxmlformats.org/officeDocument/2006/relationships" id="258" r:id="Rb7f20b052572408f"/>
    <p:sldId xmlns:r="http://schemas.openxmlformats.org/officeDocument/2006/relationships" id="259" r:id="Ra8011dd9b6994b42"/>
    <p:sldId xmlns:r="http://schemas.openxmlformats.org/officeDocument/2006/relationships" id="260" r:id="Rccbe68727ea24028"/>
    <p:sldId xmlns:r="http://schemas.openxmlformats.org/officeDocument/2006/relationships" id="261" r:id="R064680f5bce94f94"/>
    <p:sldId xmlns:r="http://schemas.openxmlformats.org/officeDocument/2006/relationships" id="262" r:id="Rb35133015d554c04"/>
    <p:sldId xmlns:r="http://schemas.openxmlformats.org/officeDocument/2006/relationships" id="263" r:id="R0c519eb9b8384fc5"/>
    <p:sldId xmlns:r="http://schemas.openxmlformats.org/officeDocument/2006/relationships" id="264" r:id="R10384897fcb34e2d"/>
    <p:sldId xmlns:r="http://schemas.openxmlformats.org/officeDocument/2006/relationships" id="265" r:id="Rf74510dd8db14a72"/>
    <p:sldId xmlns:r="http://schemas.openxmlformats.org/officeDocument/2006/relationships" id="266" r:id="R5d2ecf51149140cf"/>
    <p:sldId xmlns:r="http://schemas.openxmlformats.org/officeDocument/2006/relationships" id="267" r:id="Raa029e60d4f54f86"/>
    <p:sldId xmlns:r="http://schemas.openxmlformats.org/officeDocument/2006/relationships" id="268" r:id="R828009d5228b44e6"/>
    <p:sldId xmlns:r="http://schemas.openxmlformats.org/officeDocument/2006/relationships" id="269" r:id="Ra023e818180e4c2c"/>
    <p:sldId xmlns:r="http://schemas.openxmlformats.org/officeDocument/2006/relationships" id="270" r:id="Rdd974cbd49114a11"/>
    <p:sldId xmlns:r="http://schemas.openxmlformats.org/officeDocument/2006/relationships" id="271" r:id="Rd1b74b97c89548b3"/>
    <p:sldId xmlns:r="http://schemas.openxmlformats.org/officeDocument/2006/relationships" id="272" r:id="R07dbf31f7f7a45c8"/>
    <p:sldId xmlns:r="http://schemas.openxmlformats.org/officeDocument/2006/relationships" id="273" r:id="R45292555941a48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ce5007b1604a2c" /><Relationship Type="http://schemas.openxmlformats.org/officeDocument/2006/relationships/slideMaster" Target="/ppt/slideMasters/slideMaster1.xml" Id="R038ed04b095e4451" /><Relationship Type="http://schemas.openxmlformats.org/officeDocument/2006/relationships/notesMaster" Target="/ppt/notesMasters/notesMaster1.xml" Id="Re1df67a249f54a01" /><Relationship Type="http://schemas.openxmlformats.org/officeDocument/2006/relationships/presProps" Target="/ppt/presProps.xml" Id="R5fecb5edff134794" /><Relationship Type="http://schemas.openxmlformats.org/officeDocument/2006/relationships/tableStyles" Target="/ppt/tableStyles.xml" Id="R95ce407ba1a74008" /><Relationship Type="http://schemas.openxmlformats.org/officeDocument/2006/relationships/slide" Target="/ppt/slides/slide1.xml" Id="R484271d48bed4ba5" /><Relationship Type="http://schemas.openxmlformats.org/officeDocument/2006/relationships/slide" Target="/ppt/slides/slide2.xml" Id="R6002e3aa853a4f6f" /><Relationship Type="http://schemas.openxmlformats.org/officeDocument/2006/relationships/slide" Target="/ppt/slides/slide3.xml" Id="Rb7f20b052572408f" /><Relationship Type="http://schemas.openxmlformats.org/officeDocument/2006/relationships/slide" Target="/ppt/slides/slide4.xml" Id="Ra8011dd9b6994b42" /><Relationship Type="http://schemas.openxmlformats.org/officeDocument/2006/relationships/slide" Target="/ppt/slides/slide5.xml" Id="Rccbe68727ea24028" /><Relationship Type="http://schemas.openxmlformats.org/officeDocument/2006/relationships/slide" Target="/ppt/slides/slide6.xml" Id="R064680f5bce94f94" /><Relationship Type="http://schemas.openxmlformats.org/officeDocument/2006/relationships/slide" Target="/ppt/slides/slide7.xml" Id="Rb35133015d554c04" /><Relationship Type="http://schemas.openxmlformats.org/officeDocument/2006/relationships/slide" Target="/ppt/slides/slide8.xml" Id="R0c519eb9b8384fc5" /><Relationship Type="http://schemas.openxmlformats.org/officeDocument/2006/relationships/slide" Target="/ppt/slides/slide9.xml" Id="R10384897fcb34e2d" /><Relationship Type="http://schemas.openxmlformats.org/officeDocument/2006/relationships/slide" Target="/ppt/slides/slide10.xml" Id="Rf74510dd8db14a72" /><Relationship Type="http://schemas.openxmlformats.org/officeDocument/2006/relationships/slide" Target="/ppt/slides/slide11.xml" Id="R5d2ecf51149140cf" /><Relationship Type="http://schemas.openxmlformats.org/officeDocument/2006/relationships/slide" Target="/ppt/slides/slide12.xml" Id="Raa029e60d4f54f86" /><Relationship Type="http://schemas.openxmlformats.org/officeDocument/2006/relationships/slide" Target="/ppt/slides/slide13.xml" Id="R828009d5228b44e6" /><Relationship Type="http://schemas.openxmlformats.org/officeDocument/2006/relationships/slide" Target="/ppt/slides/slide14.xml" Id="Ra023e818180e4c2c" /><Relationship Type="http://schemas.openxmlformats.org/officeDocument/2006/relationships/slide" Target="/ppt/slides/slide15.xml" Id="Rdd974cbd49114a11" /><Relationship Type="http://schemas.openxmlformats.org/officeDocument/2006/relationships/slide" Target="/ppt/slides/slide16.xml" Id="Rd1b74b97c89548b3" /><Relationship Type="http://schemas.openxmlformats.org/officeDocument/2006/relationships/slide" Target="/ppt/slides/slide17.xml" Id="R07dbf31f7f7a45c8" /><Relationship Type="http://schemas.openxmlformats.org/officeDocument/2006/relationships/slide" Target="/ppt/slides/slide18.xml" Id="R45292555941a48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1d8bf58c9643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f7f6e8fbf6470e" /><Relationship Type="http://schemas.openxmlformats.org/officeDocument/2006/relationships/notesMaster" Target="/ppt/notesMasters/notesMaster1.xml" Id="R1e2504fe0c1d42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b679ef5e624e6e" /><Relationship Type="http://schemas.openxmlformats.org/officeDocument/2006/relationships/notesMaster" Target="/ppt/notesMasters/notesMaster1.xml" Id="R278541e8133841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d2bb3626144556" /><Relationship Type="http://schemas.openxmlformats.org/officeDocument/2006/relationships/notesMaster" Target="/ppt/notesMasters/notesMaster1.xml" Id="R798b3c0f8e164e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505db2ae7f4705" /><Relationship Type="http://schemas.openxmlformats.org/officeDocument/2006/relationships/notesMaster" Target="/ppt/notesMasters/notesMaster1.xml" Id="R7778d156320340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9d170bc0b54126" /><Relationship Type="http://schemas.openxmlformats.org/officeDocument/2006/relationships/notesMaster" Target="/ppt/notesMasters/notesMaster1.xml" Id="R1c76defab67049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a9c26be43e48bb" /><Relationship Type="http://schemas.openxmlformats.org/officeDocument/2006/relationships/notesMaster" Target="/ppt/notesMasters/notesMaster1.xml" Id="Rfb5b2caccd9143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33579978d14535" /><Relationship Type="http://schemas.openxmlformats.org/officeDocument/2006/relationships/notesMaster" Target="/ppt/notesMasters/notesMaster1.xml" Id="R2e9a8b1c13b742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74b37e32644667" /><Relationship Type="http://schemas.openxmlformats.org/officeDocument/2006/relationships/notesMaster" Target="/ppt/notesMasters/notesMaster1.xml" Id="R99bcea39b6874a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61d3403be347cc" /><Relationship Type="http://schemas.openxmlformats.org/officeDocument/2006/relationships/notesMaster" Target="/ppt/notesMasters/notesMaster1.xml" Id="Ra17efe07880745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a203a71a444341" /><Relationship Type="http://schemas.openxmlformats.org/officeDocument/2006/relationships/notesMaster" Target="/ppt/notesMasters/notesMaster1.xml" Id="R49a66a15485c44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204f14cb9846c1" /><Relationship Type="http://schemas.openxmlformats.org/officeDocument/2006/relationships/notesMaster" Target="/ppt/notesMasters/notesMaster1.xml" Id="R0b42997c11f146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8b1c9f13a84c07" /><Relationship Type="http://schemas.openxmlformats.org/officeDocument/2006/relationships/notesMaster" Target="/ppt/notesMasters/notesMaster1.xml" Id="R3de75cdee59e41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94ed67f5a284ec8" /><Relationship Type="http://schemas.openxmlformats.org/officeDocument/2006/relationships/notesMaster" Target="/ppt/notesMasters/notesMaster1.xml" Id="R1048f613903d4a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fc40c80c69d47d5" /><Relationship Type="http://schemas.openxmlformats.org/officeDocument/2006/relationships/notesMaster" Target="/ppt/notesMasters/notesMaster1.xml" Id="R4bac4a6f23e044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ca68544d214087" /><Relationship Type="http://schemas.openxmlformats.org/officeDocument/2006/relationships/notesMaster" Target="/ppt/notesMasters/notesMaster1.xml" Id="R53866774f2e54f7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7d112eb6ef45b1" /><Relationship Type="http://schemas.openxmlformats.org/officeDocument/2006/relationships/notesMaster" Target="/ppt/notesMasters/notesMaster1.xml" Id="R7dbc65fc33dc4f1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584d9593034f93" /><Relationship Type="http://schemas.openxmlformats.org/officeDocument/2006/relationships/notesMaster" Target="/ppt/notesMasters/notesMaster1.xml" Id="R9b928179c2da4d2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bfb7f6fbdbf4725" /><Relationship Type="http://schemas.openxmlformats.org/officeDocument/2006/relationships/notesMaster" Target="/ppt/notesMasters/notesMaster1.xml" Id="Ra492623b66514b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V1 aim is to let someone photograph an automotive part, receive an AI identification suggestion and useful information, inspect the result, and easily report or correct problems. Human inspection records add traceable evidence for seller and shop workflows. Actual time savings and real-user accuracy remain unmeasured. The cover uses existing original AI-generated brand artwork, not a customer scan.</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docs/PART_INSPECTION_PILOT.md</a:t>
            </a:r>
          </a:p>
          <a:p xmlns:a="http://schemas.openxmlformats.org/drawingml/2006/main">
            <a:r>
              <a:t>docs/PILOT_RUNBOOK.md</a:t>
            </a:r>
          </a:p>
          <a:p xmlns:a="http://schemas.openxmlformats.org/drawingml/2006/main">
            <a:r>
              <a:t>public/brand/alternator-workbench.webp</a:t>
            </a:r>
          </a:p>
          <a:p xmlns:a="http://schemas.openxmlformats.org/drawingml/2006/main">
            <a:r>
              <a:t>docs/UI_POLISH_2026-09-21.md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product hypotheses, not claims from an industry survey. They apply to a person trying to understand a component as well as to seller intake. DeepSpec should observe real users before quantifying prevalence, time lost or return-rate impact.</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docs/PILOT_RUNBOOK.md</a:t>
            </a:r>
          </a:p>
          <a:p xmlns:a="http://schemas.openxmlformats.org/drawingml/2006/main">
            <a:r>
              <a:t>docs/PART_INSPECTION_PILOT.md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roles are intended uses, not existing customer counts. Seller intake is one candidate workflow in the broader trusted-user beta. Shop mode currently stores jobs locally for the account/device, rather than providing a live shared workspace. DIY users should treat AI output as a starting point and seek appropriate human checks.</a:t>
            </a:r>
          </a:p>
          <a:p xmlns:a="http://schemas.openxmlformats.org/drawingml/2006/main">
            <a:r>
              <a:t/>
            </a:r>
          </a:p>
          <a:p xmlns:a="http://schemas.openxmlformats.org/drawingml/2006/main">
            <a:r>
              <a:t>Sources</a:t>
            </a:r>
          </a:p>
          <a:p xmlns:a="http://schemas.openxmlformats.org/drawingml/2006/main">
            <a:r>
              <a:t>docs/PILOT_RUNBOOK.md</a:t>
            </a:r>
          </a:p>
          <a:p xmlns:a="http://schemas.openxmlformats.org/drawingml/2006/main">
            <a:r>
              <a:t>src/screens/Shop.tsx</a:t>
            </a:r>
          </a:p>
          <a:p xmlns:a="http://schemas.openxmlformats.org/drawingml/2006/main">
            <a:r>
              <a:t>src/services/shop.ts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combines scanner capture and results with human inspection metadata and saved history/report tools. Save state distinguishes device persistence from successful cloud receipt. Cloud behavior depends on configuration and connectivity.</a:t>
            </a:r>
          </a:p>
          <a:p xmlns:a="http://schemas.openxmlformats.org/drawingml/2006/main">
            <a:r>
              <a:t/>
            </a:r>
          </a:p>
          <a:p xmlns:a="http://schemas.openxmlformats.org/drawingml/2006/main">
            <a:r>
              <a:t>Sources</a:t>
            </a:r>
          </a:p>
          <a:p xmlns:a="http://schemas.openxmlformats.org/drawingml/2006/main">
            <a:r>
              <a:t>docs/PART_INSPECTION_PILOT.md</a:t>
            </a:r>
          </a:p>
          <a:p xmlns:a="http://schemas.openxmlformats.org/drawingml/2006/main">
            <a:r>
              <a:t>src/screens/Scanner.tsx</a:t>
            </a:r>
          </a:p>
          <a:p xmlns:a="http://schemas.openxmlformats.org/drawingml/2006/main">
            <a:r>
              <a:t>src/screens/Result.tsx</a:t>
            </a:r>
          </a:p>
          <a:p xmlns:a="http://schemas.openxmlformats.org/drawingml/2006/main">
            <a:r>
              <a:t>src/screens/History.tsx</a:t>
            </a:r>
          </a:p>
          <a:p xmlns:a="http://schemas.openxmlformats.org/drawingml/2006/main">
            <a:r>
              <a:t>src/services/report.ts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scanner accepts camera and upload input, assesses capture quality and can focus/isolate a selected region. Segmentation service availability affects isolation; do not claim guaranteed segmentation or 3D reconstruction. This is a two-dimensional image workflow. A clearer photo can aid review but does not guarantee identification accuracy.</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src/screens/Scanner.tsx</a:t>
            </a:r>
          </a:p>
          <a:p xmlns:a="http://schemas.openxmlformats.org/drawingml/2006/main">
            <a:r>
              <a:t>src/lib/imageQuality.ts</a:t>
            </a:r>
          </a:p>
          <a:p xmlns:a="http://schemas.openxmlformats.org/drawingml/2006/main">
            <a:r>
              <a:t>src/lib/promptableSegmentation.ts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records a live engine-image QA response on September 26. It is a feature example, not a measured identification-accuracy study. Results and follow-up chat can contain errors. A separate result chat lets users ask about the scan. Scan upload cloud receipt in the screenshot does not prove the new human-inspection cloud column exists.</a:t>
            </a:r>
          </a:p>
          <a:p xmlns:a="http://schemas.openxmlformats.org/drawingml/2006/main">
            <a:r>
              <a:t/>
            </a:r>
          </a:p>
          <a:p xmlns:a="http://schemas.openxmlformats.org/drawingml/2006/main">
            <a:r>
              <a:t>Sources</a:t>
            </a:r>
          </a:p>
          <a:p xmlns:a="http://schemas.openxmlformats.org/drawingml/2006/main">
            <a:r>
              <a:t>artifacts/qa/2026-09-26T11-35-19-272Z/screenshots/scanner-ai-engine.png</a:t>
            </a:r>
          </a:p>
          <a:p xmlns:a="http://schemas.openxmlformats.org/drawingml/2006/main">
            <a:r>
              <a:t>artifacts/qa/2026-09-26T11-35-19-272Z/report.md</a:t>
            </a:r>
          </a:p>
          <a:p xmlns:a="http://schemas.openxmlformats.org/drawingml/2006/main">
            <a:r>
              <a:t>src/screens/Result.tsx</a:t>
            </a:r>
          </a:p>
          <a:p xmlns:a="http://schemas.openxmlformats.org/drawingml/2006/main">
            <a:r>
              <a:t>src/screens/Chat.tsx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DeepSpec stores human inspection fields separately from AI output. The form requires inspector name, identity evidence when identity is provided, notes for visible damage/uncertainty, and a method/result when a functional status has been selected. Inspector identity is self-reported. These records are not safety certification or validated training labels.</a:t>
            </a:r>
          </a:p>
          <a:p xmlns:a="http://schemas.openxmlformats.org/drawingml/2006/main">
            <a:r>
              <a:t/>
            </a:r>
          </a:p>
          <a:p xmlns:a="http://schemas.openxmlformats.org/drawingml/2006/main">
            <a:r>
              <a:t>Sources</a:t>
            </a:r>
          </a:p>
          <a:p xmlns:a="http://schemas.openxmlformats.org/drawingml/2006/main">
            <a:r>
              <a:t>docs/PART_INSPECTION_PILOT.md</a:t>
            </a:r>
          </a:p>
          <a:p xmlns:a="http://schemas.openxmlformats.org/drawingml/2006/main">
            <a:r>
              <a:t>src/components/result/PartInspectionForm.tsx</a:t>
            </a:r>
          </a:p>
          <a:p xmlns:a="http://schemas.openxmlformats.org/drawingml/2006/main">
            <a:r>
              <a:t>src/lib/partInspection.ts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fictional QA input in the actual application. Draft recovery is scoped by signed-in account and scan on the device. Restore and discard are explicit. If the saved inspection changed, restoration is blocked and the user can download old notes. The app warns when storage fails and keeps visible typed text. This guard does not provide atomic cross-device conflict resolution.</a:t>
            </a:r>
          </a:p>
          <a:p xmlns:a="http://schemas.openxmlformats.org/drawingml/2006/main">
            <a:r>
              <a:t/>
            </a:r>
          </a:p>
          <a:p xmlns:a="http://schemas.openxmlformats.org/drawingml/2006/main">
            <a:r>
              <a:t>Sources</a:t>
            </a:r>
          </a:p>
          <a:p xmlns:a="http://schemas.openxmlformats.org/drawingml/2006/main">
            <a:r>
              <a:t>docs/DRAFT_RECOVERY_RELEASE_REPORT_2026-09-26.md</a:t>
            </a:r>
          </a:p>
          <a:p xmlns:a="http://schemas.openxmlformats.org/drawingml/2006/main">
            <a:r>
              <a:t>src/services/inspectionDraft.ts</a:t>
            </a:r>
          </a:p>
          <a:p xmlns:a="http://schemas.openxmlformats.org/drawingml/2006/main">
            <a:r>
              <a:t>src/components/result/PartInspectionForm.tsx</a:t>
            </a:r>
          </a:p>
          <a:p xmlns:a="http://schemas.openxmlformats.org/drawingml/2006/main">
            <a:r>
              <a:t>artifacts/qa/2026-09-26T16-20-49-881Z/screenshots/inspection-stale-recovery-choice.png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history supports search, categories, review states, ratings and an unresolved-identity filter. The screenshot contains synthetic QA records with unavailable photos, not real customer inventory. Library export offers JSON; individual text report export includes human inspection fields and private notes, so review before sharing. Device success and cloud success remain distinct.</a:t>
            </a:r>
          </a:p>
          <a:p xmlns:a="http://schemas.openxmlformats.org/drawingml/2006/main">
            <a:r>
              <a:t/>
            </a:r>
          </a:p>
          <a:p xmlns:a="http://schemas.openxmlformats.org/drawingml/2006/main">
            <a:r>
              <a:t>Sources</a:t>
            </a:r>
          </a:p>
          <a:p xmlns:a="http://schemas.openxmlformats.org/drawingml/2006/main">
            <a:r>
              <a:t>src/screens/History.tsx</a:t>
            </a:r>
          </a:p>
          <a:p xmlns:a="http://schemas.openxmlformats.org/drawingml/2006/main">
            <a:r>
              <a:t>src/services/report.ts</a:t>
            </a:r>
          </a:p>
          <a:p xmlns:a="http://schemas.openxmlformats.org/drawingml/2006/main">
            <a:r>
              <a:t>artifacts/qa/2026-09-21T13-42-31-354Z/screenshots/saved-history.png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Shop mode supports local job/customer/vehicle context, linked scans and generated customer reports. It does not currently provide a shared live multi-employee database or automatic catalog/order integration. This is an intended application within the product, not proof that a shop already adopted it.</a:t>
            </a:r>
          </a:p>
          <a:p xmlns:a="http://schemas.openxmlformats.org/drawingml/2006/main">
            <a:r>
              <a:t/>
            </a:r>
          </a:p>
          <a:p xmlns:a="http://schemas.openxmlformats.org/drawingml/2006/main">
            <a:r>
              <a:t>Sources</a:t>
            </a:r>
          </a:p>
          <a:p xmlns:a="http://schemas.openxmlformats.org/drawingml/2006/main">
            <a:r>
              <a:t>src/screens/Shop.tsx</a:t>
            </a:r>
          </a:p>
          <a:p xmlns:a="http://schemas.openxmlformats.org/drawingml/2006/main">
            <a:r>
              <a:t>src/services/shop.ts</a:t>
            </a:r>
          </a:p>
          <a:p xmlns:a="http://schemas.openxmlformats.org/drawingml/2006/main">
            <a:r>
              <a:t>src/services/report.ts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Account-scope generation guards prevent stale asynchronous activity from applying to another account. Local device data still uses browser storage and is not a guarantee against a compromised device. Existing authentication and cloud pathways require release verification. The live inspection verifier now passes save/read/update and account isolation after the additive migration. No automatic training ingestion is claimed.</a:t>
            </a:r>
          </a:p>
          <a:p xmlns:a="http://schemas.openxmlformats.org/drawingml/2006/main">
            <a:r>
              <a:t/>
            </a:r>
          </a:p>
          <a:p xmlns:a="http://schemas.openxmlformats.org/drawingml/2006/main">
            <a:r>
              <a:t>Sources</a:t>
            </a:r>
          </a:p>
          <a:p xmlns:a="http://schemas.openxmlformats.org/drawingml/2006/main">
            <a:r>
              <a:t>src/lib/accountScope.ts</a:t>
            </a:r>
          </a:p>
          <a:p xmlns:a="http://schemas.openxmlformats.org/drawingml/2006/main">
            <a:r>
              <a:t>src/services/storage.ts</a:t>
            </a:r>
          </a:p>
          <a:p xmlns:a="http://schemas.openxmlformats.org/drawingml/2006/main">
            <a:r>
              <a:t>src/services/cloudSync.ts</a:t>
            </a:r>
          </a:p>
          <a:p xmlns:a="http://schemas.openxmlformats.org/drawingml/2006/main">
            <a:r>
              <a:t>src/services/inspectionDraft.ts</a:t>
            </a:r>
          </a:p>
          <a:p xmlns:a="http://schemas.openxmlformats.org/drawingml/2006/main">
            <a:r>
              <a:t>artifacts/qa/v1-foundation-2026-09-26/cloud-inspection.txt</a:t>
            </a:r>
          </a:p>
          <a:p xmlns:a="http://schemas.openxmlformats.org/drawingml/2006/main">
            <a:r>
              <a:t>docs/V1_LAUNCH_PLAN.md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arithmetic only. Assume 30 parts/day × 22 working days/month = 660 parts/month. Assume ordinary intake including required tests takes 6 minutes manually versus 4.5 minutes assisted. (6 - 4.5) × 660 / 60 = 16.5 hours/month. At an assumed $30/hour this is $495 of modeled gross labor capacity before setup, support, software or other costs. It is not cash savings, revenue, profit, a price recommendation, or a seller measurement. Actual values must come from observation. Editable chart contains literal hypothetical data.</a:t>
            </a:r>
          </a:p>
          <a:p xmlns:a="http://schemas.openxmlformats.org/drawingml/2006/main">
            <a:r>
              <a:t/>
            </a:r>
          </a:p>
          <a:p xmlns:a="http://schemas.openxmlformats.org/drawingml/2006/main">
            <a:r>
              <a:t>Sources</a:t>
            </a:r>
          </a:p>
          <a:p xmlns:a="http://schemas.openxmlformats.org/drawingml/2006/main">
            <a:r>
              <a:t>docs/PILOT_RUNBOOK.md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audiences and pricing structures are hypotheses, not current offers, revenue or customer commitments. Do not infer willingness to pay from the hypothetical time calculator. Observe usage, support burden, model costs and the buyer’s own alternatives, then ask whether they would continue at a concrete proposed scope and price.</a:t>
            </a:r>
          </a:p>
          <a:p xmlns:a="http://schemas.openxmlformats.org/drawingml/2006/main">
            <a:r>
              <a:t/>
            </a:r>
          </a:p>
          <a:p xmlns:a="http://schemas.openxmlformats.org/drawingml/2006/main">
            <a:r>
              <a:t>Sources</a:t>
            </a:r>
          </a:p>
          <a:p xmlns:a="http://schemas.openxmlformats.org/drawingml/2006/main">
            <a:r>
              <a:t>docs/PILOT_RUNBOOK.md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refer to the recorded review-branch implementation, not every future commit. The 1,015 tests plus lint/build evidence is historical. Browser recovery checks used controlled cloud failures. A later live verifier, after the existing additive inspection migration, passed inspection save/read/update, original AI/evidence retention, second-account read/write denial, private image access isolation and generated fixture cleanup. This supersedes the earlier missing-column blocker. Production email authentication, physical-phone testing and real-user usefulness remain separate release checks.</a:t>
            </a:r>
          </a:p>
          <a:p xmlns:a="http://schemas.openxmlformats.org/drawingml/2006/main">
            <a:r>
              <a:t/>
            </a:r>
          </a:p>
          <a:p xmlns:a="http://schemas.openxmlformats.org/drawingml/2006/main">
            <a:r>
              <a:t>Sources</a:t>
            </a:r>
          </a:p>
          <a:p xmlns:a="http://schemas.openxmlformats.org/drawingml/2006/main">
            <a:r>
              <a:t>docs/DRAFT_RECOVERY_RELEASE_REPORT_2026-09-26.md</a:t>
            </a:r>
          </a:p>
          <a:p xmlns:a="http://schemas.openxmlformats.org/drawingml/2006/main">
            <a:r>
              <a:t>artifacts/qa/v1-foundation-2026-09-26/cloud-inspection.txt</a:t>
            </a:r>
          </a:p>
          <a:p xmlns:a="http://schemas.openxmlformats.org/drawingml/2006/main">
            <a:r>
              <a:t>docs/V1_LAUNCH_PLAN.md</a:t>
            </a:r>
          </a:p>
          <a:p xmlns:a="http://schemas.openxmlformats.org/drawingml/2006/main">
            <a:r>
              <a:t>artifacts/qa/2026-09-26T11-35-19-272Z/report.md</a:t>
            </a:r>
          </a:p>
          <a:p xmlns:a="http://schemas.openxmlformats.org/drawingml/2006/main">
            <a:r>
              <a:t>https://github.com/om1o/DeepSpec/actions/runs/36255542250</a:t>
            </a:r>
          </a:p>
          <a:p xmlns:a="http://schemas.openxmlformats.org/drawingml/2006/main">
            <a:r>
              <a:t>https://github.com/om1o/DeepSpec/pull/114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means implemented in the reviewed prototype, not publicly launched. Live inspection persistence now passes the cited verifier. Structured feedback categories, review infrastructure and explicit per-example consent/lineage remain planned or in review until their implementation passes verification. Existing ratings and corrections are a starting point. V1 should not wait for custom model training or full 3D reconstruction.</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docs/V1_LAUNCH_PLAN.md</a:t>
            </a:r>
          </a:p>
          <a:p xmlns:a="http://schemas.openxmlformats.org/drawingml/2006/main">
            <a:r>
              <a:t>artifacts/qa/v1-foundation-2026-09-26/cloud-inspection.txt</a:t>
            </a:r>
          </a:p>
          <a:p xmlns:a="http://schemas.openxmlformats.org/drawingml/2006/main">
            <a:r>
              <a:t>docs/DRAFT_RECOVERY_RELEASE_REPORT_2026-09-26.md</a:t>
            </a:r>
          </a:p>
          <a:p xmlns:a="http://schemas.openxmlformats.org/drawingml/2006/main">
            <a:r>
              <a:t>docs/PART_INSPECTION_PILOT.md</a:t>
            </a:r>
          </a:p>
          <a:p xmlns:a="http://schemas.openxmlformats.org/drawingml/2006/main">
            <a:r>
              <a:t>src/screens/Shop.tsx</a:t>
            </a:r>
          </a:p>
          <a:p xmlns:a="http://schemas.openxmlformats.org/drawingml/2006/main">
            <a:r>
              <a:t>src/services/cloudSync.ts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user’s approximately one-month target, governed by readiness rather than a guaranteed deadline. V1 should serve a broader group of 5–15 trusted users. Measure scan success, wrong identifications, corrections, AR failures, latency, crashes and usefulness. One seller can form a focused cohort using the existing separate 10-observation baseline and 20-part comparison protocol. The pilot’s 30% time reduction threshold remains a proposed test target, not a product claim. Keep normal tests in both seller workflows.</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docs/V1_LAUNCH_PLAN.md</a:t>
            </a:r>
          </a:p>
          <a:p xmlns:a="http://schemas.openxmlformats.org/drawingml/2006/main">
            <a:r>
              <a:t>docs/PILOT_RUNBOOK.md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is the current product plan, not a claim that a full review dashboard and versioned dataset system already exist. Preserve both good and bad outputs when permitted. A useful wrong-part correction may be valuable, but incorrect corrections, faces, plates and private details require filtering and review. Keep explicit consent, provenance, review status and dataset lineage. Honor opt-out/deletion through the eventual lineage system. Evaluate improved prompts, retrieval, routing and preprocessing before committing to custom training.</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docs/V1_LAUNCH_PLAN.md</a:t>
            </a:r>
          </a:p>
          <a:p xmlns:a="http://schemas.openxmlformats.org/drawingml/2006/main">
            <a:r>
              <a:t>docs/PART_INSPECTION_PILOT.md</a:t>
            </a:r>
          </a:p>
          <a:p xmlns:a="http://schemas.openxmlformats.org/drawingml/2006/main">
            <a:r>
              <a:t>src/services/trainingReadiness.ts</a:t>
            </a:r>
          </a:p>
          <a:p xmlns:a="http://schemas.openxmlformats.org/drawingml/2006/main">
            <a:r>
              <a:t>src/services/shop.ts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user’s V1 purpose is to help people photograph a car part and better understand what it might be, with useful information and a clear way to inspect/report/correct the answer. Seller and shop documentation are meaningful applications within this broader purpose. The next step is focused reliability and AR/feedback polish, followed by 5–15 real testers. Do not promise verified function, hidden damage detection, fitment, valuation accuracy, revenue or measured time savings.</a:t>
            </a:r>
          </a:p>
          <a:p xmlns:a="http://schemas.openxmlformats.org/drawingml/2006/main">
            <a:r>
              <a:t/>
            </a:r>
          </a:p>
          <a:p xmlns:a="http://schemas.openxmlformats.org/drawingml/2006/main">
            <a:r>
              <a:t>Sources</a:t>
            </a:r>
          </a:p>
          <a:p xmlns:a="http://schemas.openxmlformats.org/drawingml/2006/main">
            <a:r>
              <a:t>docs/V1_V2_MASTER_PLAN.md</a:t>
            </a:r>
          </a:p>
          <a:p xmlns:a="http://schemas.openxmlformats.org/drawingml/2006/main">
            <a:r>
              <a:t>docs/V1_LAUNCH_PLAN.md</a:t>
            </a:r>
          </a:p>
          <a:p xmlns:a="http://schemas.openxmlformats.org/drawingml/2006/main">
            <a:r>
              <a:t>docs/PILOT_RUNBOOK.md</a:t>
            </a:r>
          </a:p>
          <a:p xmlns:a="http://schemas.openxmlformats.org/drawingml/2006/main">
            <a:r>
              <a:t>public/brand/deepspec-logo.png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785543308f4b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1cfb78d2a34aea" /><Relationship Type="http://schemas.openxmlformats.org/officeDocument/2006/relationships/slideLayout" Target="/ppt/slideLayouts/slideLayout1.xml" Id="Rfb534315f47142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534315f47142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3cbb3aca194d86" /><Relationship Type="http://schemas.openxmlformats.org/officeDocument/2006/relationships/image" Target="/ppt/media/image.bin" Id="Rad5a493e19094643" /><Relationship Type="http://schemas.openxmlformats.org/officeDocument/2006/relationships/notesSlide" Target="/ppt/notesSlides/notesSlide1.xml" Id="R8fb32887435c48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f9fd3f02784910" /><Relationship Type="http://schemas.openxmlformats.org/officeDocument/2006/relationships/notesSlide" Target="/ppt/notesSlides/notesSlide2.xml" Id="Rd56d81187c9140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34e29cbad74224" /><Relationship Type="http://schemas.openxmlformats.org/officeDocument/2006/relationships/notesSlide" Target="/ppt/notesSlides/notesSlide3.xml" Id="R46d46efac49349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89cf9def83048fd" /><Relationship Type="http://schemas.openxmlformats.org/officeDocument/2006/relationships/notesSlide" Target="/ppt/notesSlides/notesSlide4.xml" Id="R58407acf849440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0672a654374c75" /><Relationship Type="http://schemas.openxmlformats.org/officeDocument/2006/relationships/notesSlide" Target="/ppt/notesSlides/notesSlide5.xml" Id="Rcc3e4885a02043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d61edcfbb9418d" /><Relationship Type="http://schemas.openxmlformats.org/officeDocument/2006/relationships/image" Target="/ppt/media/image.png" Id="Re0ef1e7aed774aef" /><Relationship Type="http://schemas.openxmlformats.org/officeDocument/2006/relationships/notesSlide" Target="/ppt/notesSlides/notesSlide6.xml" Id="R56f215b857e64f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c8cf8f41d544ed" /><Relationship Type="http://schemas.openxmlformats.org/officeDocument/2006/relationships/notesSlide" Target="/ppt/notesSlides/notesSlide7.xml" Id="Rf2313bb9ed2240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c59979098ba4d43" /><Relationship Type="http://schemas.openxmlformats.org/officeDocument/2006/relationships/image" Target="/ppt/media/image2.png" Id="Ra3300d853f754919" /><Relationship Type="http://schemas.openxmlformats.org/officeDocument/2006/relationships/notesSlide" Target="/ppt/notesSlides/notesSlide8.xml" Id="R915f4cbd963f4a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959c11f74a24af6" /><Relationship Type="http://schemas.openxmlformats.org/officeDocument/2006/relationships/image" Target="/ppt/media/image3.png" Id="R0ad505f412054c09" /><Relationship Type="http://schemas.openxmlformats.org/officeDocument/2006/relationships/notesSlide" Target="/ppt/notesSlides/notesSlide9.xml" Id="Re7d4562b3dfe47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de30c726f44f12" /><Relationship Type="http://schemas.openxmlformats.org/officeDocument/2006/relationships/notesSlide" Target="/ppt/notesSlides/notesSlide10.xml" Id="R68b0654cf7cd414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53a45385b34c00" /><Relationship Type="http://schemas.openxmlformats.org/officeDocument/2006/relationships/notesSlide" Target="/ppt/notesSlides/notesSlide11.xml" Id="R0c41071a48284d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ab9becb96fb4671" /><Relationship Type="http://schemas.openxmlformats.org/officeDocument/2006/relationships/chart" Target="/ppt/slides/charts/chart1.xml" Id="Rcf55a5259608486a" /><Relationship Type="http://schemas.openxmlformats.org/officeDocument/2006/relationships/notesSlide" Target="/ppt/notesSlides/notesSlide12.xml" Id="Rd90e1e1b626740b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64a0891feac4ef3" /><Relationship Type="http://schemas.openxmlformats.org/officeDocument/2006/relationships/notesSlide" Target="/ppt/notesSlides/notesSlide13.xml" Id="Rc8ad7162b5294bc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50a7aee4bd24c13" /><Relationship Type="http://schemas.openxmlformats.org/officeDocument/2006/relationships/notesSlide" Target="/ppt/notesSlides/notesSlide14.xml" Id="Rd2551048883c4e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91d0f79be3d4425" /><Relationship Type="http://schemas.openxmlformats.org/officeDocument/2006/relationships/notesSlide" Target="/ppt/notesSlides/notesSlide15.xml" Id="Raff4db72236d45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ce113fc0624179" /><Relationship Type="http://schemas.openxmlformats.org/officeDocument/2006/relationships/notesSlide" Target="/ppt/notesSlides/notesSlide16.xml" Id="R2089d1d6918741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59a26d8d2aa4fc4" /><Relationship Type="http://schemas.openxmlformats.org/officeDocument/2006/relationships/notesSlide" Target="/ppt/notesSlides/notesSlide17.xml" Id="R1bc8657e266f44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566d0b69dc14dc0" /><Relationship Type="http://schemas.openxmlformats.org/officeDocument/2006/relationships/image" Target="/ppt/media/image4.png" Id="Rc082dd0ff8614e6c" /><Relationship Type="http://schemas.openxmlformats.org/officeDocument/2006/relationships/notesSlide" Target="/ppt/notesSlides/notesSlide18.xml" Id="Rd7588faf3cc84a6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32A3C"/>
                </a:solidFill>
                <a:latin typeface="Arial"/>
                <a:ea typeface="Arial"/>
                <a:cs typeface="Arial"/>
              </a:rPr>
              <a:t>Minutes per part</a:t>
            </a:r>
          </a:p>
        </c:rich>
      </c:tx>
      <c:overlay val="0"/>
      <c:txPr>
        <a:bodyPr xmlns:a="http://schemas.openxmlformats.org/drawingml/2006/main" anchorCtr="1"/>
        <a:lstStyle xmlns:a="http://schemas.openxmlformats.org/drawingml/2006/main"/>
        <a:p xmlns:a="http://schemas.openxmlformats.org/drawingml/2006/main">
          <a:pPr>
            <a:defRPr sz="1800">
              <a:solidFill>
                <a:srgbClr val="132A3C"/>
              </a:solidFill>
              <a:latin typeface="Arial"/>
              <a:ea typeface="Arial"/>
              <a:cs typeface="Arial"/>
            </a:defRPr>
          </a:pPr>
        </a:p>
      </c:txPr>
    </c:title>
    <c:plotArea>
      <c:barChart>
        <c:barDir val="bar"/>
        <c:grouping val="clustered"/>
        <c:varyColors val="0"/>
        <c:ser>
          <c:idx val="0"/>
          <c:order val="0"/>
          <c:tx>
            <c:v>Minutes per part</c:v>
          </c:tx>
          <c:spPr>
            <a:solidFill xmlns:a="http://schemas.openxmlformats.org/drawingml/2006/main">
              <a:srgbClr val="256B7F"/>
            </a:solidFill>
          </c:spPr>
          <c:dPt>
            <c:idx val="0"/>
            <c:invertIfNegative val="0"/>
            <c:spPr>
              <a:solidFill xmlns:a="http://schemas.openxmlformats.org/drawingml/2006/main">
                <a:srgbClr val="7796A7"/>
              </a:solidFill>
            </c:spPr>
          </c:dPt>
          <c:dPt>
            <c:idx val="1"/>
            <c:invertIfNegative val="0"/>
            <c:spPr>
              <a:solidFill xmlns:a="http://schemas.openxmlformats.org/drawingml/2006/main">
                <a:srgbClr val="256B7F"/>
              </a:solidFill>
            </c:spPr>
          </c:dPt>
          <c:cat>
            <c:strRef>
              <c:f>'Chart Data'!$A$2:$A$3</c:f>
              <c:strCache>
                <c:ptCount val="2"/>
                <c:pt idx="0">
                  <c:v>Manual</c:v>
                </c:pt>
                <c:pt idx="1">
                  <c:v>With DeepSpec</c:v>
                </c:pt>
              </c:strCache>
            </c:strRef>
          </c:cat>
          <c:val>
            <c:numRef>
              <c:f>'Chart Data'!$B$2:$B$3</c:f>
              <c:numCache>
                <c:formatCode>0.0</c:formatCode>
                <c:ptCount val="2"/>
                <c:pt idx="0">
                  <c:v>6</c:v>
                </c:pt>
                <c:pt idx="1">
                  <c:v>4.5</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32A3C"/>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C7D9D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32A3C"/>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32A3C"/>
                </a:solidFill>
                <a:latin typeface="Arial"/>
                <a:ea typeface="Arial"/>
                <a:cs typeface="Arial"/>
              </a:defRPr>
            </a:pPr>
          </a:p>
        </c:txPr>
        <c:crossAx val="48650112"/>
        <c:crossBetween val="between"/>
      </c:valAx>
      <c:spPr>
        <a:solidFill xmlns:a="http://schemas.openxmlformats.org/drawingml/2006/main">
          <a:srgbClr val="EEF5F6"/>
        </a:solidFill>
        <a:ln xmlns:a="http://schemas.openxmlformats.org/drawingml/2006/main" w="0">
          <a:noFill/>
        </a:ln>
      </c:spPr>
    </c:plotArea>
    <c:plotVisOnly val="1"/>
  </c:chart>
  <c:spPr>
    <a:solidFill xmlns:a="http://schemas.openxmlformats.org/drawingml/2006/main">
      <a:srgbClr val="EEF5F6"/>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d5a493e19094643"/>
          <a:srcRect xmlns:a="http://schemas.openxmlformats.org/drawingml/2006/main" l="2593" t="0" r="2593" b="0"/>
          <a:stretch xmlns:a="http://schemas.openxmlformats.org/drawingml/2006/main">
            <a:fillRect l="0" t="0" r="0" b="0"/>
          </a:stretch>
        </p:blipFill>
        <p:spPr>
          <a:xfrm xmlns:a="http://schemas.openxmlformats.org/drawingml/2006/main">
            <a:off x="7315200" y="0"/>
            <a:ext cx="4876800" cy="6858000"/>
          </a:xfrm>
          <a:prstGeom xmlns:a="http://schemas.openxmlformats.org/drawingml/2006/main" prst="rect">
            <a:avLst/>
          </a:prstGeom>
        </p:spPr>
      </p:pic>
      <p:sp>
        <p:nvSpPr>
          <p:cNvPr id="2" name="DeepSpec">
            <a:extLst xmlns:a="http://schemas.openxmlformats.org/drawingml/2006/main">
              <a:ext uri="{FF2B5EF4-FFF2-40B4-BE49-F238E27FC236}">
                <a16:creationId xmlns:a16="http://schemas.microsoft.com/office/drawing/2014/main" id="{34418D9C-800B-47AC-8F9E-39C58B8295F0}"/>
              </a:ext>
            </a:extLst>
          </p:cNvPr>
          <p:cNvSpPr>
            <a:spLocks xmlns:a="http://schemas.openxmlformats.org/drawingml/2006/main" noGrp="1"/>
          </p:cNvSpPr>
          <p:nvPr/>
        </p:nvSpPr>
        <p:spPr>
          <a:xfrm xmlns:a="http://schemas.openxmlformats.org/drawingml/2006/main">
            <a:off x="628650" y="733425"/>
            <a:ext cx="6667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850" b="1">
                <a:solidFill>
                  <a:srgbClr val="F4FAFB"/>
                </a:solidFill>
                <a:latin typeface="Arial"/>
                <a:ea typeface="Arial"/>
                <a:cs typeface="Arial"/>
              </a:defRPr>
            </a:pPr>
            <a:r>
              <a:rPr sz="5850" b="1">
                <a:solidFill>
                  <a:srgbClr val="F4FAFB"/>
                </a:solidFill>
                <a:latin typeface="Arial"/>
                <a:ea typeface="Arial"/>
                <a:cs typeface="Arial"/>
              </a:rPr>
              <a:t>DeepSpec</a:t>
            </a:r>
          </a:p>
        </p:txBody>
      </p:sp>
      <p:sp>
        <p:nvSpPr>
          <p:cNvPr id="3" name="Understand the part.">
            <a:extLst xmlns:a="http://schemas.openxmlformats.org/drawingml/2006/main">
              <a:ext uri="{FF2B5EF4-FFF2-40B4-BE49-F238E27FC236}">
                <a16:creationId xmlns:a16="http://schemas.microsoft.com/office/drawing/2014/main" id="{4794A8F0-187F-4F44-BB32-0B0269CD8899}"/>
              </a:ext>
            </a:extLst>
          </p:cNvPr>
          <p:cNvSpPr>
            <a:spLocks xmlns:a="http://schemas.openxmlformats.org/drawingml/2006/main" noGrp="1"/>
          </p:cNvSpPr>
          <p:nvPr/>
        </p:nvSpPr>
        <p:spPr>
          <a:xfrm xmlns:a="http://schemas.openxmlformats.org/drawingml/2006/main">
            <a:off x="628650" y="2095500"/>
            <a:ext cx="6715125"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B8E3E9"/>
                </a:solidFill>
                <a:latin typeface="Arial"/>
                <a:ea typeface="Arial"/>
                <a:cs typeface="Arial"/>
              </a:defRPr>
            </a:pPr>
            <a:r>
              <a:rPr sz="4275" b="1">
                <a:solidFill>
                  <a:srgbClr val="B8E3E9"/>
                </a:solidFill>
                <a:latin typeface="Arial"/>
                <a:ea typeface="Arial"/>
                <a:cs typeface="Arial"/>
              </a:rPr>
              <a:t>Understand the part.</a:t>
            </a:r>
          </a:p>
          <a:p xmlns:a="http://schemas.openxmlformats.org/drawingml/2006/main">
            <a:pPr>
              <a:defRPr sz="4275" b="1">
                <a:solidFill>
                  <a:srgbClr val="B8E3E9"/>
                </a:solidFill>
                <a:latin typeface="Arial"/>
                <a:ea typeface="Arial"/>
                <a:cs typeface="Arial"/>
              </a:defRPr>
            </a:pPr>
            <a:r>
              <a:rPr sz="4275" b="1">
                <a:solidFill>
                  <a:srgbClr val="B8E3E9"/>
                </a:solidFill>
                <a:latin typeface="Arial"/>
                <a:ea typeface="Arial"/>
                <a:cs typeface="Arial"/>
              </a:rPr>
              <a:t>Keep the evidence.</a:t>
            </a:r>
          </a:p>
        </p:txBody>
      </p:sp>
      <p:sp>
        <p:nvSpPr>
          <p:cNvPr id="4" name="Photo-assisted identification,">
            <a:extLst xmlns:a="http://schemas.openxmlformats.org/drawingml/2006/main">
              <a:ext uri="{FF2B5EF4-FFF2-40B4-BE49-F238E27FC236}">
                <a16:creationId xmlns:a16="http://schemas.microsoft.com/office/drawing/2014/main" id="{675EA212-1DBC-4044-9773-3AA3F6703504}"/>
              </a:ext>
            </a:extLst>
          </p:cNvPr>
          <p:cNvSpPr>
            <a:spLocks xmlns:a="http://schemas.openxmlformats.org/drawingml/2006/main" noGrp="1"/>
          </p:cNvSpPr>
          <p:nvPr/>
        </p:nvSpPr>
        <p:spPr>
          <a:xfrm xmlns:a="http://schemas.openxmlformats.org/drawingml/2006/main">
            <a:off x="628650" y="4295775"/>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Photo-assisted identification,</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useful explanations and reviewable records</a:t>
            </a:r>
          </a:p>
        </p:txBody>
      </p:sp>
      <p:sp>
        <p:nvSpPr>
          <p:cNvPr id="5" name="Working prototype · September 2026">
            <a:extLst xmlns:a="http://schemas.openxmlformats.org/drawingml/2006/main">
              <a:ext uri="{FF2B5EF4-FFF2-40B4-BE49-F238E27FC236}">
                <a16:creationId xmlns:a16="http://schemas.microsoft.com/office/drawing/2014/main" id="{E7F7CF0B-E774-49A0-A334-50C3B8740479}"/>
              </a:ext>
            </a:extLst>
          </p:cNvPr>
          <p:cNvSpPr>
            <a:spLocks xmlns:a="http://schemas.openxmlformats.org/drawingml/2006/main" noGrp="1"/>
          </p:cNvSpPr>
          <p:nvPr/>
        </p:nvSpPr>
        <p:spPr>
          <a:xfrm xmlns:a="http://schemas.openxmlformats.org/drawingml/2006/main">
            <a:off x="628650" y="601027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9DB8C8"/>
                </a:solidFill>
                <a:latin typeface="Arial"/>
                <a:ea typeface="Arial"/>
                <a:cs typeface="Arial"/>
              </a:defRPr>
            </a:pPr>
            <a:r>
              <a:rPr sz="1650" b="0">
                <a:solidFill>
                  <a:srgbClr val="9DB8C8"/>
                </a:solidFill>
                <a:latin typeface="Arial"/>
                <a:ea typeface="Arial"/>
                <a:cs typeface="Arial"/>
              </a:rPr>
              <a:t>Working prototype · September 2026</a:t>
            </a:r>
          </a:p>
        </p:txBody>
      </p:sp>
      <p:sp>
        <p:nvSpPr>
          <p:cNvPr id="6" name="Illustrative artwork">
            <a:extLst xmlns:a="http://schemas.openxmlformats.org/drawingml/2006/main">
              <a:ext uri="{FF2B5EF4-FFF2-40B4-BE49-F238E27FC236}">
                <a16:creationId xmlns:a16="http://schemas.microsoft.com/office/drawing/2014/main" id="{735CBC7E-C346-4BA6-9072-ADB309BB0D7F}"/>
              </a:ext>
            </a:extLst>
          </p:cNvPr>
          <p:cNvSpPr>
            <a:spLocks xmlns:a="http://schemas.openxmlformats.org/drawingml/2006/main" noGrp="1"/>
          </p:cNvSpPr>
          <p:nvPr/>
        </p:nvSpPr>
        <p:spPr>
          <a:xfrm xmlns:a="http://schemas.openxmlformats.org/drawingml/2006/main">
            <a:off x="9286875" y="6334125"/>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Illustrative artwork</a:t>
            </a:r>
          </a:p>
        </p:txBody>
      </p:sp>
    </p:spTree>
    <p:extLst>
      <p:ext uri="{BB962C8B-B14F-4D97-AF65-F5344CB8AC3E}">
        <p14:creationId xmlns:p14="http://schemas.microsoft.com/office/powerpoint/2010/main" val="1580267440"/>
      </p:ext>
    </p:extLst>
  </p:cSld>
</p:sld>
</file>

<file path=ppt/slides/slide2.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1" name="When a part is unfamiliar">
            <a:extLst xmlns:a="http://schemas.openxmlformats.org/drawingml/2006/main">
              <a:ext uri="{FF2B5EF4-FFF2-40B4-BE49-F238E27FC236}">
                <a16:creationId xmlns:a16="http://schemas.microsoft.com/office/drawing/2014/main" id="{C21DC35A-221D-4CF3-9E45-A962E9C77302}"/>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When a part is unfamiliar</a:t>
            </a:r>
          </a:p>
        </p:txBody>
      </p:sp>
      <p:sp>
        <p:nvSpPr>
          <p:cNvPr id="2" name="02">
            <a:extLst xmlns:a="http://schemas.openxmlformats.org/drawingml/2006/main">
              <a:ext uri="{FF2B5EF4-FFF2-40B4-BE49-F238E27FC236}">
                <a16:creationId xmlns:a16="http://schemas.microsoft.com/office/drawing/2014/main" id="{CDC34E4B-9BA4-4FDD-8ABF-0B7395C1C7CB}"/>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02</a:t>
            </a:r>
          </a:p>
        </p:txBody>
      </p:sp>
      <p:sp>
        <p:nvSpPr>
          <p:cNvPr id="3" name="A photo needs an explanation and context.">
            <a:extLst xmlns:a="http://schemas.openxmlformats.org/drawingml/2006/main">
              <a:ext uri="{FF2B5EF4-FFF2-40B4-BE49-F238E27FC236}">
                <a16:creationId xmlns:a16="http://schemas.microsoft.com/office/drawing/2014/main" id="{4E3D4A8C-39D4-4E7D-A2FB-BA423FB91523}"/>
              </a:ext>
            </a:extLst>
          </p:cNvPr>
          <p:cNvSpPr>
            <a:spLocks xmlns:a="http://schemas.openxmlformats.org/drawingml/2006/main" noGrp="1"/>
          </p:cNvSpPr>
          <p:nvPr/>
        </p:nvSpPr>
        <p:spPr>
          <a:xfrm xmlns:a="http://schemas.openxmlformats.org/drawingml/2006/main">
            <a:off x="628650" y="170497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256B7F"/>
                </a:solidFill>
                <a:latin typeface="Arial"/>
                <a:ea typeface="Arial"/>
                <a:cs typeface="Arial"/>
              </a:defRPr>
            </a:pPr>
            <a:r>
              <a:rPr sz="2850" b="1">
                <a:solidFill>
                  <a:srgbClr val="256B7F"/>
                </a:solidFill>
                <a:latin typeface="Arial"/>
                <a:ea typeface="Arial"/>
                <a:cs typeface="Arial"/>
              </a:rPr>
              <a:t>A photo needs an explanation and context.</a:t>
            </a:r>
          </a:p>
        </p:txBody>
      </p:sp>
      <p:sp>
        <p:nvSpPr>
          <p:cNvPr id="4" name="Identity">
            <a:extLst xmlns:a="http://schemas.openxmlformats.org/drawingml/2006/main">
              <a:ext uri="{FF2B5EF4-FFF2-40B4-BE49-F238E27FC236}">
                <a16:creationId xmlns:a16="http://schemas.microsoft.com/office/drawing/2014/main" id="{0233DF87-9D59-41C8-AF6C-BBBE4F419FCF}"/>
              </a:ext>
            </a:extLst>
          </p:cNvPr>
          <p:cNvSpPr>
            <a:spLocks xmlns:a="http://schemas.openxmlformats.org/drawingml/2006/main" noGrp="1"/>
          </p:cNvSpPr>
          <p:nvPr/>
        </p:nvSpPr>
        <p:spPr>
          <a:xfrm xmlns:a="http://schemas.openxmlformats.org/drawingml/2006/main">
            <a:off x="628650" y="281940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32A3C"/>
                </a:solidFill>
                <a:latin typeface="Arial"/>
                <a:ea typeface="Arial"/>
                <a:cs typeface="Arial"/>
              </a:defRPr>
            </a:pPr>
            <a:r>
              <a:rPr sz="2250" b="1">
                <a:solidFill>
                  <a:srgbClr val="132A3C"/>
                </a:solidFill>
                <a:latin typeface="Arial"/>
                <a:ea typeface="Arial"/>
                <a:cs typeface="Arial"/>
              </a:rPr>
              <a:t>Identity</a:t>
            </a:r>
          </a:p>
        </p:txBody>
      </p:sp>
      <p:sp>
        <p:nvSpPr>
          <p:cNvPr id="5" name="A label, part number or useful reference can take time to find.">
            <a:extLst xmlns:a="http://schemas.openxmlformats.org/drawingml/2006/main">
              <a:ext uri="{FF2B5EF4-FFF2-40B4-BE49-F238E27FC236}">
                <a16:creationId xmlns:a16="http://schemas.microsoft.com/office/drawing/2014/main" id="{8C512F06-89EC-4037-A42C-0641DE53E3F4}"/>
              </a:ext>
            </a:extLst>
          </p:cNvPr>
          <p:cNvSpPr>
            <a:spLocks xmlns:a="http://schemas.openxmlformats.org/drawingml/2006/main" noGrp="1"/>
          </p:cNvSpPr>
          <p:nvPr/>
        </p:nvSpPr>
        <p:spPr>
          <a:xfrm xmlns:a="http://schemas.openxmlformats.org/drawingml/2006/main">
            <a:off x="3343275" y="2790825"/>
            <a:ext cx="8105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A label, part number or useful reference can take time to find.</a:t>
            </a:r>
          </a:p>
        </p:txBody>
      </p:sp>
      <p:sp>
        <p:nvSpPr>
          <p:cNvPr id="6" name="Condition">
            <a:extLst xmlns:a="http://schemas.openxmlformats.org/drawingml/2006/main">
              <a:ext uri="{FF2B5EF4-FFF2-40B4-BE49-F238E27FC236}">
                <a16:creationId xmlns:a16="http://schemas.microsoft.com/office/drawing/2014/main" id="{BAA2432F-A093-431A-9841-CC2916F76AB7}"/>
              </a:ext>
            </a:extLst>
          </p:cNvPr>
          <p:cNvSpPr>
            <a:spLocks xmlns:a="http://schemas.openxmlformats.org/drawingml/2006/main" noGrp="1"/>
          </p:cNvSpPr>
          <p:nvPr/>
        </p:nvSpPr>
        <p:spPr>
          <a:xfrm xmlns:a="http://schemas.openxmlformats.org/drawingml/2006/main">
            <a:off x="628650" y="38385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32A3C"/>
                </a:solidFill>
                <a:latin typeface="Arial"/>
                <a:ea typeface="Arial"/>
                <a:cs typeface="Arial"/>
              </a:defRPr>
            </a:pPr>
            <a:r>
              <a:rPr sz="2250" b="1">
                <a:solidFill>
                  <a:srgbClr val="132A3C"/>
                </a:solidFill>
                <a:latin typeface="Arial"/>
                <a:ea typeface="Arial"/>
                <a:cs typeface="Arial"/>
              </a:rPr>
              <a:t>Condition</a:t>
            </a:r>
          </a:p>
        </p:txBody>
      </p:sp>
      <p:sp>
        <p:nvSpPr>
          <p:cNvPr id="7" name="A photo, a visible observation and a test result answer different">
            <a:extLst xmlns:a="http://schemas.openxmlformats.org/drawingml/2006/main">
              <a:ext uri="{FF2B5EF4-FFF2-40B4-BE49-F238E27FC236}">
                <a16:creationId xmlns:a16="http://schemas.microsoft.com/office/drawing/2014/main" id="{F3765D9A-EAC1-4914-99E5-7675E912A4B1}"/>
              </a:ext>
            </a:extLst>
          </p:cNvPr>
          <p:cNvSpPr>
            <a:spLocks xmlns:a="http://schemas.openxmlformats.org/drawingml/2006/main" noGrp="1"/>
          </p:cNvSpPr>
          <p:nvPr/>
        </p:nvSpPr>
        <p:spPr>
          <a:xfrm xmlns:a="http://schemas.openxmlformats.org/drawingml/2006/main">
            <a:off x="3343275" y="3810000"/>
            <a:ext cx="8105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A photo, a visible observation and a test result answer different questions.</a:t>
            </a:r>
          </a:p>
        </p:txBody>
      </p:sp>
      <p:sp>
        <p:nvSpPr>
          <p:cNvPr id="8" name="Documentation">
            <a:extLst xmlns:a="http://schemas.openxmlformats.org/drawingml/2006/main">
              <a:ext uri="{FF2B5EF4-FFF2-40B4-BE49-F238E27FC236}">
                <a16:creationId xmlns:a16="http://schemas.microsoft.com/office/drawing/2014/main" id="{6FEA56CF-497D-4B9B-8FFA-A2588EA6E592}"/>
              </a:ext>
            </a:extLst>
          </p:cNvPr>
          <p:cNvSpPr>
            <a:spLocks xmlns:a="http://schemas.openxmlformats.org/drawingml/2006/main" noGrp="1"/>
          </p:cNvSpPr>
          <p:nvPr/>
        </p:nvSpPr>
        <p:spPr>
          <a:xfrm xmlns:a="http://schemas.openxmlformats.org/drawingml/2006/main">
            <a:off x="628650" y="48577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32A3C"/>
                </a:solidFill>
                <a:latin typeface="Arial"/>
                <a:ea typeface="Arial"/>
                <a:cs typeface="Arial"/>
              </a:defRPr>
            </a:pPr>
            <a:r>
              <a:rPr sz="2250" b="1">
                <a:solidFill>
                  <a:srgbClr val="132A3C"/>
                </a:solidFill>
                <a:latin typeface="Arial"/>
                <a:ea typeface="Arial"/>
                <a:cs typeface="Arial"/>
              </a:rPr>
              <a:t>Documentation</a:t>
            </a:r>
          </a:p>
        </p:txBody>
      </p:sp>
      <p:sp>
        <p:nvSpPr>
          <p:cNvPr id="9" name="Notes and pictures can become scattered or need to be entered aga">
            <a:extLst xmlns:a="http://schemas.openxmlformats.org/drawingml/2006/main">
              <a:ext uri="{FF2B5EF4-FFF2-40B4-BE49-F238E27FC236}">
                <a16:creationId xmlns:a16="http://schemas.microsoft.com/office/drawing/2014/main" id="{5431757F-2E37-4B40-ABEB-1D2737042AE6}"/>
              </a:ext>
            </a:extLst>
          </p:cNvPr>
          <p:cNvSpPr>
            <a:spLocks xmlns:a="http://schemas.openxmlformats.org/drawingml/2006/main" noGrp="1"/>
          </p:cNvSpPr>
          <p:nvPr/>
        </p:nvSpPr>
        <p:spPr>
          <a:xfrm xmlns:a="http://schemas.openxmlformats.org/drawingml/2006/main">
            <a:off x="3343275" y="4829175"/>
            <a:ext cx="8105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Notes and pictures can become scattered or need to be entered again.</a:t>
            </a:r>
          </a:p>
        </p:txBody>
      </p:sp>
      <p:sp>
        <p:nvSpPr>
          <p:cNvPr id="10" name="Workflow hypotheses to check with real users.">
            <a:extLst xmlns:a="http://schemas.openxmlformats.org/drawingml/2006/main">
              <a:ext uri="{FF2B5EF4-FFF2-40B4-BE49-F238E27FC236}">
                <a16:creationId xmlns:a16="http://schemas.microsoft.com/office/drawing/2014/main" id="{089E8AE5-1BF3-4897-B4DC-389B9FD6E5F6}"/>
              </a:ext>
            </a:extLst>
          </p:cNvPr>
          <p:cNvSpPr>
            <a:spLocks xmlns:a="http://schemas.openxmlformats.org/drawingml/2006/main" noGrp="1"/>
          </p:cNvSpPr>
          <p:nvPr/>
        </p:nvSpPr>
        <p:spPr>
          <a:xfrm xmlns:a="http://schemas.openxmlformats.org/drawingml/2006/main">
            <a:off x="628650" y="61722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256B7F"/>
                </a:solidFill>
                <a:latin typeface="Arial"/>
                <a:ea typeface="Arial"/>
                <a:cs typeface="Arial"/>
              </a:defRPr>
            </a:pPr>
            <a:r>
              <a:rPr sz="1575" b="0">
                <a:solidFill>
                  <a:srgbClr val="256B7F"/>
                </a:solidFill>
                <a:latin typeface="Arial"/>
                <a:ea typeface="Arial"/>
                <a:cs typeface="Arial"/>
              </a:rPr>
              <a:t>Workflow hypotheses to check with real users.</a:t>
            </a:r>
          </a:p>
        </p:txBody>
      </p:sp>
    </p:spTree>
    <p:extLst>
      <p:ext uri="{BB962C8B-B14F-4D97-AF65-F5344CB8AC3E}">
        <p14:creationId xmlns:p14="http://schemas.microsoft.com/office/powerpoint/2010/main" val="2134330047"/>
      </p:ext>
    </p:extLst>
  </p:cSld>
</p:sld>
</file>

<file path=ppt/slides/slide3.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2" name="People DeepSpec can help">
            <a:extLst xmlns:a="http://schemas.openxmlformats.org/drawingml/2006/main">
              <a:ext uri="{FF2B5EF4-FFF2-40B4-BE49-F238E27FC236}">
                <a16:creationId xmlns:a16="http://schemas.microsoft.com/office/drawing/2014/main" id="{46CBA97B-0F4B-4FC4-A851-0CA64B697F30}"/>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AFB"/>
                </a:solidFill>
                <a:latin typeface="Arial"/>
                <a:ea typeface="Arial"/>
                <a:cs typeface="Arial"/>
              </a:defRPr>
            </a:pPr>
            <a:r>
              <a:rPr sz="3600" b="1">
                <a:solidFill>
                  <a:srgbClr val="F4FAFB"/>
                </a:solidFill>
                <a:latin typeface="Arial"/>
                <a:ea typeface="Arial"/>
                <a:cs typeface="Arial"/>
              </a:rPr>
              <a:t>People DeepSpec can help</a:t>
            </a:r>
          </a:p>
        </p:txBody>
      </p:sp>
      <p:sp>
        <p:nvSpPr>
          <p:cNvPr id="2" name="03">
            <a:extLst xmlns:a="http://schemas.openxmlformats.org/drawingml/2006/main">
              <a:ext uri="{FF2B5EF4-FFF2-40B4-BE49-F238E27FC236}">
                <a16:creationId xmlns:a16="http://schemas.microsoft.com/office/drawing/2014/main" id="{9B594509-D0E0-4A6B-8689-09331032803B}"/>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03</a:t>
            </a:r>
          </a:p>
        </p:txBody>
      </p:sp>
      <p:sp>
        <p:nvSpPr>
          <p:cNvPr id="3" name="01">
            <a:extLst xmlns:a="http://schemas.openxmlformats.org/drawingml/2006/main">
              <a:ext uri="{FF2B5EF4-FFF2-40B4-BE49-F238E27FC236}">
                <a16:creationId xmlns:a16="http://schemas.microsoft.com/office/drawing/2014/main" id="{E7AE2C95-9530-4881-BC3D-C9ED7A1692D8}"/>
              </a:ext>
            </a:extLst>
          </p:cNvPr>
          <p:cNvSpPr>
            <a:spLocks xmlns:a="http://schemas.openxmlformats.org/drawingml/2006/main" noGrp="1"/>
          </p:cNvSpPr>
          <p:nvPr/>
        </p:nvSpPr>
        <p:spPr>
          <a:xfrm xmlns:a="http://schemas.openxmlformats.org/drawingml/2006/main">
            <a:off x="628650" y="19050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B8E3E9"/>
                </a:solidFill>
                <a:latin typeface="Arial"/>
                <a:ea typeface="Arial"/>
                <a:cs typeface="Arial"/>
              </a:defRPr>
            </a:pPr>
            <a:r>
              <a:rPr sz="3600" b="1">
                <a:solidFill>
                  <a:srgbClr val="B8E3E9"/>
                </a:solidFill>
                <a:latin typeface="Arial"/>
                <a:ea typeface="Arial"/>
                <a:cs typeface="Arial"/>
              </a:rPr>
              <a:t>01</a:t>
            </a:r>
          </a:p>
        </p:txBody>
      </p:sp>
      <p:sp>
        <p:nvSpPr>
          <p:cNvPr id="4" name="Parts sellers">
            <a:extLst xmlns:a="http://schemas.openxmlformats.org/drawingml/2006/main">
              <a:ext uri="{FF2B5EF4-FFF2-40B4-BE49-F238E27FC236}">
                <a16:creationId xmlns:a16="http://schemas.microsoft.com/office/drawing/2014/main" id="{19EC91D7-84AB-4071-B5C8-2D3D7D32C4D9}"/>
              </a:ext>
            </a:extLst>
          </p:cNvPr>
          <p:cNvSpPr>
            <a:spLocks xmlns:a="http://schemas.openxmlformats.org/drawingml/2006/main" noGrp="1"/>
          </p:cNvSpPr>
          <p:nvPr/>
        </p:nvSpPr>
        <p:spPr>
          <a:xfrm xmlns:a="http://schemas.openxmlformats.org/drawingml/2006/main">
            <a:off x="2028825" y="1914525"/>
            <a:ext cx="866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F4FAFB"/>
                </a:solidFill>
                <a:latin typeface="Arial"/>
                <a:ea typeface="Arial"/>
                <a:cs typeface="Arial"/>
              </a:defRPr>
            </a:pPr>
            <a:r>
              <a:rPr sz="2475" b="1">
                <a:solidFill>
                  <a:srgbClr val="F4FAFB"/>
                </a:solidFill>
                <a:latin typeface="Arial"/>
                <a:ea typeface="Arial"/>
                <a:cs typeface="Arial"/>
              </a:rPr>
              <a:t>Parts sellers</a:t>
            </a:r>
          </a:p>
        </p:txBody>
      </p:sp>
      <p:sp>
        <p:nvSpPr>
          <p:cNvPr id="5" name="Document incoming parts and reopen the evidence behind a listing.">
            <a:extLst xmlns:a="http://schemas.openxmlformats.org/drawingml/2006/main">
              <a:ext uri="{FF2B5EF4-FFF2-40B4-BE49-F238E27FC236}">
                <a16:creationId xmlns:a16="http://schemas.microsoft.com/office/drawing/2014/main" id="{A02126E6-3A8C-4E55-9977-DB7EF1BA0D9A}"/>
              </a:ext>
            </a:extLst>
          </p:cNvPr>
          <p:cNvSpPr>
            <a:spLocks xmlns:a="http://schemas.openxmlformats.org/drawingml/2006/main" noGrp="1"/>
          </p:cNvSpPr>
          <p:nvPr/>
        </p:nvSpPr>
        <p:spPr>
          <a:xfrm xmlns:a="http://schemas.openxmlformats.org/drawingml/2006/main">
            <a:off x="2028825" y="2409825"/>
            <a:ext cx="908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Document incoming parts and reopen the evidence behind a listing.</a:t>
            </a:r>
          </a:p>
        </p:txBody>
      </p:sp>
      <p:sp>
        <p:nvSpPr>
          <p:cNvPr id="6" name="02">
            <a:extLst xmlns:a="http://schemas.openxmlformats.org/drawingml/2006/main">
              <a:ext uri="{FF2B5EF4-FFF2-40B4-BE49-F238E27FC236}">
                <a16:creationId xmlns:a16="http://schemas.microsoft.com/office/drawing/2014/main" id="{85DA9FCD-4DB7-426E-AC8D-1C8D2557D511}"/>
              </a:ext>
            </a:extLst>
          </p:cNvPr>
          <p:cNvSpPr>
            <a:spLocks xmlns:a="http://schemas.openxmlformats.org/drawingml/2006/main" noGrp="1"/>
          </p:cNvSpPr>
          <p:nvPr/>
        </p:nvSpPr>
        <p:spPr>
          <a:xfrm xmlns:a="http://schemas.openxmlformats.org/drawingml/2006/main">
            <a:off x="628650" y="325755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B8E3E9"/>
                </a:solidFill>
                <a:latin typeface="Arial"/>
                <a:ea typeface="Arial"/>
                <a:cs typeface="Arial"/>
              </a:defRPr>
            </a:pPr>
            <a:r>
              <a:rPr sz="3600" b="1">
                <a:solidFill>
                  <a:srgbClr val="B8E3E9"/>
                </a:solidFill>
                <a:latin typeface="Arial"/>
                <a:ea typeface="Arial"/>
                <a:cs typeface="Arial"/>
              </a:rPr>
              <a:t>02</a:t>
            </a:r>
          </a:p>
        </p:txBody>
      </p:sp>
      <p:sp>
        <p:nvSpPr>
          <p:cNvPr id="7" name="Auto shops">
            <a:extLst xmlns:a="http://schemas.openxmlformats.org/drawingml/2006/main">
              <a:ext uri="{FF2B5EF4-FFF2-40B4-BE49-F238E27FC236}">
                <a16:creationId xmlns:a16="http://schemas.microsoft.com/office/drawing/2014/main" id="{FB570CA3-E460-496F-A8EF-4FD5BB6A2C23}"/>
              </a:ext>
            </a:extLst>
          </p:cNvPr>
          <p:cNvSpPr>
            <a:spLocks xmlns:a="http://schemas.openxmlformats.org/drawingml/2006/main" noGrp="1"/>
          </p:cNvSpPr>
          <p:nvPr/>
        </p:nvSpPr>
        <p:spPr>
          <a:xfrm xmlns:a="http://schemas.openxmlformats.org/drawingml/2006/main">
            <a:off x="2028825" y="3267075"/>
            <a:ext cx="866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F4FAFB"/>
                </a:solidFill>
                <a:latin typeface="Arial"/>
                <a:ea typeface="Arial"/>
                <a:cs typeface="Arial"/>
              </a:defRPr>
            </a:pPr>
            <a:r>
              <a:rPr sz="2475" b="1">
                <a:solidFill>
                  <a:srgbClr val="F4FAFB"/>
                </a:solidFill>
                <a:latin typeface="Arial"/>
                <a:ea typeface="Arial"/>
                <a:cs typeface="Arial"/>
              </a:rPr>
              <a:t>Auto shops</a:t>
            </a:r>
          </a:p>
        </p:txBody>
      </p:sp>
      <p:sp>
        <p:nvSpPr>
          <p:cNvPr id="8" name="Attach scan records to a job and prepare a customer report.">
            <a:extLst xmlns:a="http://schemas.openxmlformats.org/drawingml/2006/main">
              <a:ext uri="{FF2B5EF4-FFF2-40B4-BE49-F238E27FC236}">
                <a16:creationId xmlns:a16="http://schemas.microsoft.com/office/drawing/2014/main" id="{B6641E83-0CFE-4FAD-A592-651E9F9BC632}"/>
              </a:ext>
            </a:extLst>
          </p:cNvPr>
          <p:cNvSpPr>
            <a:spLocks xmlns:a="http://schemas.openxmlformats.org/drawingml/2006/main" noGrp="1"/>
          </p:cNvSpPr>
          <p:nvPr/>
        </p:nvSpPr>
        <p:spPr>
          <a:xfrm xmlns:a="http://schemas.openxmlformats.org/drawingml/2006/main">
            <a:off x="2028825" y="3762375"/>
            <a:ext cx="908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Attach scan records to a job and prepare a customer report.</a:t>
            </a:r>
          </a:p>
        </p:txBody>
      </p:sp>
      <p:sp>
        <p:nvSpPr>
          <p:cNvPr id="9" name="03">
            <a:extLst xmlns:a="http://schemas.openxmlformats.org/drawingml/2006/main">
              <a:ext uri="{FF2B5EF4-FFF2-40B4-BE49-F238E27FC236}">
                <a16:creationId xmlns:a16="http://schemas.microsoft.com/office/drawing/2014/main" id="{EEE2A61B-6206-4043-A2E3-330A6778123E}"/>
              </a:ext>
            </a:extLst>
          </p:cNvPr>
          <p:cNvSpPr>
            <a:spLocks xmlns:a="http://schemas.openxmlformats.org/drawingml/2006/main" noGrp="1"/>
          </p:cNvSpPr>
          <p:nvPr/>
        </p:nvSpPr>
        <p:spPr>
          <a:xfrm xmlns:a="http://schemas.openxmlformats.org/drawingml/2006/main">
            <a:off x="628650" y="4610100"/>
            <a:ext cx="104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B8E3E9"/>
                </a:solidFill>
                <a:latin typeface="Arial"/>
                <a:ea typeface="Arial"/>
                <a:cs typeface="Arial"/>
              </a:defRPr>
            </a:pPr>
            <a:r>
              <a:rPr sz="3600" b="1">
                <a:solidFill>
                  <a:srgbClr val="B8E3E9"/>
                </a:solidFill>
                <a:latin typeface="Arial"/>
                <a:ea typeface="Arial"/>
                <a:cs typeface="Arial"/>
              </a:rPr>
              <a:t>03</a:t>
            </a:r>
          </a:p>
        </p:txBody>
      </p:sp>
      <p:sp>
        <p:nvSpPr>
          <p:cNvPr id="10" name="DIY owners">
            <a:extLst xmlns:a="http://schemas.openxmlformats.org/drawingml/2006/main">
              <a:ext uri="{FF2B5EF4-FFF2-40B4-BE49-F238E27FC236}">
                <a16:creationId xmlns:a16="http://schemas.microsoft.com/office/drawing/2014/main" id="{61803782-865E-4CEC-BCC1-3CF4FAD75756}"/>
              </a:ext>
            </a:extLst>
          </p:cNvPr>
          <p:cNvSpPr>
            <a:spLocks xmlns:a="http://schemas.openxmlformats.org/drawingml/2006/main" noGrp="1"/>
          </p:cNvSpPr>
          <p:nvPr/>
        </p:nvSpPr>
        <p:spPr>
          <a:xfrm xmlns:a="http://schemas.openxmlformats.org/drawingml/2006/main">
            <a:off x="2028825" y="4619625"/>
            <a:ext cx="866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F4FAFB"/>
                </a:solidFill>
                <a:latin typeface="Arial"/>
                <a:ea typeface="Arial"/>
                <a:cs typeface="Arial"/>
              </a:defRPr>
            </a:pPr>
            <a:r>
              <a:rPr sz="2475" b="1">
                <a:solidFill>
                  <a:srgbClr val="F4FAFB"/>
                </a:solidFill>
                <a:latin typeface="Arial"/>
                <a:ea typeface="Arial"/>
                <a:cs typeface="Arial"/>
              </a:rPr>
              <a:t>DIY owners</a:t>
            </a:r>
          </a:p>
        </p:txBody>
      </p:sp>
      <p:sp>
        <p:nvSpPr>
          <p:cNvPr id="11" name="Understand a possible part identity and keep notes for a mechanic">
            <a:extLst xmlns:a="http://schemas.openxmlformats.org/drawingml/2006/main">
              <a:ext uri="{FF2B5EF4-FFF2-40B4-BE49-F238E27FC236}">
                <a16:creationId xmlns:a16="http://schemas.microsoft.com/office/drawing/2014/main" id="{960DDF03-A2CC-4984-943E-DF3114F4DEFB}"/>
              </a:ext>
            </a:extLst>
          </p:cNvPr>
          <p:cNvSpPr>
            <a:spLocks xmlns:a="http://schemas.openxmlformats.org/drawingml/2006/main" noGrp="1"/>
          </p:cNvSpPr>
          <p:nvPr/>
        </p:nvSpPr>
        <p:spPr>
          <a:xfrm xmlns:a="http://schemas.openxmlformats.org/drawingml/2006/main">
            <a:off x="2028825" y="5114925"/>
            <a:ext cx="90868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Understand a possible part identity and keep notes for a mechanic.</a:t>
            </a:r>
          </a:p>
        </p:txBody>
      </p:sp>
    </p:spTree>
    <p:extLst>
      <p:ext uri="{BB962C8B-B14F-4D97-AF65-F5344CB8AC3E}">
        <p14:creationId xmlns:p14="http://schemas.microsoft.com/office/powerpoint/2010/main" val="1802216852"/>
      </p:ext>
    </p:extLst>
  </p:cSld>
</p:sld>
</file>

<file path=ppt/slides/slide4.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5" name="The core DeepSpec workflow">
            <a:extLst xmlns:a="http://schemas.openxmlformats.org/drawingml/2006/main">
              <a:ext uri="{FF2B5EF4-FFF2-40B4-BE49-F238E27FC236}">
                <a16:creationId xmlns:a16="http://schemas.microsoft.com/office/drawing/2014/main" id="{FD855BDC-66D0-465E-910D-7955EEED1AA1}"/>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The core DeepSpec workflow</a:t>
            </a:r>
          </a:p>
        </p:txBody>
      </p:sp>
      <p:sp>
        <p:nvSpPr>
          <p:cNvPr id="2" name="04">
            <a:extLst xmlns:a="http://schemas.openxmlformats.org/drawingml/2006/main">
              <a:ext uri="{FF2B5EF4-FFF2-40B4-BE49-F238E27FC236}">
                <a16:creationId xmlns:a16="http://schemas.microsoft.com/office/drawing/2014/main" id="{E3EF49D6-FC5B-486A-970B-1AD0E82848BD}"/>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04</a:t>
            </a:r>
          </a:p>
        </p:txBody>
      </p:sp>
      <p:sp>
        <p:nvSpPr>
          <p:cNvPr id="3" name="01">
            <a:extLst xmlns:a="http://schemas.openxmlformats.org/drawingml/2006/main">
              <a:ext uri="{FF2B5EF4-FFF2-40B4-BE49-F238E27FC236}">
                <a16:creationId xmlns:a16="http://schemas.microsoft.com/office/drawing/2014/main" id="{068D11B3-0939-474B-9FDE-BED7D2693790}"/>
              </a:ext>
            </a:extLst>
          </p:cNvPr>
          <p:cNvSpPr>
            <a:spLocks xmlns:a="http://schemas.openxmlformats.org/drawingml/2006/main" noGrp="1"/>
          </p:cNvSpPr>
          <p:nvPr/>
        </p:nvSpPr>
        <p:spPr>
          <a:xfrm xmlns:a="http://schemas.openxmlformats.org/drawingml/2006/main">
            <a:off x="628650" y="1924050"/>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56B7F"/>
                </a:solidFill>
                <a:latin typeface="Arial"/>
                <a:ea typeface="Arial"/>
                <a:cs typeface="Arial"/>
              </a:defRPr>
            </a:pPr>
            <a:r>
              <a:rPr sz="3000" b="1">
                <a:solidFill>
                  <a:srgbClr val="256B7F"/>
                </a:solidFill>
                <a:latin typeface="Arial"/>
                <a:ea typeface="Arial"/>
                <a:cs typeface="Arial"/>
              </a:rPr>
              <a:t>01</a:t>
            </a:r>
          </a:p>
        </p:txBody>
      </p:sp>
      <p:sp>
        <p:nvSpPr>
          <p:cNvPr id="4" name="Capture">
            <a:extLst xmlns:a="http://schemas.openxmlformats.org/drawingml/2006/main">
              <a:ext uri="{FF2B5EF4-FFF2-40B4-BE49-F238E27FC236}">
                <a16:creationId xmlns:a16="http://schemas.microsoft.com/office/drawing/2014/main" id="{268F0FDF-9934-4C11-9DF0-5FAC9A593AA2}"/>
              </a:ext>
            </a:extLst>
          </p:cNvPr>
          <p:cNvSpPr>
            <a:spLocks xmlns:a="http://schemas.openxmlformats.org/drawingml/2006/main" noGrp="1"/>
          </p:cNvSpPr>
          <p:nvPr/>
        </p:nvSpPr>
        <p:spPr>
          <a:xfrm xmlns:a="http://schemas.openxmlformats.org/drawingml/2006/main">
            <a:off x="1981200" y="19240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32A3C"/>
                </a:solidFill>
                <a:latin typeface="Arial"/>
                <a:ea typeface="Arial"/>
                <a:cs typeface="Arial"/>
              </a:defRPr>
            </a:pPr>
            <a:r>
              <a:rPr sz="2475" b="1">
                <a:solidFill>
                  <a:srgbClr val="132A3C"/>
                </a:solidFill>
                <a:latin typeface="Arial"/>
                <a:ea typeface="Arial"/>
                <a:cs typeface="Arial"/>
              </a:rPr>
              <a:t>Capture</a:t>
            </a:r>
          </a:p>
        </p:txBody>
      </p:sp>
      <p:sp>
        <p:nvSpPr>
          <p:cNvPr id="5" name="Take or upload a clear photo of the part.">
            <a:extLst xmlns:a="http://schemas.openxmlformats.org/drawingml/2006/main">
              <a:ext uri="{FF2B5EF4-FFF2-40B4-BE49-F238E27FC236}">
                <a16:creationId xmlns:a16="http://schemas.microsoft.com/office/drawing/2014/main" id="{80051321-32A3-45A5-9947-D37B56AB4E9B}"/>
              </a:ext>
            </a:extLst>
          </p:cNvPr>
          <p:cNvSpPr>
            <a:spLocks xmlns:a="http://schemas.openxmlformats.org/drawingml/2006/main" noGrp="1"/>
          </p:cNvSpPr>
          <p:nvPr/>
        </p:nvSpPr>
        <p:spPr>
          <a:xfrm xmlns:a="http://schemas.openxmlformats.org/drawingml/2006/main">
            <a:off x="4762500" y="1933575"/>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Take or upload a clear photo of the part.</a:t>
            </a:r>
          </a:p>
        </p:txBody>
      </p:sp>
      <p:sp>
        <p:nvSpPr>
          <p:cNvPr id="6" name="02">
            <a:extLst xmlns:a="http://schemas.openxmlformats.org/drawingml/2006/main">
              <a:ext uri="{FF2B5EF4-FFF2-40B4-BE49-F238E27FC236}">
                <a16:creationId xmlns:a16="http://schemas.microsoft.com/office/drawing/2014/main" id="{67476EC1-3AEF-4C56-9522-C38A444CF472}"/>
              </a:ext>
            </a:extLst>
          </p:cNvPr>
          <p:cNvSpPr>
            <a:spLocks xmlns:a="http://schemas.openxmlformats.org/drawingml/2006/main" noGrp="1"/>
          </p:cNvSpPr>
          <p:nvPr/>
        </p:nvSpPr>
        <p:spPr>
          <a:xfrm xmlns:a="http://schemas.openxmlformats.org/drawingml/2006/main">
            <a:off x="628650" y="2943225"/>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56B7F"/>
                </a:solidFill>
                <a:latin typeface="Arial"/>
                <a:ea typeface="Arial"/>
                <a:cs typeface="Arial"/>
              </a:defRPr>
            </a:pPr>
            <a:r>
              <a:rPr sz="3000" b="1">
                <a:solidFill>
                  <a:srgbClr val="256B7F"/>
                </a:solidFill>
                <a:latin typeface="Arial"/>
                <a:ea typeface="Arial"/>
                <a:cs typeface="Arial"/>
              </a:rPr>
              <a:t>02</a:t>
            </a:r>
          </a:p>
        </p:txBody>
      </p:sp>
      <p:sp>
        <p:nvSpPr>
          <p:cNvPr id="7" name="Review">
            <a:extLst xmlns:a="http://schemas.openxmlformats.org/drawingml/2006/main">
              <a:ext uri="{FF2B5EF4-FFF2-40B4-BE49-F238E27FC236}">
                <a16:creationId xmlns:a16="http://schemas.microsoft.com/office/drawing/2014/main" id="{9E95911D-38E6-426E-947B-C06035455B67}"/>
              </a:ext>
            </a:extLst>
          </p:cNvPr>
          <p:cNvSpPr>
            <a:spLocks xmlns:a="http://schemas.openxmlformats.org/drawingml/2006/main" noGrp="1"/>
          </p:cNvSpPr>
          <p:nvPr/>
        </p:nvSpPr>
        <p:spPr>
          <a:xfrm xmlns:a="http://schemas.openxmlformats.org/drawingml/2006/main">
            <a:off x="1981200" y="2943225"/>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32A3C"/>
                </a:solidFill>
                <a:latin typeface="Arial"/>
                <a:ea typeface="Arial"/>
                <a:cs typeface="Arial"/>
              </a:defRPr>
            </a:pPr>
            <a:r>
              <a:rPr sz="2475" b="1">
                <a:solidFill>
                  <a:srgbClr val="132A3C"/>
                </a:solidFill>
                <a:latin typeface="Arial"/>
                <a:ea typeface="Arial"/>
                <a:cs typeface="Arial"/>
              </a:rPr>
              <a:t>Review</a:t>
            </a:r>
          </a:p>
        </p:txBody>
      </p:sp>
      <p:sp>
        <p:nvSpPr>
          <p:cNvPr id="8" name="Read the AI suggestion and ask follow-up questions.">
            <a:extLst xmlns:a="http://schemas.openxmlformats.org/drawingml/2006/main">
              <a:ext uri="{FF2B5EF4-FFF2-40B4-BE49-F238E27FC236}">
                <a16:creationId xmlns:a16="http://schemas.microsoft.com/office/drawing/2014/main" id="{C18C72CD-2FD6-40B5-BECC-0342772EF369}"/>
              </a:ext>
            </a:extLst>
          </p:cNvPr>
          <p:cNvSpPr>
            <a:spLocks xmlns:a="http://schemas.openxmlformats.org/drawingml/2006/main" noGrp="1"/>
          </p:cNvSpPr>
          <p:nvPr/>
        </p:nvSpPr>
        <p:spPr>
          <a:xfrm xmlns:a="http://schemas.openxmlformats.org/drawingml/2006/main">
            <a:off x="4762500" y="2952750"/>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Read the AI suggestion and ask follow-up questions.</a:t>
            </a:r>
          </a:p>
        </p:txBody>
      </p:sp>
      <p:sp>
        <p:nvSpPr>
          <p:cNvPr id="9" name="03">
            <a:extLst xmlns:a="http://schemas.openxmlformats.org/drawingml/2006/main">
              <a:ext uri="{FF2B5EF4-FFF2-40B4-BE49-F238E27FC236}">
                <a16:creationId xmlns:a16="http://schemas.microsoft.com/office/drawing/2014/main" id="{163E0AB9-102F-40CC-B9C7-4BE12CFF5E58}"/>
              </a:ext>
            </a:extLst>
          </p:cNvPr>
          <p:cNvSpPr>
            <a:spLocks xmlns:a="http://schemas.openxmlformats.org/drawingml/2006/main" noGrp="1"/>
          </p:cNvSpPr>
          <p:nvPr/>
        </p:nvSpPr>
        <p:spPr>
          <a:xfrm xmlns:a="http://schemas.openxmlformats.org/drawingml/2006/main">
            <a:off x="628650" y="3962400"/>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56B7F"/>
                </a:solidFill>
                <a:latin typeface="Arial"/>
                <a:ea typeface="Arial"/>
                <a:cs typeface="Arial"/>
              </a:defRPr>
            </a:pPr>
            <a:r>
              <a:rPr sz="3000" b="1">
                <a:solidFill>
                  <a:srgbClr val="256B7F"/>
                </a:solidFill>
                <a:latin typeface="Arial"/>
                <a:ea typeface="Arial"/>
                <a:cs typeface="Arial"/>
              </a:rPr>
              <a:t>03</a:t>
            </a:r>
          </a:p>
        </p:txBody>
      </p:sp>
      <p:sp>
        <p:nvSpPr>
          <p:cNvPr id="10" name="Inspect">
            <a:extLst xmlns:a="http://schemas.openxmlformats.org/drawingml/2006/main">
              <a:ext uri="{FF2B5EF4-FFF2-40B4-BE49-F238E27FC236}">
                <a16:creationId xmlns:a16="http://schemas.microsoft.com/office/drawing/2014/main" id="{2915F053-EFD1-4B7F-A3DC-BE863539A1BF}"/>
              </a:ext>
            </a:extLst>
          </p:cNvPr>
          <p:cNvSpPr>
            <a:spLocks xmlns:a="http://schemas.openxmlformats.org/drawingml/2006/main" noGrp="1"/>
          </p:cNvSpPr>
          <p:nvPr/>
        </p:nvSpPr>
        <p:spPr>
          <a:xfrm xmlns:a="http://schemas.openxmlformats.org/drawingml/2006/main">
            <a:off x="1981200" y="396240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32A3C"/>
                </a:solidFill>
                <a:latin typeface="Arial"/>
                <a:ea typeface="Arial"/>
                <a:cs typeface="Arial"/>
              </a:defRPr>
            </a:pPr>
            <a:r>
              <a:rPr sz="2475" b="1">
                <a:solidFill>
                  <a:srgbClr val="132A3C"/>
                </a:solidFill>
                <a:latin typeface="Arial"/>
                <a:ea typeface="Arial"/>
                <a:cs typeface="Arial"/>
              </a:rPr>
              <a:t>Inspect</a:t>
            </a:r>
          </a:p>
        </p:txBody>
      </p:sp>
      <p:sp>
        <p:nvSpPr>
          <p:cNvPr id="11" name="Correct the answer or add human inspection evidence.">
            <a:extLst xmlns:a="http://schemas.openxmlformats.org/drawingml/2006/main">
              <a:ext uri="{FF2B5EF4-FFF2-40B4-BE49-F238E27FC236}">
                <a16:creationId xmlns:a16="http://schemas.microsoft.com/office/drawing/2014/main" id="{1BE8F361-03BD-4495-9758-9D7966DF447D}"/>
              </a:ext>
            </a:extLst>
          </p:cNvPr>
          <p:cNvSpPr>
            <a:spLocks xmlns:a="http://schemas.openxmlformats.org/drawingml/2006/main" noGrp="1"/>
          </p:cNvSpPr>
          <p:nvPr/>
        </p:nvSpPr>
        <p:spPr>
          <a:xfrm xmlns:a="http://schemas.openxmlformats.org/drawingml/2006/main">
            <a:off x="4762500" y="3971925"/>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Correct the answer or add human inspection evidence.</a:t>
            </a:r>
          </a:p>
        </p:txBody>
      </p:sp>
      <p:sp>
        <p:nvSpPr>
          <p:cNvPr id="12" name="04">
            <a:extLst xmlns:a="http://schemas.openxmlformats.org/drawingml/2006/main">
              <a:ext uri="{FF2B5EF4-FFF2-40B4-BE49-F238E27FC236}">
                <a16:creationId xmlns:a16="http://schemas.microsoft.com/office/drawing/2014/main" id="{EF18300B-4F16-4234-86F2-C7F50C544A00}"/>
              </a:ext>
            </a:extLst>
          </p:cNvPr>
          <p:cNvSpPr>
            <a:spLocks xmlns:a="http://schemas.openxmlformats.org/drawingml/2006/main" noGrp="1"/>
          </p:cNvSpPr>
          <p:nvPr/>
        </p:nvSpPr>
        <p:spPr>
          <a:xfrm xmlns:a="http://schemas.openxmlformats.org/drawingml/2006/main">
            <a:off x="628650" y="4981575"/>
            <a:ext cx="9429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256B7F"/>
                </a:solidFill>
                <a:latin typeface="Arial"/>
                <a:ea typeface="Arial"/>
                <a:cs typeface="Arial"/>
              </a:defRPr>
            </a:pPr>
            <a:r>
              <a:rPr sz="3000" b="1">
                <a:solidFill>
                  <a:srgbClr val="256B7F"/>
                </a:solidFill>
                <a:latin typeface="Arial"/>
                <a:ea typeface="Arial"/>
                <a:cs typeface="Arial"/>
              </a:rPr>
              <a:t>04</a:t>
            </a:r>
          </a:p>
        </p:txBody>
      </p:sp>
      <p:sp>
        <p:nvSpPr>
          <p:cNvPr id="13" name="Keep">
            <a:extLst xmlns:a="http://schemas.openxmlformats.org/drawingml/2006/main">
              <a:ext uri="{FF2B5EF4-FFF2-40B4-BE49-F238E27FC236}">
                <a16:creationId xmlns:a16="http://schemas.microsoft.com/office/drawing/2014/main" id="{EF8D34C2-A940-4BB5-B0E4-C5788E6724D0}"/>
              </a:ext>
            </a:extLst>
          </p:cNvPr>
          <p:cNvSpPr>
            <a:spLocks xmlns:a="http://schemas.openxmlformats.org/drawingml/2006/main" noGrp="1"/>
          </p:cNvSpPr>
          <p:nvPr/>
        </p:nvSpPr>
        <p:spPr>
          <a:xfrm xmlns:a="http://schemas.openxmlformats.org/drawingml/2006/main">
            <a:off x="1981200" y="4981575"/>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32A3C"/>
                </a:solidFill>
                <a:latin typeface="Arial"/>
                <a:ea typeface="Arial"/>
                <a:cs typeface="Arial"/>
              </a:defRPr>
            </a:pPr>
            <a:r>
              <a:rPr sz="2475" b="1">
                <a:solidFill>
                  <a:srgbClr val="132A3C"/>
                </a:solidFill>
                <a:latin typeface="Arial"/>
                <a:ea typeface="Arial"/>
                <a:cs typeface="Arial"/>
              </a:rPr>
              <a:t>Keep</a:t>
            </a:r>
          </a:p>
        </p:txBody>
      </p:sp>
      <p:sp>
        <p:nvSpPr>
          <p:cNvPr id="14" name="Save, reopen and export the record when needed.">
            <a:extLst xmlns:a="http://schemas.openxmlformats.org/drawingml/2006/main">
              <a:ext uri="{FF2B5EF4-FFF2-40B4-BE49-F238E27FC236}">
                <a16:creationId xmlns:a16="http://schemas.microsoft.com/office/drawing/2014/main" id="{1706A22B-2493-4C7D-9902-5209B679314A}"/>
              </a:ext>
            </a:extLst>
          </p:cNvPr>
          <p:cNvSpPr>
            <a:spLocks xmlns:a="http://schemas.openxmlformats.org/drawingml/2006/main" noGrp="1"/>
          </p:cNvSpPr>
          <p:nvPr/>
        </p:nvSpPr>
        <p:spPr>
          <a:xfrm xmlns:a="http://schemas.openxmlformats.org/drawingml/2006/main">
            <a:off x="4762500" y="4991100"/>
            <a:ext cx="68008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Save, reopen and export the record when needed.</a:t>
            </a:r>
          </a:p>
        </p:txBody>
      </p:sp>
    </p:spTree>
    <p:extLst>
      <p:ext uri="{BB962C8B-B14F-4D97-AF65-F5344CB8AC3E}">
        <p14:creationId xmlns:p14="http://schemas.microsoft.com/office/powerpoint/2010/main" val="675608183"/>
      </p:ext>
    </p:extLst>
  </p:cSld>
</p:sld>
</file>

<file path=ppt/slides/slide5.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9" name="Photo capture and the AR experience">
            <a:extLst xmlns:a="http://schemas.openxmlformats.org/drawingml/2006/main">
              <a:ext uri="{FF2B5EF4-FFF2-40B4-BE49-F238E27FC236}">
                <a16:creationId xmlns:a16="http://schemas.microsoft.com/office/drawing/2014/main" id="{3B5BD3AE-ED64-4528-B00F-43B3CED65C10}"/>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AFB"/>
                </a:solidFill>
                <a:latin typeface="Arial"/>
                <a:ea typeface="Arial"/>
                <a:cs typeface="Arial"/>
              </a:defRPr>
            </a:pPr>
            <a:r>
              <a:rPr sz="3600" b="1">
                <a:solidFill>
                  <a:srgbClr val="F4FAFB"/>
                </a:solidFill>
                <a:latin typeface="Arial"/>
                <a:ea typeface="Arial"/>
                <a:cs typeface="Arial"/>
              </a:rPr>
              <a:t>Photo capture and the AR experience</a:t>
            </a:r>
          </a:p>
        </p:txBody>
      </p:sp>
      <p:sp>
        <p:nvSpPr>
          <p:cNvPr id="2" name="05">
            <a:extLst xmlns:a="http://schemas.openxmlformats.org/drawingml/2006/main">
              <a:ext uri="{FF2B5EF4-FFF2-40B4-BE49-F238E27FC236}">
                <a16:creationId xmlns:a16="http://schemas.microsoft.com/office/drawing/2014/main" id="{751BEE66-743E-4CE7-8DF1-0AA84A2157F5}"/>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05</a:t>
            </a:r>
          </a:p>
        </p:txBody>
      </p:sp>
      <p:sp>
        <p:nvSpPr>
          <p:cNvPr id="3" name="Current camera workflow">
            <a:extLst xmlns:a="http://schemas.openxmlformats.org/drawingml/2006/main">
              <a:ext uri="{FF2B5EF4-FFF2-40B4-BE49-F238E27FC236}">
                <a16:creationId xmlns:a16="http://schemas.microsoft.com/office/drawing/2014/main" id="{D96F326A-7954-4C1A-8BFD-A342A3332EBA}"/>
              </a:ext>
            </a:extLst>
          </p:cNvPr>
          <p:cNvSpPr>
            <a:spLocks xmlns:a="http://schemas.openxmlformats.org/drawingml/2006/main" noGrp="1"/>
          </p:cNvSpPr>
          <p:nvPr/>
        </p:nvSpPr>
        <p:spPr>
          <a:xfrm xmlns:a="http://schemas.openxmlformats.org/drawingml/2006/main">
            <a:off x="628650" y="1847850"/>
            <a:ext cx="552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8E3E9"/>
                </a:solidFill>
                <a:latin typeface="Arial"/>
                <a:ea typeface="Arial"/>
                <a:cs typeface="Arial"/>
              </a:defRPr>
            </a:pPr>
            <a:r>
              <a:rPr sz="2550" b="1">
                <a:solidFill>
                  <a:srgbClr val="B8E3E9"/>
                </a:solidFill>
                <a:latin typeface="Arial"/>
                <a:ea typeface="Arial"/>
                <a:cs typeface="Arial"/>
              </a:rPr>
              <a:t>Current camera workflow</a:t>
            </a:r>
          </a:p>
        </p:txBody>
      </p:sp>
      <p:sp>
        <p:nvSpPr>
          <p:cNvPr id="4" name="Camera or image upload">
            <a:extLst xmlns:a="http://schemas.openxmlformats.org/drawingml/2006/main">
              <a:ext uri="{FF2B5EF4-FFF2-40B4-BE49-F238E27FC236}">
                <a16:creationId xmlns:a16="http://schemas.microsoft.com/office/drawing/2014/main" id="{AC1B9C27-A361-4B75-BA81-6CB2C415C55A}"/>
              </a:ext>
            </a:extLst>
          </p:cNvPr>
          <p:cNvSpPr>
            <a:spLocks xmlns:a="http://schemas.openxmlformats.org/drawingml/2006/main" noGrp="1"/>
          </p:cNvSpPr>
          <p:nvPr/>
        </p:nvSpPr>
        <p:spPr>
          <a:xfrm xmlns:a="http://schemas.openxmlformats.org/drawingml/2006/main">
            <a:off x="628650" y="2647950"/>
            <a:ext cx="56388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Camera or image upload</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Quality guidance and focus area</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Identification overlay and result card</a:t>
            </a:r>
          </a:p>
        </p:txBody>
      </p:sp>
      <p:sp>
        <p:nvSpPr>
          <p:cNvPr id="5" name="V1 polish target">
            <a:extLst xmlns:a="http://schemas.openxmlformats.org/drawingml/2006/main">
              <a:ext uri="{FF2B5EF4-FFF2-40B4-BE49-F238E27FC236}">
                <a16:creationId xmlns:a16="http://schemas.microsoft.com/office/drawing/2014/main" id="{268D3693-DA95-41B3-AF68-2ACF128AD334}"/>
              </a:ext>
            </a:extLst>
          </p:cNvPr>
          <p:cNvSpPr>
            <a:spLocks xmlns:a="http://schemas.openxmlformats.org/drawingml/2006/main" noGrp="1"/>
          </p:cNvSpPr>
          <p:nvPr/>
        </p:nvSpPr>
        <p:spPr>
          <a:xfrm xmlns:a="http://schemas.openxmlformats.org/drawingml/2006/main">
            <a:off x="7096125" y="1847850"/>
            <a:ext cx="4410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8E3E9"/>
                </a:solidFill>
                <a:latin typeface="Arial"/>
                <a:ea typeface="Arial"/>
                <a:cs typeface="Arial"/>
              </a:defRPr>
            </a:pPr>
            <a:r>
              <a:rPr sz="2550" b="1">
                <a:solidFill>
                  <a:srgbClr val="B8E3E9"/>
                </a:solidFill>
                <a:latin typeface="Arial"/>
                <a:ea typeface="Arial"/>
                <a:cs typeface="Arial"/>
              </a:rPr>
              <a:t>V1 polish target</a:t>
            </a:r>
          </a:p>
        </p:txBody>
      </p:sp>
      <p:sp>
        <p:nvSpPr>
          <p:cNvPr id="6" name="A stable highlight on the part">
            <a:extLst xmlns:a="http://schemas.openxmlformats.org/drawingml/2006/main">
              <a:ext uri="{FF2B5EF4-FFF2-40B4-BE49-F238E27FC236}">
                <a16:creationId xmlns:a16="http://schemas.microsoft.com/office/drawing/2014/main" id="{479DE777-F9CA-4D9D-94C0-C5A5B264A1A0}"/>
              </a:ext>
            </a:extLst>
          </p:cNvPr>
          <p:cNvSpPr>
            <a:spLocks xmlns:a="http://schemas.openxmlformats.org/drawingml/2006/main" noGrp="1"/>
          </p:cNvSpPr>
          <p:nvPr/>
        </p:nvSpPr>
        <p:spPr>
          <a:xfrm xmlns:a="http://schemas.openxmlformats.org/drawingml/2006/main">
            <a:off x="7096125" y="2647950"/>
            <a:ext cx="4410075"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A stable highlight on the part</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Readable labels and transitions</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Clear fallback to a photo scan</a:t>
            </a:r>
          </a:p>
        </p:txBody>
      </p:sp>
      <p:sp>
        <p:nvSpPr>
          <p:cNvPr id="7" name="Good AR should help the user see the part and understand what to ">
            <a:extLst xmlns:a="http://schemas.openxmlformats.org/drawingml/2006/main">
              <a:ext uri="{FF2B5EF4-FFF2-40B4-BE49-F238E27FC236}">
                <a16:creationId xmlns:a16="http://schemas.microsoft.com/office/drawing/2014/main" id="{D499AC62-3919-4C3D-BBFD-8E87FD883799}"/>
              </a:ext>
            </a:extLst>
          </p:cNvPr>
          <p:cNvSpPr>
            <a:spLocks xmlns:a="http://schemas.openxmlformats.org/drawingml/2006/main" noGrp="1"/>
          </p:cNvSpPr>
          <p:nvPr/>
        </p:nvSpPr>
        <p:spPr>
          <a:xfrm xmlns:a="http://schemas.openxmlformats.org/drawingml/2006/main">
            <a:off x="628650" y="50673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9DB8C8"/>
                </a:solidFill>
                <a:latin typeface="Arial"/>
                <a:ea typeface="Arial"/>
                <a:cs typeface="Arial"/>
              </a:defRPr>
            </a:pPr>
            <a:r>
              <a:rPr sz="2325" b="0">
                <a:solidFill>
                  <a:srgbClr val="9DB8C8"/>
                </a:solidFill>
                <a:latin typeface="Arial"/>
                <a:ea typeface="Arial"/>
                <a:cs typeface="Arial"/>
              </a:rPr>
              <a:t>Good AR should help the user see the part and understand what to do next.</a:t>
            </a:r>
          </a:p>
        </p:txBody>
      </p:sp>
      <p:sp>
        <p:nvSpPr>
          <p:cNvPr id="8" name="Mobile tracking quality needs real-device testing. Current cutout">
            <a:extLst xmlns:a="http://schemas.openxmlformats.org/drawingml/2006/main">
              <a:ext uri="{FF2B5EF4-FFF2-40B4-BE49-F238E27FC236}">
                <a16:creationId xmlns:a16="http://schemas.microsoft.com/office/drawing/2014/main" id="{10D958A3-FE48-4CBC-9B15-FB495C199481}"/>
              </a:ext>
            </a:extLst>
          </p:cNvPr>
          <p:cNvSpPr>
            <a:spLocks xmlns:a="http://schemas.openxmlformats.org/drawingml/2006/main" noGrp="1"/>
          </p:cNvSpPr>
          <p:nvPr/>
        </p:nvSpPr>
        <p:spPr>
          <a:xfrm xmlns:a="http://schemas.openxmlformats.org/drawingml/2006/main">
            <a:off x="628650" y="62674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9DB8C8"/>
                </a:solidFill>
                <a:latin typeface="Arial"/>
                <a:ea typeface="Arial"/>
                <a:cs typeface="Arial"/>
              </a:defRPr>
            </a:pPr>
            <a:r>
              <a:rPr sz="1500" b="0">
                <a:solidFill>
                  <a:srgbClr val="9DB8C8"/>
                </a:solidFill>
                <a:latin typeface="Arial"/>
                <a:ea typeface="Arial"/>
                <a:cs typeface="Arial"/>
              </a:rPr>
              <a:t>Mobile tracking quality needs real-device testing. Current cutouts are 2D.</a:t>
            </a:r>
          </a:p>
        </p:txBody>
      </p:sp>
    </p:spTree>
    <p:extLst>
      <p:ext uri="{BB962C8B-B14F-4D97-AF65-F5344CB8AC3E}">
        <p14:creationId xmlns:p14="http://schemas.microsoft.com/office/powerpoint/2010/main" val="83569551"/>
      </p:ext>
    </p:extLst>
  </p:cSld>
</p:sld>
</file>

<file path=ppt/slides/slide6.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8" name="AI result and follow-up chat">
            <a:extLst xmlns:a="http://schemas.openxmlformats.org/drawingml/2006/main">
              <a:ext uri="{FF2B5EF4-FFF2-40B4-BE49-F238E27FC236}">
                <a16:creationId xmlns:a16="http://schemas.microsoft.com/office/drawing/2014/main" id="{BF991C0B-8A82-46EE-A006-09527726A7F7}"/>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AI result and follow-up chat</a:t>
            </a:r>
          </a:p>
        </p:txBody>
      </p:sp>
      <p:sp>
        <p:nvSpPr>
          <p:cNvPr id="2" name="06">
            <a:extLst xmlns:a="http://schemas.openxmlformats.org/drawingml/2006/main">
              <a:ext uri="{FF2B5EF4-FFF2-40B4-BE49-F238E27FC236}">
                <a16:creationId xmlns:a16="http://schemas.microsoft.com/office/drawing/2014/main" id="{9167619A-E503-45D0-8237-17B5000D4BEA}"/>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06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0ef1e7aed774aef"/>
          <a:stretch xmlns:a="http://schemas.openxmlformats.org/drawingml/2006/main"/>
        </p:blipFill>
        <p:spPr>
          <a:xfrm xmlns:a="http://schemas.openxmlformats.org/drawingml/2006/main">
            <a:off x="4543425" y="1692473"/>
            <a:ext cx="7019925" cy="4387453"/>
          </a:xfrm>
          <a:prstGeom xmlns:a="http://schemas.openxmlformats.org/drawingml/2006/main" prst="rect">
            <a:avLst/>
          </a:prstGeom>
        </p:spPr>
      </p:pic>
      <p:sp>
        <p:nvSpPr>
          <p:cNvPr id="4" name="A starting point">
            <a:extLst xmlns:a="http://schemas.openxmlformats.org/drawingml/2006/main">
              <a:ext uri="{FF2B5EF4-FFF2-40B4-BE49-F238E27FC236}">
                <a16:creationId xmlns:a16="http://schemas.microsoft.com/office/drawing/2014/main" id="{27923B16-B38F-48E7-B3A9-DFDE4DA9B5E1}"/>
              </a:ext>
            </a:extLst>
          </p:cNvPr>
          <p:cNvSpPr>
            <a:spLocks xmlns:a="http://schemas.openxmlformats.org/drawingml/2006/main" noGrp="1"/>
          </p:cNvSpPr>
          <p:nvPr/>
        </p:nvSpPr>
        <p:spPr>
          <a:xfrm xmlns:a="http://schemas.openxmlformats.org/drawingml/2006/main">
            <a:off x="628650" y="1752600"/>
            <a:ext cx="35337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56B7F"/>
                </a:solidFill>
                <a:latin typeface="Arial"/>
                <a:ea typeface="Arial"/>
                <a:cs typeface="Arial"/>
              </a:defRPr>
            </a:pPr>
            <a:r>
              <a:rPr sz="2550" b="1">
                <a:solidFill>
                  <a:srgbClr val="256B7F"/>
                </a:solidFill>
                <a:latin typeface="Arial"/>
                <a:ea typeface="Arial"/>
                <a:cs typeface="Arial"/>
              </a:rPr>
              <a:t>A starting point</a:t>
            </a:r>
          </a:p>
          <a:p xmlns:a="http://schemas.openxmlformats.org/drawingml/2006/main">
            <a:pPr>
              <a:defRPr sz="2550" b="1">
                <a:solidFill>
                  <a:srgbClr val="256B7F"/>
                </a:solidFill>
                <a:latin typeface="Arial"/>
                <a:ea typeface="Arial"/>
                <a:cs typeface="Arial"/>
              </a:defRPr>
            </a:pPr>
            <a:r>
              <a:rPr sz="2550" b="1">
                <a:solidFill>
                  <a:srgbClr val="256B7F"/>
                </a:solidFill>
                <a:latin typeface="Arial"/>
                <a:ea typeface="Arial"/>
                <a:cs typeface="Arial"/>
              </a:rPr>
              <a:t>for the review</a:t>
            </a:r>
          </a:p>
        </p:txBody>
      </p:sp>
      <p:sp>
        <p:nvSpPr>
          <p:cNvPr id="5" name="Suggested identity">
            <a:extLst xmlns:a="http://schemas.openxmlformats.org/drawingml/2006/main">
              <a:ext uri="{FF2B5EF4-FFF2-40B4-BE49-F238E27FC236}">
                <a16:creationId xmlns:a16="http://schemas.microsoft.com/office/drawing/2014/main" id="{D6CC22FD-9BE2-4BCE-A444-823A8A0FC8F5}"/>
              </a:ext>
            </a:extLst>
          </p:cNvPr>
          <p:cNvSpPr>
            <a:spLocks xmlns:a="http://schemas.openxmlformats.org/drawingml/2006/main" noGrp="1"/>
          </p:cNvSpPr>
          <p:nvPr/>
        </p:nvSpPr>
        <p:spPr>
          <a:xfrm xmlns:a="http://schemas.openxmlformats.org/drawingml/2006/main">
            <a:off x="628650" y="3228975"/>
            <a:ext cx="353377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Suggested identity</a:t>
            </a:r>
          </a:p>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Visible clues</a:t>
            </a:r>
          </a:p>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Uncertainty and flags</a:t>
            </a:r>
          </a:p>
        </p:txBody>
      </p:sp>
      <p:sp>
        <p:nvSpPr>
          <p:cNvPr id="6" name="Follow-up chat keeps">
            <a:extLst xmlns:a="http://schemas.openxmlformats.org/drawingml/2006/main">
              <a:ext uri="{FF2B5EF4-FFF2-40B4-BE49-F238E27FC236}">
                <a16:creationId xmlns:a16="http://schemas.microsoft.com/office/drawing/2014/main" id="{5A386114-C356-46CD-AD50-1521306F31F1}"/>
              </a:ext>
            </a:extLst>
          </p:cNvPr>
          <p:cNvSpPr>
            <a:spLocks xmlns:a="http://schemas.openxmlformats.org/drawingml/2006/main" noGrp="1"/>
          </p:cNvSpPr>
          <p:nvPr/>
        </p:nvSpPr>
        <p:spPr>
          <a:xfrm xmlns:a="http://schemas.openxmlformats.org/drawingml/2006/main">
            <a:off x="628650" y="5114925"/>
            <a:ext cx="3562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Follow-up chat keeps</a:t>
            </a:r>
          </a:p>
          <a:p xmlns:a="http://schemas.openxmlformats.org/drawingml/2006/main">
            <a:pPr>
              <a:defRPr sz="2100" b="0">
                <a:solidFill>
                  <a:srgbClr val="132A3C"/>
                </a:solidFill>
                <a:latin typeface="Arial"/>
                <a:ea typeface="Arial"/>
                <a:cs typeface="Arial"/>
              </a:defRPr>
            </a:pPr>
            <a:r>
              <a:rPr sz="2100" b="0">
                <a:solidFill>
                  <a:srgbClr val="132A3C"/>
                </a:solidFill>
                <a:latin typeface="Arial"/>
                <a:ea typeface="Arial"/>
                <a:cs typeface="Arial"/>
              </a:rPr>
              <a:t>the scan context close.</a:t>
            </a:r>
          </a:p>
        </p:txBody>
      </p:sp>
      <p:sp>
        <p:nvSpPr>
          <p:cNvPr id="7" name="Actual app QA capture. A photo does not establish function or saf">
            <a:extLst xmlns:a="http://schemas.openxmlformats.org/drawingml/2006/main">
              <a:ext uri="{FF2B5EF4-FFF2-40B4-BE49-F238E27FC236}">
                <a16:creationId xmlns:a16="http://schemas.microsoft.com/office/drawing/2014/main" id="{8FF99F54-0A7A-4D6B-AD67-9E05FCEB3C35}"/>
              </a:ext>
            </a:extLst>
          </p:cNvPr>
          <p:cNvSpPr>
            <a:spLocks xmlns:a="http://schemas.openxmlformats.org/drawingml/2006/main" noGrp="1"/>
          </p:cNvSpPr>
          <p:nvPr/>
        </p:nvSpPr>
        <p:spPr>
          <a:xfrm xmlns:a="http://schemas.openxmlformats.org/drawingml/2006/main">
            <a:off x="628650" y="626745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256B7F"/>
                </a:solidFill>
                <a:latin typeface="Arial"/>
                <a:ea typeface="Arial"/>
                <a:cs typeface="Arial"/>
              </a:defRPr>
            </a:pPr>
            <a:r>
              <a:rPr sz="1500" b="0">
                <a:solidFill>
                  <a:srgbClr val="256B7F"/>
                </a:solidFill>
                <a:latin typeface="Arial"/>
                <a:ea typeface="Arial"/>
                <a:cs typeface="Arial"/>
              </a:rPr>
              <a:t>Actual app QA capture. A photo does not establish function or safety.</a:t>
            </a:r>
          </a:p>
        </p:txBody>
      </p:sp>
    </p:spTree>
    <p:extLst>
      <p:ext uri="{BB962C8B-B14F-4D97-AF65-F5344CB8AC3E}">
        <p14:creationId xmlns:p14="http://schemas.microsoft.com/office/powerpoint/2010/main" val="469020270"/>
      </p:ext>
    </p:extLst>
  </p:cSld>
</p:sld>
</file>

<file path=ppt/slides/slide7.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1" name="Human checks stay separate">
            <a:extLst xmlns:a="http://schemas.openxmlformats.org/drawingml/2006/main">
              <a:ext uri="{FF2B5EF4-FFF2-40B4-BE49-F238E27FC236}">
                <a16:creationId xmlns:a16="http://schemas.microsoft.com/office/drawing/2014/main" id="{6DD7DE13-7B29-4F93-933D-06008CC5E97E}"/>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AFB"/>
                </a:solidFill>
                <a:latin typeface="Arial"/>
                <a:ea typeface="Arial"/>
                <a:cs typeface="Arial"/>
              </a:defRPr>
            </a:pPr>
            <a:r>
              <a:rPr sz="3600" b="1">
                <a:solidFill>
                  <a:srgbClr val="F4FAFB"/>
                </a:solidFill>
                <a:latin typeface="Arial"/>
                <a:ea typeface="Arial"/>
                <a:cs typeface="Arial"/>
              </a:rPr>
              <a:t>Human checks stay separate</a:t>
            </a:r>
          </a:p>
        </p:txBody>
      </p:sp>
      <p:sp>
        <p:nvSpPr>
          <p:cNvPr id="2" name="07">
            <a:extLst xmlns:a="http://schemas.openxmlformats.org/drawingml/2006/main">
              <a:ext uri="{FF2B5EF4-FFF2-40B4-BE49-F238E27FC236}">
                <a16:creationId xmlns:a16="http://schemas.microsoft.com/office/drawing/2014/main" id="{3CC11423-B111-4B76-9EB4-6AFB3C4CD5A6}"/>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07</a:t>
            </a:r>
          </a:p>
        </p:txBody>
      </p:sp>
      <p:sp>
        <p:nvSpPr>
          <p:cNvPr id="3" name="Identity">
            <a:extLst xmlns:a="http://schemas.openxmlformats.org/drawingml/2006/main">
              <a:ext uri="{FF2B5EF4-FFF2-40B4-BE49-F238E27FC236}">
                <a16:creationId xmlns:a16="http://schemas.microsoft.com/office/drawing/2014/main" id="{6F837871-E56B-4937-83F0-AD129D7C7268}"/>
              </a:ext>
            </a:extLst>
          </p:cNvPr>
          <p:cNvSpPr>
            <a:spLocks xmlns:a="http://schemas.openxmlformats.org/drawingml/2006/main" noGrp="1"/>
          </p:cNvSpPr>
          <p:nvPr/>
        </p:nvSpPr>
        <p:spPr>
          <a:xfrm xmlns:a="http://schemas.openxmlformats.org/drawingml/2006/main">
            <a:off x="628650" y="1971675"/>
            <a:ext cx="3390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8E3E9"/>
                </a:solidFill>
                <a:latin typeface="Arial"/>
                <a:ea typeface="Arial"/>
                <a:cs typeface="Arial"/>
              </a:defRPr>
            </a:pPr>
            <a:r>
              <a:rPr sz="2550" b="1">
                <a:solidFill>
                  <a:srgbClr val="B8E3E9"/>
                </a:solidFill>
                <a:latin typeface="Arial"/>
                <a:ea typeface="Arial"/>
                <a:cs typeface="Arial"/>
              </a:rPr>
              <a:t>Identity</a:t>
            </a:r>
          </a:p>
        </p:txBody>
      </p:sp>
      <p:sp>
        <p:nvSpPr>
          <p:cNvPr id="4" name="What part did you confirm?">
            <a:extLst xmlns:a="http://schemas.openxmlformats.org/drawingml/2006/main">
              <a:ext uri="{FF2B5EF4-FFF2-40B4-BE49-F238E27FC236}">
                <a16:creationId xmlns:a16="http://schemas.microsoft.com/office/drawing/2014/main" id="{81F885E3-185D-4EAE-ABE2-8F722D30EDE0}"/>
              </a:ext>
            </a:extLst>
          </p:cNvPr>
          <p:cNvSpPr>
            <a:spLocks xmlns:a="http://schemas.openxmlformats.org/drawingml/2006/main" noGrp="1"/>
          </p:cNvSpPr>
          <p:nvPr/>
        </p:nvSpPr>
        <p:spPr>
          <a:xfrm xmlns:a="http://schemas.openxmlformats.org/drawingml/2006/main">
            <a:off x="628650" y="314325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What part did you confirm?</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Which label or reference supports it?</a:t>
            </a:r>
          </a:p>
        </p:txBody>
      </p:sp>
      <p:sp>
        <p:nvSpPr>
          <p:cNvPr id="5" name="Visible condition">
            <a:extLst xmlns:a="http://schemas.openxmlformats.org/drawingml/2006/main">
              <a:ext uri="{FF2B5EF4-FFF2-40B4-BE49-F238E27FC236}">
                <a16:creationId xmlns:a16="http://schemas.microsoft.com/office/drawing/2014/main" id="{DA0A68DB-64AA-45E4-B64F-192C65CD4557}"/>
              </a:ext>
            </a:extLst>
          </p:cNvPr>
          <p:cNvSpPr>
            <a:spLocks xmlns:a="http://schemas.openxmlformats.org/drawingml/2006/main" noGrp="1"/>
          </p:cNvSpPr>
          <p:nvPr/>
        </p:nvSpPr>
        <p:spPr>
          <a:xfrm xmlns:a="http://schemas.openxmlformats.org/drawingml/2006/main">
            <a:off x="4381500" y="1971675"/>
            <a:ext cx="3390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8E3E9"/>
                </a:solidFill>
                <a:latin typeface="Arial"/>
                <a:ea typeface="Arial"/>
                <a:cs typeface="Arial"/>
              </a:defRPr>
            </a:pPr>
            <a:r>
              <a:rPr sz="2550" b="1">
                <a:solidFill>
                  <a:srgbClr val="B8E3E9"/>
                </a:solidFill>
                <a:latin typeface="Arial"/>
                <a:ea typeface="Arial"/>
                <a:cs typeface="Arial"/>
              </a:rPr>
              <a:t>Visible condition</a:t>
            </a:r>
          </a:p>
        </p:txBody>
      </p:sp>
      <p:sp>
        <p:nvSpPr>
          <p:cNvPr id="6" name="What could you observe?">
            <a:extLst xmlns:a="http://schemas.openxmlformats.org/drawingml/2006/main">
              <a:ext uri="{FF2B5EF4-FFF2-40B4-BE49-F238E27FC236}">
                <a16:creationId xmlns:a16="http://schemas.microsoft.com/office/drawing/2014/main" id="{13E6ADBA-D4ED-4461-A9C5-D36C10E9F9C3}"/>
              </a:ext>
            </a:extLst>
          </p:cNvPr>
          <p:cNvSpPr>
            <a:spLocks xmlns:a="http://schemas.openxmlformats.org/drawingml/2006/main" noGrp="1"/>
          </p:cNvSpPr>
          <p:nvPr/>
        </p:nvSpPr>
        <p:spPr>
          <a:xfrm xmlns:a="http://schemas.openxmlformats.org/drawingml/2006/main">
            <a:off x="4381500" y="314325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What could you observe?</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What damage or uncertainty remains?</a:t>
            </a:r>
          </a:p>
        </p:txBody>
      </p:sp>
      <p:sp>
        <p:nvSpPr>
          <p:cNvPr id="7" name="Function">
            <a:extLst xmlns:a="http://schemas.openxmlformats.org/drawingml/2006/main">
              <a:ext uri="{FF2B5EF4-FFF2-40B4-BE49-F238E27FC236}">
                <a16:creationId xmlns:a16="http://schemas.microsoft.com/office/drawing/2014/main" id="{BD85B4E6-C645-4339-A92B-C6ED53D6CDEC}"/>
              </a:ext>
            </a:extLst>
          </p:cNvPr>
          <p:cNvSpPr>
            <a:spLocks xmlns:a="http://schemas.openxmlformats.org/drawingml/2006/main" noGrp="1"/>
          </p:cNvSpPr>
          <p:nvPr/>
        </p:nvSpPr>
        <p:spPr>
          <a:xfrm xmlns:a="http://schemas.openxmlformats.org/drawingml/2006/main">
            <a:off x="8134350" y="1971675"/>
            <a:ext cx="33909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B8E3E9"/>
                </a:solidFill>
                <a:latin typeface="Arial"/>
                <a:ea typeface="Arial"/>
                <a:cs typeface="Arial"/>
              </a:defRPr>
            </a:pPr>
            <a:r>
              <a:rPr sz="2550" b="1">
                <a:solidFill>
                  <a:srgbClr val="B8E3E9"/>
                </a:solidFill>
                <a:latin typeface="Arial"/>
                <a:ea typeface="Arial"/>
                <a:cs typeface="Arial"/>
              </a:rPr>
              <a:t>Function</a:t>
            </a:r>
          </a:p>
        </p:txBody>
      </p:sp>
      <p:sp>
        <p:nvSpPr>
          <p:cNvPr id="8" name="What test did you perform?">
            <a:extLst xmlns:a="http://schemas.openxmlformats.org/drawingml/2006/main">
              <a:ext uri="{FF2B5EF4-FFF2-40B4-BE49-F238E27FC236}">
                <a16:creationId xmlns:a16="http://schemas.microsoft.com/office/drawing/2014/main" id="{C1ABF3EE-222C-4910-931D-FB0A3C4E3D7C}"/>
              </a:ext>
            </a:extLst>
          </p:cNvPr>
          <p:cNvSpPr>
            <a:spLocks xmlns:a="http://schemas.openxmlformats.org/drawingml/2006/main" noGrp="1"/>
          </p:cNvSpPr>
          <p:nvPr/>
        </p:nvSpPr>
        <p:spPr>
          <a:xfrm xmlns:a="http://schemas.openxmlformats.org/drawingml/2006/main">
            <a:off x="8134350" y="3143250"/>
            <a:ext cx="33528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What test did you perform?</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What happened during the test?</a:t>
            </a:r>
          </a:p>
        </p:txBody>
      </p:sp>
      <p:sp>
        <p:nvSpPr>
          <p:cNvPr id="9" name="Inspector name and time travel with the saved inspection.">
            <a:extLst xmlns:a="http://schemas.openxmlformats.org/drawingml/2006/main">
              <a:ext uri="{FF2B5EF4-FFF2-40B4-BE49-F238E27FC236}">
                <a16:creationId xmlns:a16="http://schemas.microsoft.com/office/drawing/2014/main" id="{755E382F-FF33-4E56-B1B5-41AD6EF75561}"/>
              </a:ext>
            </a:extLst>
          </p:cNvPr>
          <p:cNvSpPr>
            <a:spLocks xmlns:a="http://schemas.openxmlformats.org/drawingml/2006/main" noGrp="1"/>
          </p:cNvSpPr>
          <p:nvPr/>
        </p:nvSpPr>
        <p:spPr>
          <a:xfrm xmlns:a="http://schemas.openxmlformats.org/drawingml/2006/main">
            <a:off x="628650" y="54102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Inspector name and time travel with the saved inspection.</a:t>
            </a:r>
          </a:p>
        </p:txBody>
      </p:sp>
      <p:sp>
        <p:nvSpPr>
          <p:cNvPr id="10" name="No visible damage is different from a passed functional test.">
            <a:extLst xmlns:a="http://schemas.openxmlformats.org/drawingml/2006/main">
              <a:ext uri="{FF2B5EF4-FFF2-40B4-BE49-F238E27FC236}">
                <a16:creationId xmlns:a16="http://schemas.microsoft.com/office/drawing/2014/main" id="{EC91E097-170D-4881-90CA-A812D5BD617B}"/>
              </a:ext>
            </a:extLst>
          </p:cNvPr>
          <p:cNvSpPr>
            <a:spLocks xmlns:a="http://schemas.openxmlformats.org/drawingml/2006/main" noGrp="1"/>
          </p:cNvSpPr>
          <p:nvPr/>
        </p:nvSpPr>
        <p:spPr>
          <a:xfrm xmlns:a="http://schemas.openxmlformats.org/drawingml/2006/main">
            <a:off x="628650" y="6238875"/>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9DB8C8"/>
                </a:solidFill>
                <a:latin typeface="Arial"/>
                <a:ea typeface="Arial"/>
                <a:cs typeface="Arial"/>
              </a:defRPr>
            </a:pPr>
            <a:r>
              <a:rPr sz="1575" b="0">
                <a:solidFill>
                  <a:srgbClr val="9DB8C8"/>
                </a:solidFill>
                <a:latin typeface="Arial"/>
                <a:ea typeface="Arial"/>
                <a:cs typeface="Arial"/>
              </a:rPr>
              <a:t>No visible damage is different from a passed functional test.</a:t>
            </a:r>
          </a:p>
        </p:txBody>
      </p:sp>
    </p:spTree>
    <p:extLst>
      <p:ext uri="{BB962C8B-B14F-4D97-AF65-F5344CB8AC3E}">
        <p14:creationId xmlns:p14="http://schemas.microsoft.com/office/powerpoint/2010/main" val="1438079892"/>
      </p:ext>
    </p:extLst>
  </p:cSld>
</p:sld>
</file>

<file path=ppt/slides/slide8.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8" name="An interruption need not lose the notes">
            <a:extLst xmlns:a="http://schemas.openxmlformats.org/drawingml/2006/main">
              <a:ext uri="{FF2B5EF4-FFF2-40B4-BE49-F238E27FC236}">
                <a16:creationId xmlns:a16="http://schemas.microsoft.com/office/drawing/2014/main" id="{F486308D-76FB-4ED9-9D6E-8E46B0D57A8D}"/>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An interruption need not lose the notes</a:t>
            </a:r>
          </a:p>
        </p:txBody>
      </p:sp>
      <p:sp>
        <p:nvSpPr>
          <p:cNvPr id="2" name="08">
            <a:extLst xmlns:a="http://schemas.openxmlformats.org/drawingml/2006/main">
              <a:ext uri="{FF2B5EF4-FFF2-40B4-BE49-F238E27FC236}">
                <a16:creationId xmlns:a16="http://schemas.microsoft.com/office/drawing/2014/main" id="{1EF11963-7A5F-46AC-B27C-B8A98211DE91}"/>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08</a:t>
            </a:r>
          </a:p>
        </p:txBody>
      </p:sp>
      <p:sp>
        <p:nvSpPr>
          <p:cNvPr id="3" name="Draft recovery on this device">
            <a:extLst xmlns:a="http://schemas.openxmlformats.org/drawingml/2006/main">
              <a:ext uri="{FF2B5EF4-FFF2-40B4-BE49-F238E27FC236}">
                <a16:creationId xmlns:a16="http://schemas.microsoft.com/office/drawing/2014/main" id="{9541F611-B8A8-487F-8811-AFDC02B408BA}"/>
              </a:ext>
            </a:extLst>
          </p:cNvPr>
          <p:cNvSpPr>
            <a:spLocks xmlns:a="http://schemas.openxmlformats.org/drawingml/2006/main" noGrp="1"/>
          </p:cNvSpPr>
          <p:nvPr/>
        </p:nvSpPr>
        <p:spPr>
          <a:xfrm xmlns:a="http://schemas.openxmlformats.org/drawingml/2006/main">
            <a:off x="628650" y="1762125"/>
            <a:ext cx="64484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56B7F"/>
                </a:solidFill>
                <a:latin typeface="Arial"/>
                <a:ea typeface="Arial"/>
                <a:cs typeface="Arial"/>
              </a:defRPr>
            </a:pPr>
            <a:r>
              <a:rPr sz="2700" b="1">
                <a:solidFill>
                  <a:srgbClr val="256B7F"/>
                </a:solidFill>
                <a:latin typeface="Arial"/>
                <a:ea typeface="Arial"/>
                <a:cs typeface="Arial"/>
              </a:rPr>
              <a:t>Draft recovery on this device</a:t>
            </a:r>
          </a:p>
        </p:txBody>
      </p:sp>
      <p:sp>
        <p:nvSpPr>
          <p:cNvPr id="4" name="Edits preserve an unfinished draft.">
            <a:extLst xmlns:a="http://schemas.openxmlformats.org/drawingml/2006/main">
              <a:ext uri="{FF2B5EF4-FFF2-40B4-BE49-F238E27FC236}">
                <a16:creationId xmlns:a16="http://schemas.microsoft.com/office/drawing/2014/main" id="{7CEF7E66-04B0-4AAA-B4E2-0541F00B0342}"/>
              </a:ext>
            </a:extLst>
          </p:cNvPr>
          <p:cNvSpPr>
            <a:spLocks xmlns:a="http://schemas.openxmlformats.org/drawingml/2006/main" noGrp="1"/>
          </p:cNvSpPr>
          <p:nvPr/>
        </p:nvSpPr>
        <p:spPr>
          <a:xfrm xmlns:a="http://schemas.openxmlformats.org/drawingml/2006/main">
            <a:off x="628650" y="2647950"/>
            <a:ext cx="64960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Edits preserve an unfinished draft.</a:t>
            </a:r>
          </a:p>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After reopening, choose restore or discard.</a:t>
            </a:r>
          </a:p>
        </p:txBody>
      </p:sp>
      <p:sp>
        <p:nvSpPr>
          <p:cNvPr id="5" name="A newer saved inspection blocks">
            <a:extLst xmlns:a="http://schemas.openxmlformats.org/drawingml/2006/main">
              <a:ext uri="{FF2B5EF4-FFF2-40B4-BE49-F238E27FC236}">
                <a16:creationId xmlns:a16="http://schemas.microsoft.com/office/drawing/2014/main" id="{7A1A42C5-5FD5-4686-9CB2-89D5103A25BA}"/>
              </a:ext>
            </a:extLst>
          </p:cNvPr>
          <p:cNvSpPr>
            <a:spLocks xmlns:a="http://schemas.openxmlformats.org/drawingml/2006/main" noGrp="1"/>
          </p:cNvSpPr>
          <p:nvPr/>
        </p:nvSpPr>
        <p:spPr>
          <a:xfrm xmlns:a="http://schemas.openxmlformats.org/drawingml/2006/main">
            <a:off x="628650" y="4114800"/>
            <a:ext cx="6477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A newer saved inspection blocks</a:t>
            </a:r>
          </a:p>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restoring an older draft over it.</a:t>
            </a:r>
          </a:p>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A download keeps the notes for comparison.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3300d853f754919"/>
          <a:srcRect xmlns:a="http://schemas.openxmlformats.org/drawingml/2006/main" l="0" t="0" r="0" b="56717"/>
          <a:stretch xmlns:a="http://schemas.openxmlformats.org/drawingml/2006/main">
            <a:fillRect l="0" t="0" r="0" b="0"/>
          </a:stretch>
        </p:blipFill>
        <p:spPr>
          <a:xfrm xmlns:a="http://schemas.openxmlformats.org/drawingml/2006/main">
            <a:off x="7839075" y="1743075"/>
            <a:ext cx="3476625" cy="4200525"/>
          </a:xfrm>
          <a:prstGeom xmlns:a="http://schemas.openxmlformats.org/drawingml/2006/main" prst="rect">
            <a:avLst/>
          </a:prstGeom>
        </p:spPr>
      </p:pic>
      <p:sp>
        <p:nvSpPr>
          <p:cNvPr id="7" name="QA fixture. Browser storage can fail or be cleared. Drafts are no">
            <a:extLst xmlns:a="http://schemas.openxmlformats.org/drawingml/2006/main">
              <a:ext uri="{FF2B5EF4-FFF2-40B4-BE49-F238E27FC236}">
                <a16:creationId xmlns:a16="http://schemas.microsoft.com/office/drawing/2014/main" id="{CB829C35-6490-454A-9B8C-D5C1B03C087F}"/>
              </a:ext>
            </a:extLst>
          </p:cNvPr>
          <p:cNvSpPr>
            <a:spLocks xmlns:a="http://schemas.openxmlformats.org/drawingml/2006/main" noGrp="1"/>
          </p:cNvSpPr>
          <p:nvPr/>
        </p:nvSpPr>
        <p:spPr>
          <a:xfrm xmlns:a="http://schemas.openxmlformats.org/drawingml/2006/main">
            <a:off x="628650" y="62579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256B7F"/>
                </a:solidFill>
                <a:latin typeface="Arial"/>
                <a:ea typeface="Arial"/>
                <a:cs typeface="Arial"/>
              </a:defRPr>
            </a:pPr>
            <a:r>
              <a:rPr sz="1425" b="0">
                <a:solidFill>
                  <a:srgbClr val="256B7F"/>
                </a:solidFill>
                <a:latin typeface="Arial"/>
                <a:ea typeface="Arial"/>
                <a:cs typeface="Arial"/>
              </a:rPr>
              <a:t>QA fixture. Browser storage can fail or be cleared. Drafts are not cloud backups.</a:t>
            </a:r>
          </a:p>
        </p:txBody>
      </p:sp>
    </p:spTree>
    <p:extLst>
      <p:ext uri="{BB962C8B-B14F-4D97-AF65-F5344CB8AC3E}">
        <p14:creationId xmlns:p14="http://schemas.microsoft.com/office/powerpoint/2010/main" val="1703894614"/>
      </p:ext>
    </p:extLst>
  </p:cSld>
</p:sld>
</file>

<file path=ppt/slides/slide9.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8" name="A library that keeps the evidence close">
            <a:extLst xmlns:a="http://schemas.openxmlformats.org/drawingml/2006/main">
              <a:ext uri="{FF2B5EF4-FFF2-40B4-BE49-F238E27FC236}">
                <a16:creationId xmlns:a16="http://schemas.microsoft.com/office/drawing/2014/main" id="{68EAA987-E53E-46CC-88AA-42253C7B26AE}"/>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AFB"/>
                </a:solidFill>
                <a:latin typeface="Arial"/>
                <a:ea typeface="Arial"/>
                <a:cs typeface="Arial"/>
              </a:defRPr>
            </a:pPr>
            <a:r>
              <a:rPr sz="3600" b="1">
                <a:solidFill>
                  <a:srgbClr val="F4FAFB"/>
                </a:solidFill>
                <a:latin typeface="Arial"/>
                <a:ea typeface="Arial"/>
                <a:cs typeface="Arial"/>
              </a:rPr>
              <a:t>A library that keeps the evidence close</a:t>
            </a:r>
          </a:p>
        </p:txBody>
      </p:sp>
      <p:sp>
        <p:nvSpPr>
          <p:cNvPr id="2" name="09">
            <a:extLst xmlns:a="http://schemas.openxmlformats.org/drawingml/2006/main">
              <a:ext uri="{FF2B5EF4-FFF2-40B4-BE49-F238E27FC236}">
                <a16:creationId xmlns:a16="http://schemas.microsoft.com/office/drawing/2014/main" id="{2ECB0F66-5EEE-43C4-A991-D3DC2C5D48C5}"/>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09</a:t>
            </a:r>
          </a:p>
        </p:txBody>
      </p:sp>
      <p:sp>
        <p:nvSpPr>
          <p:cNvPr id="3" name="Find the part again">
            <a:extLst xmlns:a="http://schemas.openxmlformats.org/drawingml/2006/main">
              <a:ext uri="{FF2B5EF4-FFF2-40B4-BE49-F238E27FC236}">
                <a16:creationId xmlns:a16="http://schemas.microsoft.com/office/drawing/2014/main" id="{DBF85D73-660C-4BF5-9466-425C0F1BA4F2}"/>
              </a:ext>
            </a:extLst>
          </p:cNvPr>
          <p:cNvSpPr>
            <a:spLocks xmlns:a="http://schemas.openxmlformats.org/drawingml/2006/main" noGrp="1"/>
          </p:cNvSpPr>
          <p:nvPr/>
        </p:nvSpPr>
        <p:spPr>
          <a:xfrm xmlns:a="http://schemas.openxmlformats.org/drawingml/2006/main">
            <a:off x="628650" y="1847850"/>
            <a:ext cx="6048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B8E3E9"/>
                </a:solidFill>
                <a:latin typeface="Arial"/>
                <a:ea typeface="Arial"/>
                <a:cs typeface="Arial"/>
              </a:defRPr>
            </a:pPr>
            <a:r>
              <a:rPr sz="2775" b="1">
                <a:solidFill>
                  <a:srgbClr val="B8E3E9"/>
                </a:solidFill>
                <a:latin typeface="Arial"/>
                <a:ea typeface="Arial"/>
                <a:cs typeface="Arial"/>
              </a:rPr>
              <a:t>Find the part again</a:t>
            </a:r>
          </a:p>
        </p:txBody>
      </p:sp>
      <p:sp>
        <p:nvSpPr>
          <p:cNvPr id="4" name="Search saved records.">
            <a:extLst xmlns:a="http://schemas.openxmlformats.org/drawingml/2006/main">
              <a:ext uri="{FF2B5EF4-FFF2-40B4-BE49-F238E27FC236}">
                <a16:creationId xmlns:a16="http://schemas.microsoft.com/office/drawing/2014/main" id="{A0D5F578-D820-4918-BBBF-1BA9DD20DF3A}"/>
              </a:ext>
            </a:extLst>
          </p:cNvPr>
          <p:cNvSpPr>
            <a:spLocks xmlns:a="http://schemas.openxmlformats.org/drawingml/2006/main" noGrp="1"/>
          </p:cNvSpPr>
          <p:nvPr/>
        </p:nvSpPr>
        <p:spPr>
          <a:xfrm xmlns:a="http://schemas.openxmlformats.org/drawingml/2006/main">
            <a:off x="628650" y="2724150"/>
            <a:ext cx="6238875" cy="1971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Search saved records.</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Filter review states and unresolved identities.</a:t>
            </a:r>
          </a:p>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Reopen an inspection or export a report.</a:t>
            </a:r>
          </a:p>
        </p:txBody>
      </p:sp>
      <p:sp>
        <p:nvSpPr>
          <p:cNvPr id="5" name="Device and cloud status stay visible">
            <a:extLst xmlns:a="http://schemas.openxmlformats.org/drawingml/2006/main">
              <a:ext uri="{FF2B5EF4-FFF2-40B4-BE49-F238E27FC236}">
                <a16:creationId xmlns:a16="http://schemas.microsoft.com/office/drawing/2014/main" id="{5067DEAD-CD16-4F40-97A3-FDCA6C0A500C}"/>
              </a:ext>
            </a:extLst>
          </p:cNvPr>
          <p:cNvSpPr>
            <a:spLocks xmlns:a="http://schemas.openxmlformats.org/drawingml/2006/main" noGrp="1"/>
          </p:cNvSpPr>
          <p:nvPr/>
        </p:nvSpPr>
        <p:spPr>
          <a:xfrm xmlns:a="http://schemas.openxmlformats.org/drawingml/2006/main">
            <a:off x="628650" y="5038725"/>
            <a:ext cx="61912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Device and cloud status stay visible</a:t>
            </a:r>
          </a:p>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so an upload failure is not mistaken</a:t>
            </a:r>
          </a:p>
          <a:p xmlns:a="http://schemas.openxmlformats.org/drawingml/2006/main">
            <a:pPr>
              <a:defRPr sz="2100" b="0">
                <a:solidFill>
                  <a:srgbClr val="9DB8C8"/>
                </a:solidFill>
                <a:latin typeface="Arial"/>
                <a:ea typeface="Arial"/>
                <a:cs typeface="Arial"/>
              </a:defRPr>
            </a:pPr>
            <a:r>
              <a:rPr sz="2100" b="0">
                <a:solidFill>
                  <a:srgbClr val="9DB8C8"/>
                </a:solidFill>
                <a:latin typeface="Arial"/>
                <a:ea typeface="Arial"/>
                <a:cs typeface="Arial"/>
              </a:rPr>
              <a:t>for a successful cloud save.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ad505f412054c09"/>
          <a:srcRect xmlns:a="http://schemas.openxmlformats.org/drawingml/2006/main" l="25000" t="25500" r="25000" b="8030"/>
          <a:stretch xmlns:a="http://schemas.openxmlformats.org/drawingml/2006/main">
            <a:fillRect l="0" t="0" r="0" b="0"/>
          </a:stretch>
        </p:blipFill>
        <p:spPr>
          <a:xfrm xmlns:a="http://schemas.openxmlformats.org/drawingml/2006/main">
            <a:off x="7486650" y="1724025"/>
            <a:ext cx="4029075" cy="4162425"/>
          </a:xfrm>
          <a:prstGeom xmlns:a="http://schemas.openxmlformats.org/drawingml/2006/main" prst="rect">
            <a:avLst/>
          </a:prstGeom>
        </p:spPr>
      </p:pic>
      <p:sp>
        <p:nvSpPr>
          <p:cNvPr id="7" name="Actual app screen with fictional QA records.">
            <a:extLst xmlns:a="http://schemas.openxmlformats.org/drawingml/2006/main">
              <a:ext uri="{FF2B5EF4-FFF2-40B4-BE49-F238E27FC236}">
                <a16:creationId xmlns:a16="http://schemas.microsoft.com/office/drawing/2014/main" id="{AEF11AF1-755C-4C3C-92F0-8435226F6063}"/>
              </a:ext>
            </a:extLst>
          </p:cNvPr>
          <p:cNvSpPr>
            <a:spLocks xmlns:a="http://schemas.openxmlformats.org/drawingml/2006/main" noGrp="1"/>
          </p:cNvSpPr>
          <p:nvPr/>
        </p:nvSpPr>
        <p:spPr>
          <a:xfrm xmlns:a="http://schemas.openxmlformats.org/drawingml/2006/main">
            <a:off x="7486650" y="6000750"/>
            <a:ext cx="4048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9DB8C8"/>
                </a:solidFill>
                <a:latin typeface="Arial"/>
                <a:ea typeface="Arial"/>
                <a:cs typeface="Arial"/>
              </a:defRPr>
            </a:pPr>
            <a:r>
              <a:rPr sz="1350" b="0">
                <a:solidFill>
                  <a:srgbClr val="9DB8C8"/>
                </a:solidFill>
                <a:latin typeface="Arial"/>
                <a:ea typeface="Arial"/>
                <a:cs typeface="Arial"/>
              </a:rPr>
              <a:t>Actual app screen with fictional QA records.</a:t>
            </a:r>
          </a:p>
        </p:txBody>
      </p:sp>
    </p:spTree>
    <p:extLst>
      <p:ext uri="{BB962C8B-B14F-4D97-AF65-F5344CB8AC3E}">
        <p14:creationId xmlns:p14="http://schemas.microsoft.com/office/powerpoint/2010/main" val="1895045760"/>
      </p:ext>
    </p:extLst>
  </p:cSld>
</p:sld>
</file>

<file path=ppt/slides/slide10.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9" name="Shop jobs and customer reports">
            <a:extLst xmlns:a="http://schemas.openxmlformats.org/drawingml/2006/main">
              <a:ext uri="{FF2B5EF4-FFF2-40B4-BE49-F238E27FC236}">
                <a16:creationId xmlns:a16="http://schemas.microsoft.com/office/drawing/2014/main" id="{BB5FF832-17D2-4CD7-A992-501479BCBC9D}"/>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Shop jobs and customer reports</a:t>
            </a:r>
          </a:p>
        </p:txBody>
      </p:sp>
      <p:sp>
        <p:nvSpPr>
          <p:cNvPr id="2" name="10">
            <a:extLst xmlns:a="http://schemas.openxmlformats.org/drawingml/2006/main">
              <a:ext uri="{FF2B5EF4-FFF2-40B4-BE49-F238E27FC236}">
                <a16:creationId xmlns:a16="http://schemas.microsoft.com/office/drawing/2014/main" id="{4716F323-B13F-47EB-99A7-03458B99AEEC}"/>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10</a:t>
            </a:r>
          </a:p>
        </p:txBody>
      </p:sp>
      <p:sp>
        <p:nvSpPr>
          <p:cNvPr id="3" name="A scan can belong to a job">
            <a:extLst xmlns:a="http://schemas.openxmlformats.org/drawingml/2006/main">
              <a:ext uri="{FF2B5EF4-FFF2-40B4-BE49-F238E27FC236}">
                <a16:creationId xmlns:a16="http://schemas.microsoft.com/office/drawing/2014/main" id="{E39778FF-4210-489B-8E53-D94FED26D6FA}"/>
              </a:ext>
            </a:extLst>
          </p:cNvPr>
          <p:cNvSpPr>
            <a:spLocks xmlns:a="http://schemas.openxmlformats.org/drawingml/2006/main" noGrp="1"/>
          </p:cNvSpPr>
          <p:nvPr/>
        </p:nvSpPr>
        <p:spPr>
          <a:xfrm xmlns:a="http://schemas.openxmlformats.org/drawingml/2006/main">
            <a:off x="628650" y="1800225"/>
            <a:ext cx="1093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256B7F"/>
                </a:solidFill>
                <a:latin typeface="Arial"/>
                <a:ea typeface="Arial"/>
                <a:cs typeface="Arial"/>
              </a:defRPr>
            </a:pPr>
            <a:r>
              <a:rPr sz="3225" b="1">
                <a:solidFill>
                  <a:srgbClr val="256B7F"/>
                </a:solidFill>
                <a:latin typeface="Arial"/>
                <a:ea typeface="Arial"/>
                <a:cs typeface="Arial"/>
              </a:rPr>
              <a:t>A scan can belong to a job</a:t>
            </a:r>
          </a:p>
        </p:txBody>
      </p:sp>
      <p:sp>
        <p:nvSpPr>
          <p:cNvPr id="4" name="Job context">
            <a:extLst xmlns:a="http://schemas.openxmlformats.org/drawingml/2006/main">
              <a:ext uri="{FF2B5EF4-FFF2-40B4-BE49-F238E27FC236}">
                <a16:creationId xmlns:a16="http://schemas.microsoft.com/office/drawing/2014/main" id="{9A120871-816A-4A42-BEB8-55954EDFB4EF}"/>
              </a:ext>
            </a:extLst>
          </p:cNvPr>
          <p:cNvSpPr>
            <a:spLocks xmlns:a="http://schemas.openxmlformats.org/drawingml/2006/main" noGrp="1"/>
          </p:cNvSpPr>
          <p:nvPr/>
        </p:nvSpPr>
        <p:spPr>
          <a:xfrm xmlns:a="http://schemas.openxmlformats.org/drawingml/2006/main">
            <a:off x="628650" y="30956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32A3C"/>
                </a:solidFill>
                <a:latin typeface="Arial"/>
                <a:ea typeface="Arial"/>
                <a:cs typeface="Arial"/>
              </a:defRPr>
            </a:pPr>
            <a:r>
              <a:rPr sz="2550" b="1">
                <a:solidFill>
                  <a:srgbClr val="132A3C"/>
                </a:solidFill>
                <a:latin typeface="Arial"/>
                <a:ea typeface="Arial"/>
                <a:cs typeface="Arial"/>
              </a:rPr>
              <a:t>Job context</a:t>
            </a:r>
          </a:p>
        </p:txBody>
      </p:sp>
      <p:sp>
        <p:nvSpPr>
          <p:cNvPr id="5" name="Keep a local job record and attach">
            <a:extLst xmlns:a="http://schemas.openxmlformats.org/drawingml/2006/main">
              <a:ext uri="{FF2B5EF4-FFF2-40B4-BE49-F238E27FC236}">
                <a16:creationId xmlns:a16="http://schemas.microsoft.com/office/drawing/2014/main" id="{4CD07E0F-C07D-4085-8D85-07B213E7CB58}"/>
              </a:ext>
            </a:extLst>
          </p:cNvPr>
          <p:cNvSpPr>
            <a:spLocks xmlns:a="http://schemas.openxmlformats.org/drawingml/2006/main" noGrp="1"/>
          </p:cNvSpPr>
          <p:nvPr/>
        </p:nvSpPr>
        <p:spPr>
          <a:xfrm xmlns:a="http://schemas.openxmlformats.org/drawingml/2006/main">
            <a:off x="628650" y="3819525"/>
            <a:ext cx="49434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Keep a local job record and attach</a:t>
            </a:r>
          </a:p>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relevant scans for the same repair.</a:t>
            </a:r>
          </a:p>
        </p:txBody>
      </p:sp>
      <p:sp>
        <p:nvSpPr>
          <p:cNvPr id="6" name="Customer explanation">
            <a:extLst xmlns:a="http://schemas.openxmlformats.org/drawingml/2006/main">
              <a:ext uri="{FF2B5EF4-FFF2-40B4-BE49-F238E27FC236}">
                <a16:creationId xmlns:a16="http://schemas.microsoft.com/office/drawing/2014/main" id="{18AEE41F-3606-404A-98CE-7195137AF1E3}"/>
              </a:ext>
            </a:extLst>
          </p:cNvPr>
          <p:cNvSpPr>
            <a:spLocks xmlns:a="http://schemas.openxmlformats.org/drawingml/2006/main" noGrp="1"/>
          </p:cNvSpPr>
          <p:nvPr/>
        </p:nvSpPr>
        <p:spPr>
          <a:xfrm xmlns:a="http://schemas.openxmlformats.org/drawingml/2006/main">
            <a:off x="6581775" y="3095625"/>
            <a:ext cx="49434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32A3C"/>
                </a:solidFill>
                <a:latin typeface="Arial"/>
                <a:ea typeface="Arial"/>
                <a:cs typeface="Arial"/>
              </a:defRPr>
            </a:pPr>
            <a:r>
              <a:rPr sz="2550" b="1">
                <a:solidFill>
                  <a:srgbClr val="132A3C"/>
                </a:solidFill>
                <a:latin typeface="Arial"/>
                <a:ea typeface="Arial"/>
                <a:cs typeface="Arial"/>
              </a:rPr>
              <a:t>Customer explanation</a:t>
            </a:r>
          </a:p>
        </p:txBody>
      </p:sp>
      <p:sp>
        <p:nvSpPr>
          <p:cNvPr id="7" name="Prepare a report of the recorded">
            <a:extLst xmlns:a="http://schemas.openxmlformats.org/drawingml/2006/main">
              <a:ext uri="{FF2B5EF4-FFF2-40B4-BE49-F238E27FC236}">
                <a16:creationId xmlns:a16="http://schemas.microsoft.com/office/drawing/2014/main" id="{03AC880C-CB46-4F3B-A465-6244271F661E}"/>
              </a:ext>
            </a:extLst>
          </p:cNvPr>
          <p:cNvSpPr>
            <a:spLocks xmlns:a="http://schemas.openxmlformats.org/drawingml/2006/main" noGrp="1"/>
          </p:cNvSpPr>
          <p:nvPr/>
        </p:nvSpPr>
        <p:spPr>
          <a:xfrm xmlns:a="http://schemas.openxmlformats.org/drawingml/2006/main">
            <a:off x="6581775" y="3819525"/>
            <a:ext cx="4943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Prepare a report of the recorded</a:t>
            </a:r>
          </a:p>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findings for a conversation</a:t>
            </a:r>
          </a:p>
          <a:p xmlns:a="http://schemas.openxmlformats.org/drawingml/2006/main">
            <a:pPr>
              <a:defRPr sz="2175" b="0">
                <a:solidFill>
                  <a:srgbClr val="132A3C"/>
                </a:solidFill>
                <a:latin typeface="Arial"/>
                <a:ea typeface="Arial"/>
                <a:cs typeface="Arial"/>
              </a:defRPr>
            </a:pPr>
            <a:r>
              <a:rPr sz="2175" b="0">
                <a:solidFill>
                  <a:srgbClr val="132A3C"/>
                </a:solidFill>
                <a:latin typeface="Arial"/>
                <a:ea typeface="Arial"/>
                <a:cs typeface="Arial"/>
              </a:rPr>
              <a:t>with the customer.</a:t>
            </a:r>
          </a:p>
        </p:txBody>
      </p:sp>
      <p:sp>
        <p:nvSpPr>
          <p:cNvPr id="8" name="Current scope: account-scoped jobs on this device. Shared live sh">
            <a:extLst xmlns:a="http://schemas.openxmlformats.org/drawingml/2006/main">
              <a:ext uri="{FF2B5EF4-FFF2-40B4-BE49-F238E27FC236}">
                <a16:creationId xmlns:a16="http://schemas.microsoft.com/office/drawing/2014/main" id="{5F2D66A7-4CA7-4960-95D6-FCD59A14968B}"/>
              </a:ext>
            </a:extLst>
          </p:cNvPr>
          <p:cNvSpPr>
            <a:spLocks xmlns:a="http://schemas.openxmlformats.org/drawingml/2006/main" noGrp="1"/>
          </p:cNvSpPr>
          <p:nvPr/>
        </p:nvSpPr>
        <p:spPr>
          <a:xfrm xmlns:a="http://schemas.openxmlformats.org/drawingml/2006/main">
            <a:off x="628650" y="606742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256B7F"/>
                </a:solidFill>
                <a:latin typeface="Arial"/>
                <a:ea typeface="Arial"/>
                <a:cs typeface="Arial"/>
              </a:defRPr>
            </a:pPr>
            <a:r>
              <a:rPr sz="1725" b="0">
                <a:solidFill>
                  <a:srgbClr val="256B7F"/>
                </a:solidFill>
                <a:latin typeface="Arial"/>
                <a:ea typeface="Arial"/>
                <a:cs typeface="Arial"/>
              </a:rPr>
              <a:t>Current scope: account-scoped jobs on this device. Shared live shop work is future work.</a:t>
            </a:r>
          </a:p>
        </p:txBody>
      </p:sp>
    </p:spTree>
    <p:extLst>
      <p:ext uri="{BB962C8B-B14F-4D97-AF65-F5344CB8AC3E}">
        <p14:creationId xmlns:p14="http://schemas.microsoft.com/office/powerpoint/2010/main" val="448379679"/>
      </p:ext>
    </p:extLst>
  </p:cSld>
</p:sld>
</file>

<file path=ppt/slides/slide11.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1" name="Accounts, storage and control">
            <a:extLst xmlns:a="http://schemas.openxmlformats.org/drawingml/2006/main">
              <a:ext uri="{FF2B5EF4-FFF2-40B4-BE49-F238E27FC236}">
                <a16:creationId xmlns:a16="http://schemas.microsoft.com/office/drawing/2014/main" id="{D5750E00-4AF5-4EFC-B017-069B1F70BDC8}"/>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AFB"/>
                </a:solidFill>
                <a:latin typeface="Arial"/>
                <a:ea typeface="Arial"/>
                <a:cs typeface="Arial"/>
              </a:defRPr>
            </a:pPr>
            <a:r>
              <a:rPr sz="3600" b="1">
                <a:solidFill>
                  <a:srgbClr val="F4FAFB"/>
                </a:solidFill>
                <a:latin typeface="Arial"/>
                <a:ea typeface="Arial"/>
                <a:cs typeface="Arial"/>
              </a:rPr>
              <a:t>Accounts, storage and control</a:t>
            </a:r>
          </a:p>
        </p:txBody>
      </p:sp>
      <p:sp>
        <p:nvSpPr>
          <p:cNvPr id="2" name="11">
            <a:extLst xmlns:a="http://schemas.openxmlformats.org/drawingml/2006/main">
              <a:ext uri="{FF2B5EF4-FFF2-40B4-BE49-F238E27FC236}">
                <a16:creationId xmlns:a16="http://schemas.microsoft.com/office/drawing/2014/main" id="{FFC438F2-BBAD-4CE4-9731-C75046603EDF}"/>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11</a:t>
            </a:r>
          </a:p>
        </p:txBody>
      </p:sp>
      <p:sp>
        <p:nvSpPr>
          <p:cNvPr id="3" name="Account">
            <a:extLst xmlns:a="http://schemas.openxmlformats.org/drawingml/2006/main">
              <a:ext uri="{FF2B5EF4-FFF2-40B4-BE49-F238E27FC236}">
                <a16:creationId xmlns:a16="http://schemas.microsoft.com/office/drawing/2014/main" id="{3B2EF60C-BDCD-4242-A99E-1EED2728E254}"/>
              </a:ext>
            </a:extLst>
          </p:cNvPr>
          <p:cNvSpPr>
            <a:spLocks xmlns:a="http://schemas.openxmlformats.org/drawingml/2006/main" noGrp="1"/>
          </p:cNvSpPr>
          <p:nvPr/>
        </p:nvSpPr>
        <p:spPr>
          <a:xfrm xmlns:a="http://schemas.openxmlformats.org/drawingml/2006/main">
            <a:off x="628650" y="1857375"/>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8E3E9"/>
                </a:solidFill>
                <a:latin typeface="Arial"/>
                <a:ea typeface="Arial"/>
                <a:cs typeface="Arial"/>
              </a:defRPr>
            </a:pPr>
            <a:r>
              <a:rPr sz="2400" b="1">
                <a:solidFill>
                  <a:srgbClr val="B8E3E9"/>
                </a:solidFill>
                <a:latin typeface="Arial"/>
                <a:ea typeface="Arial"/>
                <a:cs typeface="Arial"/>
              </a:rPr>
              <a:t>Account</a:t>
            </a:r>
          </a:p>
        </p:txBody>
      </p:sp>
      <p:sp>
        <p:nvSpPr>
          <p:cNvPr id="4" name="Device records and drafts are scoped to the active account.">
            <a:extLst xmlns:a="http://schemas.openxmlformats.org/drawingml/2006/main">
              <a:ext uri="{FF2B5EF4-FFF2-40B4-BE49-F238E27FC236}">
                <a16:creationId xmlns:a16="http://schemas.microsoft.com/office/drawing/2014/main" id="{8BFBEAEF-8C62-4ABA-91F5-5840C681015B}"/>
              </a:ext>
            </a:extLst>
          </p:cNvPr>
          <p:cNvSpPr>
            <a:spLocks xmlns:a="http://schemas.openxmlformats.org/drawingml/2006/main" noGrp="1"/>
          </p:cNvSpPr>
          <p:nvPr/>
        </p:nvSpPr>
        <p:spPr>
          <a:xfrm xmlns:a="http://schemas.openxmlformats.org/drawingml/2006/main">
            <a:off x="3276600" y="1866900"/>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Device records and drafts are scoped to the active account.</a:t>
            </a:r>
          </a:p>
        </p:txBody>
      </p:sp>
      <p:sp>
        <p:nvSpPr>
          <p:cNvPr id="5" name="Device">
            <a:extLst xmlns:a="http://schemas.openxmlformats.org/drawingml/2006/main">
              <a:ext uri="{FF2B5EF4-FFF2-40B4-BE49-F238E27FC236}">
                <a16:creationId xmlns:a16="http://schemas.microsoft.com/office/drawing/2014/main" id="{CAFBB1B7-3B23-4E46-BB7D-2B2F27AA0A62}"/>
              </a:ext>
            </a:extLst>
          </p:cNvPr>
          <p:cNvSpPr>
            <a:spLocks xmlns:a="http://schemas.openxmlformats.org/drawingml/2006/main" noGrp="1"/>
          </p:cNvSpPr>
          <p:nvPr/>
        </p:nvSpPr>
        <p:spPr>
          <a:xfrm xmlns:a="http://schemas.openxmlformats.org/drawingml/2006/main">
            <a:off x="628650" y="2895600"/>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8E3E9"/>
                </a:solidFill>
                <a:latin typeface="Arial"/>
                <a:ea typeface="Arial"/>
                <a:cs typeface="Arial"/>
              </a:defRPr>
            </a:pPr>
            <a:r>
              <a:rPr sz="2400" b="1">
                <a:solidFill>
                  <a:srgbClr val="B8E3E9"/>
                </a:solidFill>
                <a:latin typeface="Arial"/>
                <a:ea typeface="Arial"/>
                <a:cs typeface="Arial"/>
              </a:rPr>
              <a:t>Device</a:t>
            </a:r>
          </a:p>
        </p:txBody>
      </p:sp>
      <p:sp>
        <p:nvSpPr>
          <p:cNvPr id="6" name="A saved local record remains distinct from a confirmed cloud uplo">
            <a:extLst xmlns:a="http://schemas.openxmlformats.org/drawingml/2006/main">
              <a:ext uri="{FF2B5EF4-FFF2-40B4-BE49-F238E27FC236}">
                <a16:creationId xmlns:a16="http://schemas.microsoft.com/office/drawing/2014/main" id="{FD7751C5-D2DA-4369-ABFF-7343B3E87465}"/>
              </a:ext>
            </a:extLst>
          </p:cNvPr>
          <p:cNvSpPr>
            <a:spLocks xmlns:a="http://schemas.openxmlformats.org/drawingml/2006/main" noGrp="1"/>
          </p:cNvSpPr>
          <p:nvPr/>
        </p:nvSpPr>
        <p:spPr>
          <a:xfrm xmlns:a="http://schemas.openxmlformats.org/drawingml/2006/main">
            <a:off x="3276600" y="2905125"/>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A saved local record remains distinct from a confirmed cloud upload.</a:t>
            </a:r>
          </a:p>
        </p:txBody>
      </p:sp>
      <p:sp>
        <p:nvSpPr>
          <p:cNvPr id="7" name="Cloud">
            <a:extLst xmlns:a="http://schemas.openxmlformats.org/drawingml/2006/main">
              <a:ext uri="{FF2B5EF4-FFF2-40B4-BE49-F238E27FC236}">
                <a16:creationId xmlns:a16="http://schemas.microsoft.com/office/drawing/2014/main" id="{CA029880-ADDB-4DA9-BF94-12460B701C9E}"/>
              </a:ext>
            </a:extLst>
          </p:cNvPr>
          <p:cNvSpPr>
            <a:spLocks xmlns:a="http://schemas.openxmlformats.org/drawingml/2006/main" noGrp="1"/>
          </p:cNvSpPr>
          <p:nvPr/>
        </p:nvSpPr>
        <p:spPr>
          <a:xfrm xmlns:a="http://schemas.openxmlformats.org/drawingml/2006/main">
            <a:off x="628650" y="3933825"/>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8E3E9"/>
                </a:solidFill>
                <a:latin typeface="Arial"/>
                <a:ea typeface="Arial"/>
                <a:cs typeface="Arial"/>
              </a:defRPr>
            </a:pPr>
            <a:r>
              <a:rPr sz="2400" b="1">
                <a:solidFill>
                  <a:srgbClr val="B8E3E9"/>
                </a:solidFill>
                <a:latin typeface="Arial"/>
                <a:ea typeface="Arial"/>
                <a:cs typeface="Arial"/>
              </a:rPr>
              <a:t>Cloud</a:t>
            </a:r>
          </a:p>
        </p:txBody>
      </p:sp>
      <p:sp>
        <p:nvSpPr>
          <p:cNvPr id="8" name="Sync and recovery depend on configuration, connectivity and verif">
            <a:extLst xmlns:a="http://schemas.openxmlformats.org/drawingml/2006/main">
              <a:ext uri="{FF2B5EF4-FFF2-40B4-BE49-F238E27FC236}">
                <a16:creationId xmlns:a16="http://schemas.microsoft.com/office/drawing/2014/main" id="{17E5DF8C-A864-4916-8A27-948BFB2C4142}"/>
              </a:ext>
            </a:extLst>
          </p:cNvPr>
          <p:cNvSpPr>
            <a:spLocks xmlns:a="http://schemas.openxmlformats.org/drawingml/2006/main" noGrp="1"/>
          </p:cNvSpPr>
          <p:nvPr/>
        </p:nvSpPr>
        <p:spPr>
          <a:xfrm xmlns:a="http://schemas.openxmlformats.org/drawingml/2006/main">
            <a:off x="3276600" y="3943350"/>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Sync and recovery depend on configuration, connectivity and verified persistence.</a:t>
            </a:r>
          </a:p>
        </p:txBody>
      </p:sp>
      <p:sp>
        <p:nvSpPr>
          <p:cNvPr id="9" name="Photos">
            <a:extLst xmlns:a="http://schemas.openxmlformats.org/drawingml/2006/main">
              <a:ext uri="{FF2B5EF4-FFF2-40B4-BE49-F238E27FC236}">
                <a16:creationId xmlns:a16="http://schemas.microsoft.com/office/drawing/2014/main" id="{F489FE8F-6FE0-4E40-99E0-AD1B892A8F47}"/>
              </a:ext>
            </a:extLst>
          </p:cNvPr>
          <p:cNvSpPr>
            <a:spLocks xmlns:a="http://schemas.openxmlformats.org/drawingml/2006/main" noGrp="1"/>
          </p:cNvSpPr>
          <p:nvPr/>
        </p:nvSpPr>
        <p:spPr>
          <a:xfrm xmlns:a="http://schemas.openxmlformats.org/drawingml/2006/main">
            <a:off x="628650" y="4972050"/>
            <a:ext cx="2181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B8E3E9"/>
                </a:solidFill>
                <a:latin typeface="Arial"/>
                <a:ea typeface="Arial"/>
                <a:cs typeface="Arial"/>
              </a:defRPr>
            </a:pPr>
            <a:r>
              <a:rPr sz="2400" b="1">
                <a:solidFill>
                  <a:srgbClr val="B8E3E9"/>
                </a:solidFill>
                <a:latin typeface="Arial"/>
                <a:ea typeface="Arial"/>
                <a:cs typeface="Arial"/>
              </a:rPr>
              <a:t>Photos</a:t>
            </a:r>
          </a:p>
        </p:txBody>
      </p:sp>
      <p:sp>
        <p:nvSpPr>
          <p:cNvPr id="10" name="Storing a photo does not give permission to train a model on it.">
            <a:extLst xmlns:a="http://schemas.openxmlformats.org/drawingml/2006/main">
              <a:ext uri="{FF2B5EF4-FFF2-40B4-BE49-F238E27FC236}">
                <a16:creationId xmlns:a16="http://schemas.microsoft.com/office/drawing/2014/main" id="{C0A67CED-92AB-4701-9485-6621E8BC2071}"/>
              </a:ext>
            </a:extLst>
          </p:cNvPr>
          <p:cNvSpPr>
            <a:spLocks xmlns:a="http://schemas.openxmlformats.org/drawingml/2006/main" noGrp="1"/>
          </p:cNvSpPr>
          <p:nvPr/>
        </p:nvSpPr>
        <p:spPr>
          <a:xfrm xmlns:a="http://schemas.openxmlformats.org/drawingml/2006/main">
            <a:off x="3276600" y="4981575"/>
            <a:ext cx="8220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4FAFB"/>
                </a:solidFill>
                <a:latin typeface="Arial"/>
                <a:ea typeface="Arial"/>
                <a:cs typeface="Arial"/>
              </a:defRPr>
            </a:pPr>
            <a:r>
              <a:rPr sz="2175" b="0">
                <a:solidFill>
                  <a:srgbClr val="F4FAFB"/>
                </a:solidFill>
                <a:latin typeface="Arial"/>
                <a:ea typeface="Arial"/>
                <a:cs typeface="Arial"/>
              </a:rPr>
              <a:t>Storing a photo does not give permission to train a model on it.</a:t>
            </a:r>
          </a:p>
        </p:txBody>
      </p:sp>
    </p:spTree>
    <p:extLst>
      <p:ext uri="{BB962C8B-B14F-4D97-AF65-F5344CB8AC3E}">
        <p14:creationId xmlns:p14="http://schemas.microsoft.com/office/powerpoint/2010/main" val="1555185261"/>
      </p:ext>
    </p:extLst>
  </p:cSld>
</p:sld>
</file>

<file path=ppt/slides/slide12.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0" name="What time savings could be worth">
            <a:extLst xmlns:a="http://schemas.openxmlformats.org/drawingml/2006/main">
              <a:ext uri="{FF2B5EF4-FFF2-40B4-BE49-F238E27FC236}">
                <a16:creationId xmlns:a16="http://schemas.microsoft.com/office/drawing/2014/main" id="{96E67811-0252-4044-B034-BDA88A098C89}"/>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What time savings could be worth</a:t>
            </a:r>
          </a:p>
        </p:txBody>
      </p:sp>
      <p:sp>
        <p:nvSpPr>
          <p:cNvPr id="2" name="12">
            <a:extLst xmlns:a="http://schemas.openxmlformats.org/drawingml/2006/main">
              <a:ext uri="{FF2B5EF4-FFF2-40B4-BE49-F238E27FC236}">
                <a16:creationId xmlns:a16="http://schemas.microsoft.com/office/drawing/2014/main" id="{AE756647-AD0C-4600-9E6F-7FF24D5B69AF}"/>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12</a:t>
            </a:r>
          </a:p>
        </p:txBody>
      </p:sp>
      <p:sp>
        <p:nvSpPr>
          <p:cNvPr id="3" name="Hypothetical workflow, including normal tests">
            <a:extLst xmlns:a="http://schemas.openxmlformats.org/drawingml/2006/main">
              <a:ext uri="{FF2B5EF4-FFF2-40B4-BE49-F238E27FC236}">
                <a16:creationId xmlns:a16="http://schemas.microsoft.com/office/drawing/2014/main" id="{10E8185A-1197-4573-B691-416C1BCB8A69}"/>
              </a:ext>
            </a:extLst>
          </p:cNvPr>
          <p:cNvSpPr>
            <a:spLocks xmlns:a="http://schemas.openxmlformats.org/drawingml/2006/main" noGrp="1"/>
          </p:cNvSpPr>
          <p:nvPr/>
        </p:nvSpPr>
        <p:spPr>
          <a:xfrm xmlns:a="http://schemas.openxmlformats.org/drawingml/2006/main">
            <a:off x="62865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56B7F"/>
                </a:solidFill>
                <a:latin typeface="Arial"/>
                <a:ea typeface="Arial"/>
                <a:cs typeface="Arial"/>
              </a:defRPr>
            </a:pPr>
            <a:r>
              <a:rPr sz="2025" b="1">
                <a:solidFill>
                  <a:srgbClr val="256B7F"/>
                </a:solidFill>
                <a:latin typeface="Arial"/>
                <a:ea typeface="Arial"/>
                <a:cs typeface="Arial"/>
              </a:rPr>
              <a:t>Hypothetical workflow, including normal tests</a:t>
            </a:r>
          </a:p>
        </p:txBody>
      </p:sp>
      <p:graphicFrame>
        <p:nvGraphicFramePr>
          <p:cNvPr id="13" name="Chart"/>
          <p:cNvGraphicFramePr/>
          <p:nvPr/>
        </p:nvGraphicFramePr>
        <p:xfrm>
          <a:off xmlns:a="http://schemas.openxmlformats.org/drawingml/2006/main" x="571500" y="2190750"/>
          <a:ext xmlns:a="http://schemas.openxmlformats.org/drawingml/2006/main" cx="5905500" cy="3486150"/>
        </p:xfrm>
        <a:graphic xmlns:a="http://schemas.openxmlformats.org/drawingml/2006/main">
          <a:graphicData uri="http://schemas.openxmlformats.org/drawingml/2006/chart">
            <c:chart xmlns:r="http://schemas.openxmlformats.org/officeDocument/2006/relationships" xmlns:c="http://schemas.openxmlformats.org/drawingml/2006/chart" r:id="Rcf55a5259608486a"/>
          </a:graphicData>
        </a:graphic>
      </p:graphicFrame>
      <p:sp>
        <p:nvSpPr>
          <p:cNvPr id="5" name="16.5 hours">
            <a:extLst xmlns:a="http://schemas.openxmlformats.org/drawingml/2006/main">
              <a:ext uri="{FF2B5EF4-FFF2-40B4-BE49-F238E27FC236}">
                <a16:creationId xmlns:a16="http://schemas.microsoft.com/office/drawing/2014/main" id="{B64A9D38-71DA-4796-AF7E-E2B98B312BC4}"/>
              </a:ext>
            </a:extLst>
          </p:cNvPr>
          <p:cNvSpPr>
            <a:spLocks xmlns:a="http://schemas.openxmlformats.org/drawingml/2006/main" noGrp="1"/>
          </p:cNvSpPr>
          <p:nvPr/>
        </p:nvSpPr>
        <p:spPr>
          <a:xfrm xmlns:a="http://schemas.openxmlformats.org/drawingml/2006/main">
            <a:off x="7324725" y="2381250"/>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975" b="1">
                <a:solidFill>
                  <a:srgbClr val="256B7F"/>
                </a:solidFill>
                <a:latin typeface="Arial"/>
                <a:ea typeface="Arial"/>
                <a:cs typeface="Arial"/>
              </a:defRPr>
            </a:pPr>
            <a:r>
              <a:rPr sz="3975" b="1">
                <a:solidFill>
                  <a:srgbClr val="256B7F"/>
                </a:solidFill>
                <a:latin typeface="Arial"/>
                <a:ea typeface="Arial"/>
                <a:cs typeface="Arial"/>
              </a:rPr>
              <a:t>16.5 hours</a:t>
            </a:r>
          </a:p>
        </p:txBody>
      </p:sp>
      <p:sp>
        <p:nvSpPr>
          <p:cNvPr id="6" name="Modeled monthly time difference">
            <a:extLst xmlns:a="http://schemas.openxmlformats.org/drawingml/2006/main">
              <a:ext uri="{FF2B5EF4-FFF2-40B4-BE49-F238E27FC236}">
                <a16:creationId xmlns:a16="http://schemas.microsoft.com/office/drawing/2014/main" id="{E0869094-06B1-44D2-8DFA-3AF0974A7A12}"/>
              </a:ext>
            </a:extLst>
          </p:cNvPr>
          <p:cNvSpPr>
            <a:spLocks xmlns:a="http://schemas.openxmlformats.org/drawingml/2006/main" noGrp="1"/>
          </p:cNvSpPr>
          <p:nvPr/>
        </p:nvSpPr>
        <p:spPr>
          <a:xfrm xmlns:a="http://schemas.openxmlformats.org/drawingml/2006/main">
            <a:off x="7343775" y="3238500"/>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A3C"/>
                </a:solidFill>
                <a:latin typeface="Arial"/>
                <a:ea typeface="Arial"/>
                <a:cs typeface="Arial"/>
              </a:defRPr>
            </a:pPr>
            <a:r>
              <a:rPr sz="1875" b="0">
                <a:solidFill>
                  <a:srgbClr val="132A3C"/>
                </a:solidFill>
                <a:latin typeface="Arial"/>
                <a:ea typeface="Arial"/>
                <a:cs typeface="Arial"/>
              </a:rPr>
              <a:t>Modeled monthly time difference</a:t>
            </a:r>
          </a:p>
        </p:txBody>
      </p:sp>
      <p:sp>
        <p:nvSpPr>
          <p:cNvPr id="7" name="$495 / month">
            <a:extLst xmlns:a="http://schemas.openxmlformats.org/drawingml/2006/main">
              <a:ext uri="{FF2B5EF4-FFF2-40B4-BE49-F238E27FC236}">
                <a16:creationId xmlns:a16="http://schemas.microsoft.com/office/drawing/2014/main" id="{E94F8770-08D9-4B9C-A32C-CF32C4BC0FEB}"/>
              </a:ext>
            </a:extLst>
          </p:cNvPr>
          <p:cNvSpPr>
            <a:spLocks xmlns:a="http://schemas.openxmlformats.org/drawingml/2006/main" noGrp="1"/>
          </p:cNvSpPr>
          <p:nvPr/>
        </p:nvSpPr>
        <p:spPr>
          <a:xfrm xmlns:a="http://schemas.openxmlformats.org/drawingml/2006/main">
            <a:off x="7324725" y="4219575"/>
            <a:ext cx="4238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32A3C"/>
                </a:solidFill>
                <a:latin typeface="Arial"/>
                <a:ea typeface="Arial"/>
                <a:cs typeface="Arial"/>
              </a:defRPr>
            </a:pPr>
            <a:r>
              <a:rPr sz="3450" b="1">
                <a:solidFill>
                  <a:srgbClr val="132A3C"/>
                </a:solidFill>
                <a:latin typeface="Arial"/>
                <a:ea typeface="Arial"/>
                <a:cs typeface="Arial"/>
              </a:rPr>
              <a:t>$495 / month</a:t>
            </a:r>
          </a:p>
        </p:txBody>
      </p:sp>
      <p:sp>
        <p:nvSpPr>
          <p:cNvPr id="8" name="Gross labor capacity at $30/hour">
            <a:extLst xmlns:a="http://schemas.openxmlformats.org/drawingml/2006/main">
              <a:ext uri="{FF2B5EF4-FFF2-40B4-BE49-F238E27FC236}">
                <a16:creationId xmlns:a16="http://schemas.microsoft.com/office/drawing/2014/main" id="{4E080B1B-1C80-4CD2-8875-19EDC1766C2D}"/>
              </a:ext>
            </a:extLst>
          </p:cNvPr>
          <p:cNvSpPr>
            <a:spLocks xmlns:a="http://schemas.openxmlformats.org/drawingml/2006/main" noGrp="1"/>
          </p:cNvSpPr>
          <p:nvPr/>
        </p:nvSpPr>
        <p:spPr>
          <a:xfrm xmlns:a="http://schemas.openxmlformats.org/drawingml/2006/main">
            <a:off x="7343775" y="4953000"/>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32A3C"/>
                </a:solidFill>
                <a:latin typeface="Arial"/>
                <a:ea typeface="Arial"/>
                <a:cs typeface="Arial"/>
              </a:defRPr>
            </a:pPr>
            <a:r>
              <a:rPr sz="1875" b="0">
                <a:solidFill>
                  <a:srgbClr val="132A3C"/>
                </a:solidFill>
                <a:latin typeface="Arial"/>
                <a:ea typeface="Arial"/>
                <a:cs typeface="Arial"/>
              </a:rPr>
              <a:t>Gross labor capacity at $30/hour</a:t>
            </a:r>
          </a:p>
        </p:txBody>
      </p:sp>
      <p:sp>
        <p:nvSpPr>
          <p:cNvPr id="9" name="30 parts/day × 22 days/month. Before setup, support and software ">
            <a:extLst xmlns:a="http://schemas.openxmlformats.org/drawingml/2006/main">
              <a:ext uri="{FF2B5EF4-FFF2-40B4-BE49-F238E27FC236}">
                <a16:creationId xmlns:a16="http://schemas.microsoft.com/office/drawing/2014/main" id="{456AAD76-C1F9-40EE-A3F9-4808F3DB39F8}"/>
              </a:ext>
            </a:extLst>
          </p:cNvPr>
          <p:cNvSpPr>
            <a:spLocks xmlns:a="http://schemas.openxmlformats.org/drawingml/2006/main" noGrp="1"/>
          </p:cNvSpPr>
          <p:nvPr/>
        </p:nvSpPr>
        <p:spPr>
          <a:xfrm xmlns:a="http://schemas.openxmlformats.org/drawingml/2006/main">
            <a:off x="628650" y="5924550"/>
            <a:ext cx="105441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256B7F"/>
                </a:solidFill>
                <a:latin typeface="Arial"/>
                <a:ea typeface="Arial"/>
                <a:cs typeface="Arial"/>
              </a:defRPr>
            </a:pPr>
            <a:r>
              <a:rPr sz="1575" b="0">
                <a:solidFill>
                  <a:srgbClr val="256B7F"/>
                </a:solidFill>
                <a:latin typeface="Arial"/>
                <a:ea typeface="Arial"/>
                <a:cs typeface="Arial"/>
              </a:rPr>
              <a:t>30 parts/day × 22 days/month. Before setup, support and software costs. No observed savings or revenue.</a:t>
            </a:r>
          </a:p>
        </p:txBody>
      </p:sp>
    </p:spTree>
    <p:extLst>
      <p:ext uri="{BB962C8B-B14F-4D97-AF65-F5344CB8AC3E}">
        <p14:creationId xmlns:p14="http://schemas.microsoft.com/office/powerpoint/2010/main" val="1576724023"/>
      </p:ext>
    </p:extLst>
  </p:cSld>
</p:sld>
</file>

<file path=ppt/slides/slide13.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5" name="Who might pay, and for what">
            <a:extLst xmlns:a="http://schemas.openxmlformats.org/drawingml/2006/main">
              <a:ext uri="{FF2B5EF4-FFF2-40B4-BE49-F238E27FC236}">
                <a16:creationId xmlns:a16="http://schemas.microsoft.com/office/drawing/2014/main" id="{B1FED0FF-6531-4C53-BCDF-C0ACA3618F5C}"/>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Who might pay, and for what</a:t>
            </a:r>
          </a:p>
        </p:txBody>
      </p:sp>
      <p:sp>
        <p:nvSpPr>
          <p:cNvPr id="2" name="13">
            <a:extLst xmlns:a="http://schemas.openxmlformats.org/drawingml/2006/main">
              <a:ext uri="{FF2B5EF4-FFF2-40B4-BE49-F238E27FC236}">
                <a16:creationId xmlns:a16="http://schemas.microsoft.com/office/drawing/2014/main" id="{380267AF-68CB-4B48-A420-E71639D8939D}"/>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13</a:t>
            </a:r>
          </a:p>
        </p:txBody>
      </p:sp>
      <p:graphicFrame>
        <p:nvGraphicFramePr>
          <p:cNvPr id="7" name=""/>
          <p:cNvGraphicFramePr/>
          <p:nvPr/>
        </p:nvGraphicFramePr>
        <p:xfrm>
          <a:off xmlns:a="http://schemas.openxmlformats.org/drawingml/2006/main" x="628650" y="1933575"/>
          <a:ext xmlns:a="http://schemas.openxmlformats.org/drawingml/2006/main" cx="10934700" cy="3267075"/>
        </p:xfrm>
        <a:graphic xmlns:a="http://schemas.openxmlformats.org/drawingml/2006/main">
          <a:graphicData uri="http://schemas.openxmlformats.org/drawingml/2006/table">
            <a:tbl>
              <a:tblPr firstRow="1" bandRow="0"/>
              <a:tblGrid>
                <a:gridCol w="2476500"/>
                <a:gridCol w="4191000"/>
                <a:gridCol w="4267200"/>
              </a:tblGrid>
              <a:tr h="571500">
                <a:tc>
                  <a:txBody>
                    <a:bodyPr wrap="square">
                      <a:noAutofit/>
                    </a:bodyPr>
                    <a:lstStyle/>
                    <a:p>
                      <a:r>
                        <a:rPr sz="1725" b="1">
                          <a:solidFill>
                            <a:srgbClr val="F4FAFB"/>
                          </a:solidFill>
                          <a:latin typeface="Arial"/>
                          <a:ea typeface="Arial"/>
                          <a:cs typeface="Arial"/>
                        </a:rPr>
                        <a:t>Possible buyer</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Useful outcome</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Pricing idea to test</a:t>
                      </a:r>
                    </a:p>
                  </a:txBody>
                  <a:tcPr marL="152400" marR="152400" marT="123825" marB="123825" anchor="ctr">
                    <a:solidFill>
                      <a:srgbClr val="091725"/>
                    </a:solidFill>
                  </a:tcPr>
                </a:tc>
              </a:tr>
              <a:tr h="898525">
                <a:tc>
                  <a:txBody>
                    <a:bodyPr wrap="square">
                      <a:noAutofit/>
                    </a:bodyPr>
                    <a:lstStyle/>
                    <a:p>
                      <a:r>
                        <a:rPr sz="1875" b="0">
                          <a:solidFill>
                            <a:srgbClr val="132A3C"/>
                          </a:solidFill>
                          <a:latin typeface="Arial"/>
                          <a:ea typeface="Arial"/>
                          <a:cs typeface="Arial"/>
                        </a:rPr>
                        <a:t>Parts seller</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Repeatable intake records</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Monthly seller account</a:t>
                      </a:r>
                    </a:p>
                  </a:txBody>
                  <a:tcPr marL="152400" marR="152400" marT="123825" marB="123825" anchor="ctr">
                    <a:solidFill>
                      <a:srgbClr val="EEF5F6"/>
                    </a:solidFill>
                  </a:tcPr>
                </a:tc>
              </a:tr>
              <a:tr h="898525">
                <a:tc>
                  <a:txBody>
                    <a:bodyPr wrap="square">
                      <a:noAutofit/>
                    </a:bodyPr>
                    <a:lstStyle/>
                    <a:p>
                      <a:r>
                        <a:rPr sz="1875" b="0">
                          <a:solidFill>
                            <a:srgbClr val="132A3C"/>
                          </a:solidFill>
                          <a:latin typeface="Arial"/>
                          <a:ea typeface="Arial"/>
                          <a:cs typeface="Arial"/>
                        </a:rPr>
                        <a:t>Auto shop</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Jobs and customer reports</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Monthly operator or shop plan</a:t>
                      </a:r>
                    </a:p>
                  </a:txBody>
                  <a:tcPr marL="152400" marR="152400" marT="123825" marB="123825" anchor="ctr">
                    <a:solidFill>
                      <a:srgbClr val="EEF5F6"/>
                    </a:solidFill>
                  </a:tcPr>
                </a:tc>
              </a:tr>
              <a:tr h="898525">
                <a:tc>
                  <a:txBody>
                    <a:bodyPr wrap="square">
                      <a:noAutofit/>
                    </a:bodyPr>
                    <a:lstStyle/>
                    <a:p>
                      <a:r>
                        <a:rPr sz="1875" b="0">
                          <a:solidFill>
                            <a:srgbClr val="132A3C"/>
                          </a:solidFill>
                          <a:latin typeface="Arial"/>
                          <a:ea typeface="Arial"/>
                          <a:cs typeface="Arial"/>
                        </a:rPr>
                        <a:t>DIY owner</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Occasional guidance and records</a:t>
                      </a:r>
                    </a:p>
                  </a:txBody>
                  <a:tcPr marL="152400" marR="152400" marT="123825" marB="123825" anchor="ctr">
                    <a:solidFill>
                      <a:srgbClr val="EEF5F6"/>
                    </a:solidFill>
                  </a:tcPr>
                </a:tc>
                <a:tc>
                  <a:txBody>
                    <a:bodyPr wrap="square">
                      <a:noAutofit/>
                    </a:bodyPr>
                    <a:lstStyle/>
                    <a:p>
                      <a:r>
                        <a:rPr sz="1875" b="0">
                          <a:solidFill>
                            <a:srgbClr val="132A3C"/>
                          </a:solidFill>
                          <a:latin typeface="Arial"/>
                          <a:ea typeface="Arial"/>
                          <a:cs typeface="Arial"/>
                        </a:rPr>
                        <a:t>Free entry or paid scan allowance</a:t>
                      </a:r>
                    </a:p>
                  </a:txBody>
                  <a:tcPr marL="152400" marR="152400" marT="123825" marB="123825" anchor="ctr">
                    <a:solidFill>
                      <a:srgbClr val="EEF5F6"/>
                    </a:solidFill>
                  </a:tcPr>
                </a:tc>
              </a:tr>
            </a:tbl>
          </a:graphicData>
        </a:graphic>
      </p:graphicFrame>
      <p:sp>
        <p:nvSpPr>
          <p:cNvPr id="4" name="Willingness to pay is unvalidated. A useful workflow and repeated">
            <a:extLst xmlns:a="http://schemas.openxmlformats.org/drawingml/2006/main">
              <a:ext uri="{FF2B5EF4-FFF2-40B4-BE49-F238E27FC236}">
                <a16:creationId xmlns:a16="http://schemas.microsoft.com/office/drawing/2014/main" id="{8E9FC83E-4D69-43A9-AFB5-5F868D081EBD}"/>
              </a:ext>
            </a:extLst>
          </p:cNvPr>
          <p:cNvSpPr>
            <a:spLocks xmlns:a="http://schemas.openxmlformats.org/drawingml/2006/main" noGrp="1"/>
          </p:cNvSpPr>
          <p:nvPr/>
        </p:nvSpPr>
        <p:spPr>
          <a:xfrm xmlns:a="http://schemas.openxmlformats.org/drawingml/2006/main">
            <a:off x="628650" y="5610225"/>
            <a:ext cx="10439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56B7F"/>
                </a:solidFill>
                <a:latin typeface="Arial"/>
                <a:ea typeface="Arial"/>
                <a:cs typeface="Arial"/>
              </a:defRPr>
            </a:pPr>
            <a:r>
              <a:rPr sz="2025" b="0">
                <a:solidFill>
                  <a:srgbClr val="256B7F"/>
                </a:solidFill>
                <a:latin typeface="Arial"/>
                <a:ea typeface="Arial"/>
                <a:cs typeface="Arial"/>
              </a:rPr>
              <a:t>Willingness to pay is unvalidated. A useful workflow and repeated use must come first.</a:t>
            </a:r>
          </a:p>
        </p:txBody>
      </p:sp>
    </p:spTree>
    <p:extLst>
      <p:ext uri="{BB962C8B-B14F-4D97-AF65-F5344CB8AC3E}">
        <p14:creationId xmlns:p14="http://schemas.microsoft.com/office/powerpoint/2010/main" val="1965225191"/>
      </p:ext>
    </p:extLst>
  </p:cSld>
</p:sld>
</file>

<file path=ppt/slides/slide14.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5" name="Evidence behind the current build">
            <a:extLst xmlns:a="http://schemas.openxmlformats.org/drawingml/2006/main">
              <a:ext uri="{FF2B5EF4-FFF2-40B4-BE49-F238E27FC236}">
                <a16:creationId xmlns:a16="http://schemas.microsoft.com/office/drawing/2014/main" id="{F5D4D375-27E7-48B8-8F22-A7CC80D93A72}"/>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Evidence behind the current build</a:t>
            </a:r>
          </a:p>
        </p:txBody>
      </p:sp>
      <p:sp>
        <p:nvSpPr>
          <p:cNvPr id="2" name="14">
            <a:extLst xmlns:a="http://schemas.openxmlformats.org/drawingml/2006/main">
              <a:ext uri="{FF2B5EF4-FFF2-40B4-BE49-F238E27FC236}">
                <a16:creationId xmlns:a16="http://schemas.microsoft.com/office/drawing/2014/main" id="{FAAE4D8B-E48A-44B9-8D82-C82BEEF42E56}"/>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14</a:t>
            </a:r>
          </a:p>
        </p:txBody>
      </p:sp>
      <p:graphicFrame>
        <p:nvGraphicFramePr>
          <p:cNvPr id="7" name=""/>
          <p:cNvGraphicFramePr/>
          <p:nvPr/>
        </p:nvGraphicFramePr>
        <p:xfrm>
          <a:off xmlns:a="http://schemas.openxmlformats.org/drawingml/2006/main" x="628650" y="1885950"/>
          <a:ext xmlns:a="http://schemas.openxmlformats.org/drawingml/2006/main" cx="10934700" cy="3648075"/>
        </p:xfrm>
        <a:graphic xmlns:a="http://schemas.openxmlformats.org/drawingml/2006/main">
          <a:graphicData uri="http://schemas.openxmlformats.org/drawingml/2006/table">
            <a:tbl>
              <a:tblPr firstRow="1" bandRow="0"/>
              <a:tblGrid>
                <a:gridCol w="3095625"/>
                <a:gridCol w="3571875"/>
                <a:gridCol w="4267200"/>
              </a:tblGrid>
              <a:tr h="571500">
                <a:tc>
                  <a:txBody>
                    <a:bodyPr wrap="square">
                      <a:noAutofit/>
                    </a:bodyPr>
                    <a:lstStyle/>
                    <a:p>
                      <a:r>
                        <a:rPr sz="1725" b="1">
                          <a:solidFill>
                            <a:srgbClr val="F4FAFB"/>
                          </a:solidFill>
                          <a:latin typeface="Arial"/>
                          <a:ea typeface="Arial"/>
                          <a:cs typeface="Arial"/>
                        </a:rPr>
                        <a:t>What was checked</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Evidence</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What it establishes</a:t>
                      </a:r>
                    </a:p>
                  </a:txBody>
                  <a:tcPr marL="152400" marR="152400" marT="123825" marB="123825" anchor="ctr">
                    <a:solidFill>
                      <a:srgbClr val="091725"/>
                    </a:solidFill>
                  </a:tcPr>
                </a:tc>
              </a:tr>
              <a:tr h="769144">
                <a:tc>
                  <a:txBody>
                    <a:bodyPr wrap="square">
                      <a:noAutofit/>
                    </a:bodyPr>
                    <a:lstStyle/>
                    <a:p>
                      <a:r>
                        <a:rPr sz="1725" b="0">
                          <a:solidFill>
                            <a:srgbClr val="132A3C"/>
                          </a:solidFill>
                          <a:latin typeface="Arial"/>
                          <a:ea typeface="Arial"/>
                          <a:cs typeface="Arial"/>
                        </a:rPr>
                        <a:t>Automated app checks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1,015 tests, lint and build passed</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Recorded build and behavior checks</a:t>
                      </a:r>
                    </a:p>
                  </a:txBody>
                  <a:tcPr marL="152400" marR="152400" marT="123825" marB="123825" anchor="ctr">
                    <a:solidFill>
                      <a:srgbClr val="EEF5F6"/>
                    </a:solidFill>
                  </a:tcPr>
                </a:tc>
              </a:tr>
              <a:tr h="769144">
                <a:tc>
                  <a:txBody>
                    <a:bodyPr wrap="square">
                      <a:noAutofit/>
                    </a:bodyPr>
                    <a:lstStyle/>
                    <a:p>
                      <a:r>
                        <a:rPr sz="1725" b="0">
                          <a:solidFill>
                            <a:srgbClr val="132A3C"/>
                          </a:solidFill>
                          <a:latin typeface="Arial"/>
                          <a:ea typeface="Arial"/>
                          <a:cs typeface="Arial"/>
                        </a:rPr>
                        <a:t>Browser recovery</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Mobile and desktop QA passed</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Restore, discard, stale edits and exports</a:t>
                      </a:r>
                    </a:p>
                  </a:txBody>
                  <a:tcPr marL="152400" marR="152400" marT="123825" marB="123825" anchor="ctr">
                    <a:solidFill>
                      <a:srgbClr val="EEF5F6"/>
                    </a:solidFill>
                  </a:tcPr>
                </a:tc>
              </a:tr>
              <a:tr h="769144">
                <a:tc>
                  <a:txBody>
                    <a:bodyPr wrap="square">
                      <a:noAutofit/>
                    </a:bodyPr>
                    <a:lstStyle/>
                    <a:p>
                      <a:r>
                        <a:rPr sz="1725" b="0">
                          <a:solidFill>
                            <a:srgbClr val="132A3C"/>
                          </a:solidFill>
                          <a:latin typeface="Arial"/>
                          <a:ea typeface="Arial"/>
                          <a:cs typeface="Arial"/>
                        </a:rPr>
                        <a:t>Live image analysis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Engine-image response completed</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A real configured analysis path</a:t>
                      </a:r>
                    </a:p>
                  </a:txBody>
                  <a:tcPr marL="152400" marR="152400" marT="123825" marB="123825" anchor="ctr">
                    <a:solidFill>
                      <a:srgbClr val="EEF5F6"/>
                    </a:solidFill>
                  </a:tcPr>
                </a:tc>
              </a:tr>
              <a:tr h="769144">
                <a:tc>
                  <a:txBody>
                    <a:bodyPr wrap="square">
                      <a:noAutofit/>
                    </a:bodyPr>
                    <a:lstStyle/>
                    <a:p>
                      <a:r>
                        <a:rPr sz="1725" b="0">
                          <a:solidFill>
                            <a:srgbClr val="132A3C"/>
                          </a:solidFill>
                          <a:latin typeface="Arial"/>
                          <a:ea typeface="Arial"/>
                          <a:cs typeface="Arial"/>
                        </a:rPr>
                        <a:t>Live inspection cloud</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Save, read, update and isolation passed</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Private storage and account separation</a:t>
                      </a:r>
                    </a:p>
                  </a:txBody>
                  <a:tcPr marL="152400" marR="152400" marT="123825" marB="123825" anchor="ctr">
                    <a:solidFill>
                      <a:srgbClr val="EEF5F6"/>
                    </a:solidFill>
                  </a:tcPr>
                </a:tc>
              </a:tr>
            </a:tbl>
          </a:graphicData>
        </a:graphic>
      </p:graphicFrame>
      <p:sp>
        <p:nvSpPr>
          <p:cNvPr id="4" name="Engineering evidence as of September 26, 2026. Seller time saving">
            <a:extLst xmlns:a="http://schemas.openxmlformats.org/drawingml/2006/main">
              <a:ext uri="{FF2B5EF4-FFF2-40B4-BE49-F238E27FC236}">
                <a16:creationId xmlns:a16="http://schemas.microsoft.com/office/drawing/2014/main" id="{D87CAD7B-5BB5-4EBD-A921-5E9EC18965B8}"/>
              </a:ext>
            </a:extLst>
          </p:cNvPr>
          <p:cNvSpPr>
            <a:spLocks xmlns:a="http://schemas.openxmlformats.org/drawingml/2006/main" noGrp="1"/>
          </p:cNvSpPr>
          <p:nvPr/>
        </p:nvSpPr>
        <p:spPr>
          <a:xfrm xmlns:a="http://schemas.openxmlformats.org/drawingml/2006/main">
            <a:off x="628650" y="59055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256B7F"/>
                </a:solidFill>
                <a:latin typeface="Arial"/>
                <a:ea typeface="Arial"/>
                <a:cs typeface="Arial"/>
              </a:defRPr>
            </a:pPr>
            <a:r>
              <a:rPr sz="1575" b="0">
                <a:solidFill>
                  <a:srgbClr val="256B7F"/>
                </a:solidFill>
                <a:latin typeface="Arial"/>
                <a:ea typeface="Arial"/>
                <a:cs typeface="Arial"/>
              </a:rPr>
              <a:t>Engineering evidence as of September 26, 2026. Seller time savings and accuracy remain unmeasured.</a:t>
            </a:r>
          </a:p>
        </p:txBody>
      </p:sp>
    </p:spTree>
    <p:extLst>
      <p:ext uri="{BB962C8B-B14F-4D97-AF65-F5344CB8AC3E}">
        <p14:creationId xmlns:p14="http://schemas.microsoft.com/office/powerpoint/2010/main" val="1435762681"/>
      </p:ext>
    </p:extLst>
  </p:cSld>
</p:sld>
</file>

<file path=ppt/slides/slide15.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5" name="A focused V1, with room for V2">
            <a:extLst xmlns:a="http://schemas.openxmlformats.org/drawingml/2006/main">
              <a:ext uri="{FF2B5EF4-FFF2-40B4-BE49-F238E27FC236}">
                <a16:creationId xmlns:a16="http://schemas.microsoft.com/office/drawing/2014/main" id="{A32FC702-D037-489B-A852-A11A519FB70B}"/>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A focused V1, with room for V2</a:t>
            </a:r>
          </a:p>
        </p:txBody>
      </p:sp>
      <p:sp>
        <p:nvSpPr>
          <p:cNvPr id="2" name="15">
            <a:extLst xmlns:a="http://schemas.openxmlformats.org/drawingml/2006/main">
              <a:ext uri="{FF2B5EF4-FFF2-40B4-BE49-F238E27FC236}">
                <a16:creationId xmlns:a16="http://schemas.microsoft.com/office/drawing/2014/main" id="{D3AE264E-C02C-4455-B2A7-D9D0D1873E33}"/>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15</a:t>
            </a:r>
          </a:p>
        </p:txBody>
      </p:sp>
      <p:graphicFrame>
        <p:nvGraphicFramePr>
          <p:cNvPr id="7" name=""/>
          <p:cNvGraphicFramePr/>
          <p:nvPr/>
        </p:nvGraphicFramePr>
        <p:xfrm>
          <a:off xmlns:a="http://schemas.openxmlformats.org/drawingml/2006/main" x="628650" y="1905000"/>
          <a:ext xmlns:a="http://schemas.openxmlformats.org/drawingml/2006/main" cx="10934700" cy="3686175"/>
        </p:xfrm>
        <a:graphic xmlns:a="http://schemas.openxmlformats.org/drawingml/2006/main">
          <a:graphicData uri="http://schemas.openxmlformats.org/drawingml/2006/table">
            <a:tbl>
              <a:tblPr firstRow="1" bandRow="0"/>
              <a:tblGrid>
                <a:gridCol w="2381250"/>
                <a:gridCol w="4572000"/>
                <a:gridCol w="3981450"/>
              </a:tblGrid>
              <a:tr h="571500">
                <a:tc>
                  <a:txBody>
                    <a:bodyPr wrap="square">
                      <a:noAutofit/>
                    </a:bodyPr>
                    <a:lstStyle/>
                    <a:p>
                      <a:r>
                        <a:rPr sz="1725" b="1">
                          <a:solidFill>
                            <a:srgbClr val="F4FAFB"/>
                          </a:solidFill>
                          <a:latin typeface="Arial"/>
                          <a:ea typeface="Arial"/>
                          <a:cs typeface="Arial"/>
                        </a:rPr>
                        <a:t>Status</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Capability</a:t>
                      </a:r>
                    </a:p>
                  </a:txBody>
                  <a:tcPr marL="152400" marR="152400" marT="123825" marB="123825" anchor="ctr">
                    <a:solidFill>
                      <a:srgbClr val="091725"/>
                    </a:solidFill>
                  </a:tcPr>
                </a:tc>
                <a:tc>
                  <a:txBody>
                    <a:bodyPr wrap="square">
                      <a:noAutofit/>
                    </a:bodyPr>
                    <a:lstStyle/>
                    <a:p>
                      <a:r>
                        <a:rPr sz="1725" b="1">
                          <a:solidFill>
                            <a:srgbClr val="F4FAFB"/>
                          </a:solidFill>
                          <a:latin typeface="Arial"/>
                          <a:ea typeface="Arial"/>
                          <a:cs typeface="Arial"/>
                        </a:rPr>
                        <a:t>Boundary</a:t>
                      </a:r>
                    </a:p>
                  </a:txBody>
                  <a:tcPr marL="152400" marR="152400" marT="123825" marB="123825" anchor="ctr">
                    <a:solidFill>
                      <a:srgbClr val="091725"/>
                    </a:solidFill>
                  </a:tcPr>
                </a:tc>
              </a:tr>
              <a:tr h="778669">
                <a:tc>
                  <a:txBody>
                    <a:bodyPr wrap="square">
                      <a:noAutofit/>
                    </a:bodyPr>
                    <a:lstStyle/>
                    <a:p>
                      <a:r>
                        <a:rPr sz="1725" b="0">
                          <a:solidFill>
                            <a:srgbClr val="132A3C"/>
                          </a:solidFill>
                          <a:latin typeface="Arial"/>
                          <a:ea typeface="Arial"/>
                          <a:cs typeface="Arial"/>
                        </a:rPr>
                        <a:t>Current core</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Photo analysis, chat and human records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AI suggestions still need review</a:t>
                      </a:r>
                    </a:p>
                  </a:txBody>
                  <a:tcPr marL="152400" marR="152400" marT="123825" marB="123825" anchor="ctr">
                    <a:solidFill>
                      <a:srgbClr val="EEF5F6"/>
                    </a:solidFill>
                  </a:tcPr>
                </a:tc>
              </a:tr>
              <a:tr h="778669">
                <a:tc>
                  <a:txBody>
                    <a:bodyPr wrap="square">
                      <a:noAutofit/>
                    </a:bodyPr>
                    <a:lstStyle/>
                    <a:p>
                      <a:r>
                        <a:rPr sz="1725" b="0">
                          <a:solidFill>
                            <a:srgbClr val="132A3C"/>
                          </a:solidFill>
                          <a:latin typeface="Arial"/>
                          <a:ea typeface="Arial"/>
                          <a:cs typeface="Arial"/>
                        </a:rPr>
                        <a:t>Current records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Library, recovery, exports and cloud sync</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Shop jobs remain local</a:t>
                      </a:r>
                    </a:p>
                  </a:txBody>
                  <a:tcPr marL="152400" marR="152400" marT="123825" marB="123825" anchor="ctr">
                    <a:solidFill>
                      <a:srgbClr val="EEF5F6"/>
                    </a:solidFill>
                  </a:tcPr>
                </a:tc>
              </a:tr>
              <a:tr h="778669">
                <a:tc>
                  <a:txBody>
                    <a:bodyPr wrap="square">
                      <a:noAutofit/>
                    </a:bodyPr>
                    <a:lstStyle/>
                    <a:p>
                      <a:r>
                        <a:rPr sz="1725" b="0">
                          <a:solidFill>
                            <a:srgbClr val="132A3C"/>
                          </a:solidFill>
                          <a:latin typeface="Arial"/>
                          <a:ea typeface="Arial"/>
                          <a:cs typeface="Arial"/>
                        </a:rPr>
                        <a:t>V1 completion</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AR polish, feedback, consent and review</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Planned or in review, then verify</a:t>
                      </a:r>
                    </a:p>
                  </a:txBody>
                  <a:tcPr marL="152400" marR="152400" marT="123825" marB="123825" anchor="ctr">
                    <a:solidFill>
                      <a:srgbClr val="EEF5F6"/>
                    </a:solidFill>
                  </a:tcPr>
                </a:tc>
              </a:tr>
              <a:tr h="778669">
                <a:tc>
                  <a:txBody>
                    <a:bodyPr wrap="square">
                      <a:noAutofit/>
                    </a:bodyPr>
                    <a:lstStyle/>
                    <a:p>
                      <a:r>
                        <a:rPr sz="1725" b="0">
                          <a:solidFill>
                            <a:srgbClr val="132A3C"/>
                          </a:solidFill>
                          <a:latin typeface="Arial"/>
                          <a:ea typeface="Arial"/>
                          <a:cs typeface="Arial"/>
                        </a:rPr>
                        <a:t>Future V2</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Versioned datasets and specialized models</a:t>
                      </a:r>
                    </a:p>
                  </a:txBody>
                  <a:tcPr marL="152400" marR="152400" marT="123825" marB="123825" anchor="ctr">
                    <a:solidFill>
                      <a:srgbClr val="EEF5F6"/>
                    </a:solidFill>
                  </a:tcPr>
                </a:tc>
                <a:tc>
                  <a:txBody>
                    <a:bodyPr wrap="square">
                      <a:noAutofit/>
                    </a:bodyPr>
                    <a:lstStyle/>
                    <a:p>
                      <a:r>
                        <a:rPr sz="1725" b="0">
                          <a:solidFill>
                            <a:srgbClr val="132A3C"/>
                          </a:solidFill>
                          <a:latin typeface="Arial"/>
                          <a:ea typeface="Arial"/>
                          <a:cs typeface="Arial"/>
                        </a:rPr>
                        <a:t>Train only when evidence justifies it</a:t>
                      </a:r>
                    </a:p>
                  </a:txBody>
                  <a:tcPr marL="152400" marR="152400" marT="123825" marB="123825" anchor="ctr">
                    <a:solidFill>
                      <a:srgbClr val="EEF5F6"/>
                    </a:solidFill>
                  </a:tcPr>
                </a:tc>
              </a:tr>
            </a:tbl>
          </a:graphicData>
        </a:graphic>
      </p:graphicFrame>
      <p:sp>
        <p:nvSpPr>
          <p:cNvPr id="4" name="3D reconstruction and ambitious new integrations can wait beyond ">
            <a:extLst xmlns:a="http://schemas.openxmlformats.org/drawingml/2006/main">
              <a:ext uri="{FF2B5EF4-FFF2-40B4-BE49-F238E27FC236}">
                <a16:creationId xmlns:a16="http://schemas.microsoft.com/office/drawing/2014/main" id="{87200459-FECC-41F2-8C2A-86D51DC7F097}"/>
              </a:ext>
            </a:extLst>
          </p:cNvPr>
          <p:cNvSpPr>
            <a:spLocks xmlns:a="http://schemas.openxmlformats.org/drawingml/2006/main" noGrp="1"/>
          </p:cNvSpPr>
          <p:nvPr/>
        </p:nvSpPr>
        <p:spPr>
          <a:xfrm xmlns:a="http://schemas.openxmlformats.org/drawingml/2006/main">
            <a:off x="628650" y="596265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56B7F"/>
                </a:solidFill>
                <a:latin typeface="Arial"/>
                <a:ea typeface="Arial"/>
                <a:cs typeface="Arial"/>
              </a:defRPr>
            </a:pPr>
            <a:r>
              <a:rPr sz="2025" b="0">
                <a:solidFill>
                  <a:srgbClr val="256B7F"/>
                </a:solidFill>
                <a:latin typeface="Arial"/>
                <a:ea typeface="Arial"/>
                <a:cs typeface="Arial"/>
              </a:rPr>
              <a:t>3D reconstruction and ambitious new integrations can wait beyond V1.</a:t>
            </a:r>
          </a:p>
        </p:txBody>
      </p:sp>
    </p:spTree>
    <p:extLst>
      <p:ext uri="{BB962C8B-B14F-4D97-AF65-F5344CB8AC3E}">
        <p14:creationId xmlns:p14="http://schemas.microsoft.com/office/powerpoint/2010/main" val="789218847"/>
      </p:ext>
    </p:extLst>
  </p:cSld>
</p:sld>
</file>

<file path=ppt/slides/slide16.xml><?xml version="1.0" encoding="utf-8"?>
<p:sld xmlns:p="http://schemas.openxmlformats.org/presentationml/2006/main">
  <p:cSld>
    <p:bg>
      <p:bgPr>
        <a:solidFill xmlns:a="http://schemas.openxmlformats.org/drawingml/2006/main">
          <a:srgbClr val="091725"/>
        </a:solidFill>
      </p:bgPr>
    </p:bg>
    <p:spTree>
      <p:nvGrpSpPr>
        <p:cNvPr id="1" name=""/>
        <p:cNvGrpSpPr/>
        <p:nvPr/>
      </p:nvGrpSpPr>
      <p:grpSpPr>
        <a:xfrm xmlns:a="http://schemas.openxmlformats.org/drawingml/2006/main"/>
      </p:grpSpPr>
      <p:sp>
        <p:nvSpPr>
          <p:cNvPr id="16" name="A one-month route to real users">
            <a:extLst xmlns:a="http://schemas.openxmlformats.org/drawingml/2006/main">
              <a:ext uri="{FF2B5EF4-FFF2-40B4-BE49-F238E27FC236}">
                <a16:creationId xmlns:a16="http://schemas.microsoft.com/office/drawing/2014/main" id="{0BF6E30B-2927-4AC8-9F33-694EB95F0DF4}"/>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F4FAFB"/>
                </a:solidFill>
                <a:latin typeface="Arial"/>
                <a:ea typeface="Arial"/>
                <a:cs typeface="Arial"/>
              </a:defRPr>
            </a:pPr>
            <a:r>
              <a:rPr sz="3600" b="1">
                <a:solidFill>
                  <a:srgbClr val="F4FAFB"/>
                </a:solidFill>
                <a:latin typeface="Arial"/>
                <a:ea typeface="Arial"/>
                <a:cs typeface="Arial"/>
              </a:rPr>
              <a:t>A one-month route to real users</a:t>
            </a:r>
          </a:p>
        </p:txBody>
      </p:sp>
      <p:sp>
        <p:nvSpPr>
          <p:cNvPr id="2" name="16">
            <a:extLst xmlns:a="http://schemas.openxmlformats.org/drawingml/2006/main">
              <a:ext uri="{FF2B5EF4-FFF2-40B4-BE49-F238E27FC236}">
                <a16:creationId xmlns:a16="http://schemas.microsoft.com/office/drawing/2014/main" id="{8B822A3D-A3D5-42B0-A46D-A68706A556D3}"/>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9DB8C8"/>
                </a:solidFill>
                <a:latin typeface="Arial"/>
                <a:ea typeface="Arial"/>
                <a:cs typeface="Arial"/>
              </a:defRPr>
            </a:pPr>
            <a:r>
              <a:rPr sz="1275" b="0">
                <a:solidFill>
                  <a:srgbClr val="9DB8C8"/>
                </a:solidFill>
                <a:latin typeface="Arial"/>
                <a:ea typeface="Arial"/>
                <a:cs typeface="Arial"/>
              </a:rPr>
              <a:t>16</a:t>
            </a:r>
          </a:p>
        </p:txBody>
      </p:sp>
      <p:sp>
        <p:nvSpPr>
          <p:cNvPr id="3" name="Week 1">
            <a:extLst xmlns:a="http://schemas.openxmlformats.org/drawingml/2006/main">
              <a:ext uri="{FF2B5EF4-FFF2-40B4-BE49-F238E27FC236}">
                <a16:creationId xmlns:a16="http://schemas.microsoft.com/office/drawing/2014/main" id="{25F5D212-A0C6-47A6-AA6B-17D2BAC9BA30}"/>
              </a:ext>
            </a:extLst>
          </p:cNvPr>
          <p:cNvSpPr>
            <a:spLocks xmlns:a="http://schemas.openxmlformats.org/drawingml/2006/main" noGrp="1"/>
          </p:cNvSpPr>
          <p:nvPr/>
        </p:nvSpPr>
        <p:spPr>
          <a:xfrm xmlns:a="http://schemas.openxmlformats.org/drawingml/2006/main">
            <a:off x="628650" y="1828800"/>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8E3E9"/>
                </a:solidFill>
                <a:latin typeface="Arial"/>
                <a:ea typeface="Arial"/>
                <a:cs typeface="Arial"/>
              </a:defRPr>
            </a:pPr>
            <a:r>
              <a:rPr sz="2175" b="1">
                <a:solidFill>
                  <a:srgbClr val="B8E3E9"/>
                </a:solidFill>
                <a:latin typeface="Arial"/>
                <a:ea typeface="Arial"/>
                <a:cs typeface="Arial"/>
              </a:rPr>
              <a:t>Week 1</a:t>
            </a:r>
          </a:p>
        </p:txBody>
      </p:sp>
      <p:sp>
        <p:nvSpPr>
          <p:cNvPr id="4" name="Foundation">
            <a:extLst xmlns:a="http://schemas.openxmlformats.org/drawingml/2006/main">
              <a:ext uri="{FF2B5EF4-FFF2-40B4-BE49-F238E27FC236}">
                <a16:creationId xmlns:a16="http://schemas.microsoft.com/office/drawing/2014/main" id="{4FAA9663-FEC6-4B0A-95DB-8996F02B189C}"/>
              </a:ext>
            </a:extLst>
          </p:cNvPr>
          <p:cNvSpPr>
            <a:spLocks xmlns:a="http://schemas.openxmlformats.org/drawingml/2006/main" noGrp="1"/>
          </p:cNvSpPr>
          <p:nvPr/>
        </p:nvSpPr>
        <p:spPr>
          <a:xfrm xmlns:a="http://schemas.openxmlformats.org/drawingml/2006/main">
            <a:off x="2571750" y="1819275"/>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4FAFB"/>
                </a:solidFill>
                <a:latin typeface="Arial"/>
                <a:ea typeface="Arial"/>
                <a:cs typeface="Arial"/>
              </a:defRPr>
            </a:pPr>
            <a:r>
              <a:rPr sz="2400" b="1">
                <a:solidFill>
                  <a:srgbClr val="F4FAFB"/>
                </a:solidFill>
                <a:latin typeface="Arial"/>
                <a:ea typeface="Arial"/>
                <a:cs typeface="Arial"/>
              </a:rPr>
              <a:t>Foundation</a:t>
            </a:r>
          </a:p>
        </p:txBody>
      </p:sp>
      <p:sp>
        <p:nvSpPr>
          <p:cNvPr id="5" name="Verify accounts, persistence, consent and feedback.">
            <a:extLst xmlns:a="http://schemas.openxmlformats.org/drawingml/2006/main">
              <a:ext uri="{FF2B5EF4-FFF2-40B4-BE49-F238E27FC236}">
                <a16:creationId xmlns:a16="http://schemas.microsoft.com/office/drawing/2014/main" id="{1EA3265C-9CF0-4DA9-9111-235C6D8A576D}"/>
              </a:ext>
            </a:extLst>
          </p:cNvPr>
          <p:cNvSpPr>
            <a:spLocks xmlns:a="http://schemas.openxmlformats.org/drawingml/2006/main" noGrp="1"/>
          </p:cNvSpPr>
          <p:nvPr/>
        </p:nvSpPr>
        <p:spPr>
          <a:xfrm xmlns:a="http://schemas.openxmlformats.org/drawingml/2006/main">
            <a:off x="2571750" y="2295525"/>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9DB8C8"/>
                </a:solidFill>
                <a:latin typeface="Arial"/>
                <a:ea typeface="Arial"/>
                <a:cs typeface="Arial"/>
              </a:defRPr>
            </a:pPr>
            <a:r>
              <a:rPr sz="1875" b="0">
                <a:solidFill>
                  <a:srgbClr val="9DB8C8"/>
                </a:solidFill>
                <a:latin typeface="Arial"/>
                <a:ea typeface="Arial"/>
                <a:cs typeface="Arial"/>
              </a:rPr>
              <a:t>Verify accounts, persistence, consent and feedback.</a:t>
            </a:r>
          </a:p>
        </p:txBody>
      </p:sp>
      <p:sp>
        <p:nvSpPr>
          <p:cNvPr id="6" name="Week 2">
            <a:extLst xmlns:a="http://schemas.openxmlformats.org/drawingml/2006/main">
              <a:ext uri="{FF2B5EF4-FFF2-40B4-BE49-F238E27FC236}">
                <a16:creationId xmlns:a16="http://schemas.microsoft.com/office/drawing/2014/main" id="{755C5E07-740A-40FE-9DA8-97F82170BE46}"/>
              </a:ext>
            </a:extLst>
          </p:cNvPr>
          <p:cNvSpPr>
            <a:spLocks xmlns:a="http://schemas.openxmlformats.org/drawingml/2006/main" noGrp="1"/>
          </p:cNvSpPr>
          <p:nvPr/>
        </p:nvSpPr>
        <p:spPr>
          <a:xfrm xmlns:a="http://schemas.openxmlformats.org/drawingml/2006/main">
            <a:off x="628650" y="2867025"/>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8E3E9"/>
                </a:solidFill>
                <a:latin typeface="Arial"/>
                <a:ea typeface="Arial"/>
                <a:cs typeface="Arial"/>
              </a:defRPr>
            </a:pPr>
            <a:r>
              <a:rPr sz="2175" b="1">
                <a:solidFill>
                  <a:srgbClr val="B8E3E9"/>
                </a:solidFill>
                <a:latin typeface="Arial"/>
                <a:ea typeface="Arial"/>
                <a:cs typeface="Arial"/>
              </a:rPr>
              <a:t>Week 2</a:t>
            </a:r>
          </a:p>
        </p:txBody>
      </p:sp>
      <p:sp>
        <p:nvSpPr>
          <p:cNvPr id="7" name="Scanning and AR">
            <a:extLst xmlns:a="http://schemas.openxmlformats.org/drawingml/2006/main">
              <a:ext uri="{FF2B5EF4-FFF2-40B4-BE49-F238E27FC236}">
                <a16:creationId xmlns:a16="http://schemas.microsoft.com/office/drawing/2014/main" id="{40C9B595-37DB-4DD7-B256-2F9FEB6EF955}"/>
              </a:ext>
            </a:extLst>
          </p:cNvPr>
          <p:cNvSpPr>
            <a:spLocks xmlns:a="http://schemas.openxmlformats.org/drawingml/2006/main" noGrp="1"/>
          </p:cNvSpPr>
          <p:nvPr/>
        </p:nvSpPr>
        <p:spPr>
          <a:xfrm xmlns:a="http://schemas.openxmlformats.org/drawingml/2006/main">
            <a:off x="2571750" y="2857500"/>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4FAFB"/>
                </a:solidFill>
                <a:latin typeface="Arial"/>
                <a:ea typeface="Arial"/>
                <a:cs typeface="Arial"/>
              </a:defRPr>
            </a:pPr>
            <a:r>
              <a:rPr sz="2400" b="1">
                <a:solidFill>
                  <a:srgbClr val="F4FAFB"/>
                </a:solidFill>
                <a:latin typeface="Arial"/>
                <a:ea typeface="Arial"/>
                <a:cs typeface="Arial"/>
              </a:rPr>
              <a:t>Scanning and AR</a:t>
            </a:r>
          </a:p>
        </p:txBody>
      </p:sp>
      <p:sp>
        <p:nvSpPr>
          <p:cNvPr id="8" name="Test difficult images, overlays and mobile failure states.">
            <a:extLst xmlns:a="http://schemas.openxmlformats.org/drawingml/2006/main">
              <a:ext uri="{FF2B5EF4-FFF2-40B4-BE49-F238E27FC236}">
                <a16:creationId xmlns:a16="http://schemas.microsoft.com/office/drawing/2014/main" id="{46B57C42-648C-4E5E-B0F2-4F0DBB808586}"/>
              </a:ext>
            </a:extLst>
          </p:cNvPr>
          <p:cNvSpPr>
            <a:spLocks xmlns:a="http://schemas.openxmlformats.org/drawingml/2006/main" noGrp="1"/>
          </p:cNvSpPr>
          <p:nvPr/>
        </p:nvSpPr>
        <p:spPr>
          <a:xfrm xmlns:a="http://schemas.openxmlformats.org/drawingml/2006/main">
            <a:off x="2571750" y="3333750"/>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9DB8C8"/>
                </a:solidFill>
                <a:latin typeface="Arial"/>
                <a:ea typeface="Arial"/>
                <a:cs typeface="Arial"/>
              </a:defRPr>
            </a:pPr>
            <a:r>
              <a:rPr sz="1875" b="0">
                <a:solidFill>
                  <a:srgbClr val="9DB8C8"/>
                </a:solidFill>
                <a:latin typeface="Arial"/>
                <a:ea typeface="Arial"/>
                <a:cs typeface="Arial"/>
              </a:rPr>
              <a:t>Test difficult images, overlays and mobile failure states.</a:t>
            </a:r>
          </a:p>
        </p:txBody>
      </p:sp>
      <p:sp>
        <p:nvSpPr>
          <p:cNvPr id="9" name="Week 3">
            <a:extLst xmlns:a="http://schemas.openxmlformats.org/drawingml/2006/main">
              <a:ext uri="{FF2B5EF4-FFF2-40B4-BE49-F238E27FC236}">
                <a16:creationId xmlns:a16="http://schemas.microsoft.com/office/drawing/2014/main" id="{C7800D2B-A7A7-404C-B87F-B12E10904461}"/>
              </a:ext>
            </a:extLst>
          </p:cNvPr>
          <p:cNvSpPr>
            <a:spLocks xmlns:a="http://schemas.openxmlformats.org/drawingml/2006/main" noGrp="1"/>
          </p:cNvSpPr>
          <p:nvPr/>
        </p:nvSpPr>
        <p:spPr>
          <a:xfrm xmlns:a="http://schemas.openxmlformats.org/drawingml/2006/main">
            <a:off x="628650" y="3905250"/>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8E3E9"/>
                </a:solidFill>
                <a:latin typeface="Arial"/>
                <a:ea typeface="Arial"/>
                <a:cs typeface="Arial"/>
              </a:defRPr>
            </a:pPr>
            <a:r>
              <a:rPr sz="2175" b="1">
                <a:solidFill>
                  <a:srgbClr val="B8E3E9"/>
                </a:solidFill>
                <a:latin typeface="Arial"/>
                <a:ea typeface="Arial"/>
                <a:cs typeface="Arial"/>
              </a:rPr>
              <a:t>Week 3</a:t>
            </a:r>
          </a:p>
        </p:txBody>
      </p:sp>
      <p:sp>
        <p:nvSpPr>
          <p:cNvPr id="10" name="5–15 trusted users">
            <a:extLst xmlns:a="http://schemas.openxmlformats.org/drawingml/2006/main">
              <a:ext uri="{FF2B5EF4-FFF2-40B4-BE49-F238E27FC236}">
                <a16:creationId xmlns:a16="http://schemas.microsoft.com/office/drawing/2014/main" id="{55E96D48-3288-45E6-8552-8CF979C4C216}"/>
              </a:ext>
            </a:extLst>
          </p:cNvPr>
          <p:cNvSpPr>
            <a:spLocks xmlns:a="http://schemas.openxmlformats.org/drawingml/2006/main" noGrp="1"/>
          </p:cNvSpPr>
          <p:nvPr/>
        </p:nvSpPr>
        <p:spPr>
          <a:xfrm xmlns:a="http://schemas.openxmlformats.org/drawingml/2006/main">
            <a:off x="2571750" y="3895725"/>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4FAFB"/>
                </a:solidFill>
                <a:latin typeface="Arial"/>
                <a:ea typeface="Arial"/>
                <a:cs typeface="Arial"/>
              </a:defRPr>
            </a:pPr>
            <a:r>
              <a:rPr sz="2400" b="1">
                <a:solidFill>
                  <a:srgbClr val="F4FAFB"/>
                </a:solidFill>
                <a:latin typeface="Arial"/>
                <a:ea typeface="Arial"/>
                <a:cs typeface="Arial"/>
              </a:rPr>
              <a:t>5–15 trusted users</a:t>
            </a:r>
          </a:p>
        </p:txBody>
      </p:sp>
      <p:sp>
        <p:nvSpPr>
          <p:cNvPr id="11" name="Observe usefulness, wrong results and recurring confusion.">
            <a:extLst xmlns:a="http://schemas.openxmlformats.org/drawingml/2006/main">
              <a:ext uri="{FF2B5EF4-FFF2-40B4-BE49-F238E27FC236}">
                <a16:creationId xmlns:a16="http://schemas.microsoft.com/office/drawing/2014/main" id="{63F2F1E4-7DCB-400F-B17A-F572634004F6}"/>
              </a:ext>
            </a:extLst>
          </p:cNvPr>
          <p:cNvSpPr>
            <a:spLocks xmlns:a="http://schemas.openxmlformats.org/drawingml/2006/main" noGrp="1"/>
          </p:cNvSpPr>
          <p:nvPr/>
        </p:nvSpPr>
        <p:spPr>
          <a:xfrm xmlns:a="http://schemas.openxmlformats.org/drawingml/2006/main">
            <a:off x="2571750" y="4371975"/>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9DB8C8"/>
                </a:solidFill>
                <a:latin typeface="Arial"/>
                <a:ea typeface="Arial"/>
                <a:cs typeface="Arial"/>
              </a:defRPr>
            </a:pPr>
            <a:r>
              <a:rPr sz="1875" b="0">
                <a:solidFill>
                  <a:srgbClr val="9DB8C8"/>
                </a:solidFill>
                <a:latin typeface="Arial"/>
                <a:ea typeface="Arial"/>
                <a:cs typeface="Arial"/>
              </a:rPr>
              <a:t>Observe usefulness, wrong results and recurring confusion.</a:t>
            </a:r>
          </a:p>
        </p:txBody>
      </p:sp>
      <p:sp>
        <p:nvSpPr>
          <p:cNvPr id="12" name="Week 4">
            <a:extLst xmlns:a="http://schemas.openxmlformats.org/drawingml/2006/main">
              <a:ext uri="{FF2B5EF4-FFF2-40B4-BE49-F238E27FC236}">
                <a16:creationId xmlns:a16="http://schemas.microsoft.com/office/drawing/2014/main" id="{BB96B729-32EE-4650-8991-F20640732A32}"/>
              </a:ext>
            </a:extLst>
          </p:cNvPr>
          <p:cNvSpPr>
            <a:spLocks xmlns:a="http://schemas.openxmlformats.org/drawingml/2006/main" noGrp="1"/>
          </p:cNvSpPr>
          <p:nvPr/>
        </p:nvSpPr>
        <p:spPr>
          <a:xfrm xmlns:a="http://schemas.openxmlformats.org/drawingml/2006/main">
            <a:off x="628650" y="4943475"/>
            <a:ext cx="17240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B8E3E9"/>
                </a:solidFill>
                <a:latin typeface="Arial"/>
                <a:ea typeface="Arial"/>
                <a:cs typeface="Arial"/>
              </a:defRPr>
            </a:pPr>
            <a:r>
              <a:rPr sz="2175" b="1">
                <a:solidFill>
                  <a:srgbClr val="B8E3E9"/>
                </a:solidFill>
                <a:latin typeface="Arial"/>
                <a:ea typeface="Arial"/>
                <a:cs typeface="Arial"/>
              </a:rPr>
              <a:t>Week 4</a:t>
            </a:r>
          </a:p>
        </p:txBody>
      </p:sp>
      <p:sp>
        <p:nvSpPr>
          <p:cNvPr id="13" name="Launch candidate">
            <a:extLst xmlns:a="http://schemas.openxmlformats.org/drawingml/2006/main">
              <a:ext uri="{FF2B5EF4-FFF2-40B4-BE49-F238E27FC236}">
                <a16:creationId xmlns:a16="http://schemas.microsoft.com/office/drawing/2014/main" id="{C5E61726-4114-4A13-A086-9FE56DDEF0B8}"/>
              </a:ext>
            </a:extLst>
          </p:cNvPr>
          <p:cNvSpPr>
            <a:spLocks xmlns:a="http://schemas.openxmlformats.org/drawingml/2006/main" noGrp="1"/>
          </p:cNvSpPr>
          <p:nvPr/>
        </p:nvSpPr>
        <p:spPr>
          <a:xfrm xmlns:a="http://schemas.openxmlformats.org/drawingml/2006/main">
            <a:off x="2571750" y="4933950"/>
            <a:ext cx="823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F4FAFB"/>
                </a:solidFill>
                <a:latin typeface="Arial"/>
                <a:ea typeface="Arial"/>
                <a:cs typeface="Arial"/>
              </a:defRPr>
            </a:pPr>
            <a:r>
              <a:rPr sz="2400" b="1">
                <a:solidFill>
                  <a:srgbClr val="F4FAFB"/>
                </a:solidFill>
                <a:latin typeface="Arial"/>
                <a:ea typeface="Arial"/>
                <a:cs typeface="Arial"/>
              </a:rPr>
              <a:t>Launch candidate</a:t>
            </a:r>
          </a:p>
        </p:txBody>
      </p:sp>
      <p:sp>
        <p:nvSpPr>
          <p:cNvPr id="14" name="Fix repeated failures, verify privacy, monitoring and cost contro">
            <a:extLst xmlns:a="http://schemas.openxmlformats.org/drawingml/2006/main">
              <a:ext uri="{FF2B5EF4-FFF2-40B4-BE49-F238E27FC236}">
                <a16:creationId xmlns:a16="http://schemas.microsoft.com/office/drawing/2014/main" id="{2C67EDA4-CFB0-4038-AA93-5C157ED5F925}"/>
              </a:ext>
            </a:extLst>
          </p:cNvPr>
          <p:cNvSpPr>
            <a:spLocks xmlns:a="http://schemas.openxmlformats.org/drawingml/2006/main" noGrp="1"/>
          </p:cNvSpPr>
          <p:nvPr/>
        </p:nvSpPr>
        <p:spPr>
          <a:xfrm xmlns:a="http://schemas.openxmlformats.org/drawingml/2006/main">
            <a:off x="2571750" y="5410200"/>
            <a:ext cx="885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9DB8C8"/>
                </a:solidFill>
                <a:latin typeface="Arial"/>
                <a:ea typeface="Arial"/>
                <a:cs typeface="Arial"/>
              </a:defRPr>
            </a:pPr>
            <a:r>
              <a:rPr sz="1875" b="0">
                <a:solidFill>
                  <a:srgbClr val="9DB8C8"/>
                </a:solidFill>
                <a:latin typeface="Arial"/>
                <a:ea typeface="Arial"/>
                <a:cs typeface="Arial"/>
              </a:rPr>
              <a:t>Fix repeated failures, verify privacy, monitoring and cost controls.</a:t>
            </a:r>
          </a:p>
        </p:txBody>
      </p:sp>
      <p:sp>
        <p:nvSpPr>
          <p:cNvPr id="15" name="Target plan, not a guaranteed launch date. A seller timing study ">
            <a:extLst xmlns:a="http://schemas.openxmlformats.org/drawingml/2006/main">
              <a:ext uri="{FF2B5EF4-FFF2-40B4-BE49-F238E27FC236}">
                <a16:creationId xmlns:a16="http://schemas.microsoft.com/office/drawing/2014/main" id="{A0CB83F0-A7CD-4430-A854-AE73D9968C9D}"/>
              </a:ext>
            </a:extLst>
          </p:cNvPr>
          <p:cNvSpPr>
            <a:spLocks xmlns:a="http://schemas.openxmlformats.org/drawingml/2006/main" noGrp="1"/>
          </p:cNvSpPr>
          <p:nvPr/>
        </p:nvSpPr>
        <p:spPr>
          <a:xfrm xmlns:a="http://schemas.openxmlformats.org/drawingml/2006/main">
            <a:off x="628650" y="629602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9DB8C8"/>
                </a:solidFill>
                <a:latin typeface="Arial"/>
                <a:ea typeface="Arial"/>
                <a:cs typeface="Arial"/>
              </a:defRPr>
            </a:pPr>
            <a:r>
              <a:rPr sz="1425" b="0">
                <a:solidFill>
                  <a:srgbClr val="9DB8C8"/>
                </a:solidFill>
                <a:latin typeface="Arial"/>
                <a:ea typeface="Arial"/>
                <a:cs typeface="Arial"/>
              </a:rPr>
              <a:t>Target plan, not a guaranteed launch date. A seller timing study can be one beta cohort.</a:t>
            </a:r>
          </a:p>
        </p:txBody>
      </p:sp>
    </p:spTree>
    <p:extLst>
      <p:ext uri="{BB962C8B-B14F-4D97-AF65-F5344CB8AC3E}">
        <p14:creationId xmlns:p14="http://schemas.microsoft.com/office/powerpoint/2010/main" val="840517232"/>
      </p:ext>
    </p:extLst>
  </p:cSld>
</p:sld>
</file>

<file path=ppt/slides/slide17.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13" name="Feedback that can support V2">
            <a:extLst xmlns:a="http://schemas.openxmlformats.org/drawingml/2006/main">
              <a:ext uri="{FF2B5EF4-FFF2-40B4-BE49-F238E27FC236}">
                <a16:creationId xmlns:a16="http://schemas.microsoft.com/office/drawing/2014/main" id="{6A97AF30-E485-4BB8-9C64-D9890A186566}"/>
              </a:ext>
            </a:extLst>
          </p:cNvPr>
          <p:cNvSpPr>
            <a:spLocks xmlns:a="http://schemas.openxmlformats.org/drawingml/2006/main" noGrp="1"/>
          </p:cNvSpPr>
          <p:nvPr/>
        </p:nvSpPr>
        <p:spPr>
          <a:xfrm xmlns:a="http://schemas.openxmlformats.org/drawingml/2006/main">
            <a:off x="628650" y="504825"/>
            <a:ext cx="109347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32A3C"/>
                </a:solidFill>
                <a:latin typeface="Arial"/>
                <a:ea typeface="Arial"/>
                <a:cs typeface="Arial"/>
              </a:defRPr>
            </a:pPr>
            <a:r>
              <a:rPr sz="3600" b="1">
                <a:solidFill>
                  <a:srgbClr val="132A3C"/>
                </a:solidFill>
                <a:latin typeface="Arial"/>
                <a:ea typeface="Arial"/>
                <a:cs typeface="Arial"/>
              </a:rPr>
              <a:t>Feedback that can support V2</a:t>
            </a:r>
          </a:p>
        </p:txBody>
      </p:sp>
      <p:sp>
        <p:nvSpPr>
          <p:cNvPr id="2" name="17">
            <a:extLst xmlns:a="http://schemas.openxmlformats.org/drawingml/2006/main">
              <a:ext uri="{FF2B5EF4-FFF2-40B4-BE49-F238E27FC236}">
                <a16:creationId xmlns:a16="http://schemas.microsoft.com/office/drawing/2014/main" id="{FF5A8699-9EE5-44B2-90CE-69B14E1F5845}"/>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17</a:t>
            </a:r>
          </a:p>
        </p:txBody>
      </p:sp>
      <p:sp>
        <p:nvSpPr>
          <p:cNvPr id="3" name="A planned pipeline with permission and review">
            <a:extLst xmlns:a="http://schemas.openxmlformats.org/drawingml/2006/main">
              <a:ext uri="{FF2B5EF4-FFF2-40B4-BE49-F238E27FC236}">
                <a16:creationId xmlns:a16="http://schemas.microsoft.com/office/drawing/2014/main" id="{DF5EEBF3-9AC6-4267-B182-B31C2F60F699}"/>
              </a:ext>
            </a:extLst>
          </p:cNvPr>
          <p:cNvSpPr>
            <a:spLocks xmlns:a="http://schemas.openxmlformats.org/drawingml/2006/main" noGrp="1"/>
          </p:cNvSpPr>
          <p:nvPr/>
        </p:nvSpPr>
        <p:spPr>
          <a:xfrm xmlns:a="http://schemas.openxmlformats.org/drawingml/2006/main">
            <a:off x="628650" y="1714500"/>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56B7F"/>
                </a:solidFill>
                <a:latin typeface="Arial"/>
                <a:ea typeface="Arial"/>
                <a:cs typeface="Arial"/>
              </a:defRPr>
            </a:pPr>
            <a:r>
              <a:rPr sz="2700" b="1">
                <a:solidFill>
                  <a:srgbClr val="256B7F"/>
                </a:solidFill>
                <a:latin typeface="Arial"/>
                <a:ea typeface="Arial"/>
                <a:cs typeface="Arial"/>
              </a:rPr>
              <a:t>A planned pipeline with permission and review</a:t>
            </a:r>
          </a:p>
        </p:txBody>
      </p:sp>
      <p:sp>
        <p:nvSpPr>
          <p:cNvPr id="4" name="Report or correct">
            <a:extLst xmlns:a="http://schemas.openxmlformats.org/drawingml/2006/main">
              <a:ext uri="{FF2B5EF4-FFF2-40B4-BE49-F238E27FC236}">
                <a16:creationId xmlns:a16="http://schemas.microsoft.com/office/drawing/2014/main" id="{8F1678F8-9CCA-47FE-857E-EC8C4D66CB74}"/>
              </a:ext>
            </a:extLst>
          </p:cNvPr>
          <p:cNvSpPr>
            <a:spLocks xmlns:a="http://schemas.openxmlformats.org/drawingml/2006/main" noGrp="1"/>
          </p:cNvSpPr>
          <p:nvPr/>
        </p:nvSpPr>
        <p:spPr>
          <a:xfrm xmlns:a="http://schemas.openxmlformats.org/drawingml/2006/main">
            <a:off x="628650" y="2752725"/>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32A3C"/>
                </a:solidFill>
                <a:latin typeface="Arial"/>
                <a:ea typeface="Arial"/>
                <a:cs typeface="Arial"/>
              </a:defRPr>
            </a:pPr>
            <a:r>
              <a:rPr sz="2175" b="1">
                <a:solidFill>
                  <a:srgbClr val="132A3C"/>
                </a:solidFill>
                <a:latin typeface="Arial"/>
                <a:ea typeface="Arial"/>
                <a:cs typeface="Arial"/>
              </a:rPr>
              <a:t>Report or correct</a:t>
            </a:r>
          </a:p>
        </p:txBody>
      </p:sp>
      <p:sp>
        <p:nvSpPr>
          <p:cNvPr id="5" name="Keep the prediction, failure category and useful context.">
            <a:extLst xmlns:a="http://schemas.openxmlformats.org/drawingml/2006/main">
              <a:ext uri="{FF2B5EF4-FFF2-40B4-BE49-F238E27FC236}">
                <a16:creationId xmlns:a16="http://schemas.microsoft.com/office/drawing/2014/main" id="{8D34281B-2A09-420D-A642-FB84A75CB254}"/>
              </a:ext>
            </a:extLst>
          </p:cNvPr>
          <p:cNvSpPr>
            <a:spLocks xmlns:a="http://schemas.openxmlformats.org/drawingml/2006/main" noGrp="1"/>
          </p:cNvSpPr>
          <p:nvPr/>
        </p:nvSpPr>
        <p:spPr>
          <a:xfrm xmlns:a="http://schemas.openxmlformats.org/drawingml/2006/main">
            <a:off x="4572000" y="2771775"/>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A3C"/>
                </a:solidFill>
                <a:latin typeface="Arial"/>
                <a:ea typeface="Arial"/>
                <a:cs typeface="Arial"/>
              </a:defRPr>
            </a:pPr>
            <a:r>
              <a:rPr sz="2025" b="0">
                <a:solidFill>
                  <a:srgbClr val="132A3C"/>
                </a:solidFill>
                <a:latin typeface="Arial"/>
                <a:ea typeface="Arial"/>
                <a:cs typeface="Arial"/>
              </a:rPr>
              <a:t>Keep the prediction, failure category and useful context.</a:t>
            </a:r>
          </a:p>
        </p:txBody>
      </p:sp>
      <p:sp>
        <p:nvSpPr>
          <p:cNvPr id="6" name="Consent and privacy">
            <a:extLst xmlns:a="http://schemas.openxmlformats.org/drawingml/2006/main">
              <a:ext uri="{FF2B5EF4-FFF2-40B4-BE49-F238E27FC236}">
                <a16:creationId xmlns:a16="http://schemas.microsoft.com/office/drawing/2014/main" id="{5D7E2A02-8A6B-4315-86B9-F163C78556C3}"/>
              </a:ext>
            </a:extLst>
          </p:cNvPr>
          <p:cNvSpPr>
            <a:spLocks xmlns:a="http://schemas.openxmlformats.org/drawingml/2006/main" noGrp="1"/>
          </p:cNvSpPr>
          <p:nvPr/>
        </p:nvSpPr>
        <p:spPr>
          <a:xfrm xmlns:a="http://schemas.openxmlformats.org/drawingml/2006/main">
            <a:off x="628650" y="3505200"/>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32A3C"/>
                </a:solidFill>
                <a:latin typeface="Arial"/>
                <a:ea typeface="Arial"/>
                <a:cs typeface="Arial"/>
              </a:defRPr>
            </a:pPr>
            <a:r>
              <a:rPr sz="2175" b="1">
                <a:solidFill>
                  <a:srgbClr val="132A3C"/>
                </a:solidFill>
                <a:latin typeface="Arial"/>
                <a:ea typeface="Arial"/>
                <a:cs typeface="Arial"/>
              </a:rPr>
              <a:t>Consent and privacy</a:t>
            </a:r>
          </a:p>
        </p:txBody>
      </p:sp>
      <p:sp>
        <p:nvSpPr>
          <p:cNvPr id="7" name="Record permission and screen out unsuitable information.">
            <a:extLst xmlns:a="http://schemas.openxmlformats.org/drawingml/2006/main">
              <a:ext uri="{FF2B5EF4-FFF2-40B4-BE49-F238E27FC236}">
                <a16:creationId xmlns:a16="http://schemas.microsoft.com/office/drawing/2014/main" id="{F527E1CA-EF83-4E2C-BB66-9792C85044CE}"/>
              </a:ext>
            </a:extLst>
          </p:cNvPr>
          <p:cNvSpPr>
            <a:spLocks xmlns:a="http://schemas.openxmlformats.org/drawingml/2006/main" noGrp="1"/>
          </p:cNvSpPr>
          <p:nvPr/>
        </p:nvSpPr>
        <p:spPr>
          <a:xfrm xmlns:a="http://schemas.openxmlformats.org/drawingml/2006/main">
            <a:off x="4572000" y="3524250"/>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A3C"/>
                </a:solidFill>
                <a:latin typeface="Arial"/>
                <a:ea typeface="Arial"/>
                <a:cs typeface="Arial"/>
              </a:defRPr>
            </a:pPr>
            <a:r>
              <a:rPr sz="2025" b="0">
                <a:solidFill>
                  <a:srgbClr val="132A3C"/>
                </a:solidFill>
                <a:latin typeface="Arial"/>
                <a:ea typeface="Arial"/>
                <a:cs typeface="Arial"/>
              </a:rPr>
              <a:t>Record permission and screen out unsuitable information.</a:t>
            </a:r>
          </a:p>
        </p:txBody>
      </p:sp>
      <p:sp>
        <p:nvSpPr>
          <p:cNvPr id="8" name="Verify the example">
            <a:extLst xmlns:a="http://schemas.openxmlformats.org/drawingml/2006/main">
              <a:ext uri="{FF2B5EF4-FFF2-40B4-BE49-F238E27FC236}">
                <a16:creationId xmlns:a16="http://schemas.microsoft.com/office/drawing/2014/main" id="{B9B4D534-97F7-4852-96F6-38D08B1E00E8}"/>
              </a:ext>
            </a:extLst>
          </p:cNvPr>
          <p:cNvSpPr>
            <a:spLocks xmlns:a="http://schemas.openxmlformats.org/drawingml/2006/main" noGrp="1"/>
          </p:cNvSpPr>
          <p:nvPr/>
        </p:nvSpPr>
        <p:spPr>
          <a:xfrm xmlns:a="http://schemas.openxmlformats.org/drawingml/2006/main">
            <a:off x="628650" y="4257675"/>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32A3C"/>
                </a:solidFill>
                <a:latin typeface="Arial"/>
                <a:ea typeface="Arial"/>
                <a:cs typeface="Arial"/>
              </a:defRPr>
            </a:pPr>
            <a:r>
              <a:rPr sz="2175" b="1">
                <a:solidFill>
                  <a:srgbClr val="132A3C"/>
                </a:solidFill>
                <a:latin typeface="Arial"/>
                <a:ea typeface="Arial"/>
                <a:cs typeface="Arial"/>
              </a:rPr>
              <a:t>Verify the example</a:t>
            </a:r>
          </a:p>
        </p:txBody>
      </p:sp>
      <p:sp>
        <p:nvSpPr>
          <p:cNvPr id="9" name="Review the correction against evidence before approval.">
            <a:extLst xmlns:a="http://schemas.openxmlformats.org/drawingml/2006/main">
              <a:ext uri="{FF2B5EF4-FFF2-40B4-BE49-F238E27FC236}">
                <a16:creationId xmlns:a16="http://schemas.microsoft.com/office/drawing/2014/main" id="{AA8D8838-6D5F-474E-B6F7-DE3089F04917}"/>
              </a:ext>
            </a:extLst>
          </p:cNvPr>
          <p:cNvSpPr>
            <a:spLocks xmlns:a="http://schemas.openxmlformats.org/drawingml/2006/main" noGrp="1"/>
          </p:cNvSpPr>
          <p:nvPr/>
        </p:nvSpPr>
        <p:spPr>
          <a:xfrm xmlns:a="http://schemas.openxmlformats.org/drawingml/2006/main">
            <a:off x="4572000" y="4276725"/>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A3C"/>
                </a:solidFill>
                <a:latin typeface="Arial"/>
                <a:ea typeface="Arial"/>
                <a:cs typeface="Arial"/>
              </a:defRPr>
            </a:pPr>
            <a:r>
              <a:rPr sz="2025" b="0">
                <a:solidFill>
                  <a:srgbClr val="132A3C"/>
                </a:solidFill>
                <a:latin typeface="Arial"/>
                <a:ea typeface="Arial"/>
                <a:cs typeface="Arial"/>
              </a:rPr>
              <a:t>Review the correction against evidence before approval.</a:t>
            </a:r>
          </a:p>
        </p:txBody>
      </p:sp>
      <p:sp>
        <p:nvSpPr>
          <p:cNvPr id="10" name="Version and evaluate">
            <a:extLst xmlns:a="http://schemas.openxmlformats.org/drawingml/2006/main">
              <a:ext uri="{FF2B5EF4-FFF2-40B4-BE49-F238E27FC236}">
                <a16:creationId xmlns:a16="http://schemas.microsoft.com/office/drawing/2014/main" id="{4F103FFF-F7E7-4884-94B1-98B52C5F5FF6}"/>
              </a:ext>
            </a:extLst>
          </p:cNvPr>
          <p:cNvSpPr>
            <a:spLocks xmlns:a="http://schemas.openxmlformats.org/drawingml/2006/main" noGrp="1"/>
          </p:cNvSpPr>
          <p:nvPr/>
        </p:nvSpPr>
        <p:spPr>
          <a:xfrm xmlns:a="http://schemas.openxmlformats.org/drawingml/2006/main">
            <a:off x="628650" y="5010150"/>
            <a:ext cx="3676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32A3C"/>
                </a:solidFill>
                <a:latin typeface="Arial"/>
                <a:ea typeface="Arial"/>
                <a:cs typeface="Arial"/>
              </a:defRPr>
            </a:pPr>
            <a:r>
              <a:rPr sz="2175" b="1">
                <a:solidFill>
                  <a:srgbClr val="132A3C"/>
                </a:solidFill>
                <a:latin typeface="Arial"/>
                <a:ea typeface="Arial"/>
                <a:cs typeface="Arial"/>
              </a:rPr>
              <a:t>Version and evaluate</a:t>
            </a:r>
          </a:p>
        </p:txBody>
      </p:sp>
      <p:sp>
        <p:nvSpPr>
          <p:cNvPr id="11" name="Track dataset membership, then test changes before training.">
            <a:extLst xmlns:a="http://schemas.openxmlformats.org/drawingml/2006/main">
              <a:ext uri="{FF2B5EF4-FFF2-40B4-BE49-F238E27FC236}">
                <a16:creationId xmlns:a16="http://schemas.microsoft.com/office/drawing/2014/main" id="{2AE0A07A-9FA7-451B-928D-7D0D3DD7A4F2}"/>
              </a:ext>
            </a:extLst>
          </p:cNvPr>
          <p:cNvSpPr>
            <a:spLocks xmlns:a="http://schemas.openxmlformats.org/drawingml/2006/main" noGrp="1"/>
          </p:cNvSpPr>
          <p:nvPr/>
        </p:nvSpPr>
        <p:spPr>
          <a:xfrm xmlns:a="http://schemas.openxmlformats.org/drawingml/2006/main">
            <a:off x="4572000" y="5029200"/>
            <a:ext cx="69627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32A3C"/>
                </a:solidFill>
                <a:latin typeface="Arial"/>
                <a:ea typeface="Arial"/>
                <a:cs typeface="Arial"/>
              </a:defRPr>
            </a:pPr>
            <a:r>
              <a:rPr sz="2025" b="0">
                <a:solidFill>
                  <a:srgbClr val="132A3C"/>
                </a:solidFill>
                <a:latin typeface="Arial"/>
                <a:ea typeface="Arial"/>
                <a:cs typeface="Arial"/>
              </a:rPr>
              <a:t>Track dataset membership, then test changes before training.</a:t>
            </a:r>
          </a:p>
        </p:txBody>
      </p:sp>
      <p:sp>
        <p:nvSpPr>
          <p:cNvPr id="12" name="Current ratings and corrections provide a starting point. Uploads">
            <a:extLst xmlns:a="http://schemas.openxmlformats.org/drawingml/2006/main">
              <a:ext uri="{FF2B5EF4-FFF2-40B4-BE49-F238E27FC236}">
                <a16:creationId xmlns:a16="http://schemas.microsoft.com/office/drawing/2014/main" id="{5DDC06A5-FB06-459F-A819-00C048DCE897}"/>
              </a:ext>
            </a:extLst>
          </p:cNvPr>
          <p:cNvSpPr>
            <a:spLocks xmlns:a="http://schemas.openxmlformats.org/drawingml/2006/main" noGrp="1"/>
          </p:cNvSpPr>
          <p:nvPr/>
        </p:nvSpPr>
        <p:spPr>
          <a:xfrm xmlns:a="http://schemas.openxmlformats.org/drawingml/2006/main">
            <a:off x="628650" y="60674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256B7F"/>
                </a:solidFill>
                <a:latin typeface="Arial"/>
                <a:ea typeface="Arial"/>
                <a:cs typeface="Arial"/>
              </a:defRPr>
            </a:pPr>
            <a:r>
              <a:rPr sz="1800" b="0">
                <a:solidFill>
                  <a:srgbClr val="256B7F"/>
                </a:solidFill>
                <a:latin typeface="Arial"/>
                <a:ea typeface="Arial"/>
                <a:cs typeface="Arial"/>
              </a:rPr>
              <a:t>Current ratings and corrections provide a starting point. Uploads do not automatically enter training.</a:t>
            </a:r>
          </a:p>
        </p:txBody>
      </p:sp>
    </p:spTree>
    <p:extLst>
      <p:ext uri="{BB962C8B-B14F-4D97-AF65-F5344CB8AC3E}">
        <p14:creationId xmlns:p14="http://schemas.microsoft.com/office/powerpoint/2010/main" val="889349862"/>
      </p:ext>
    </p:extLst>
  </p:cSld>
</p:sld>
</file>

<file path=ppt/slides/slide18.xml><?xml version="1.0" encoding="utf-8"?>
<p:sld xmlns:p="http://schemas.openxmlformats.org/presentationml/2006/main">
  <p:cSld>
    <p:bg>
      <p:bgPr>
        <a:solidFill xmlns:a="http://schemas.openxmlformats.org/drawingml/2006/main">
          <a:srgbClr val="EEF5F6"/>
        </a:solidFill>
      </p:bgPr>
    </p:bg>
    <p:spTree>
      <p:nvGrpSpPr>
        <p:cNvPr id="1" name=""/>
        <p:cNvGrpSpPr/>
        <p:nvPr/>
      </p:nvGrpSpPr>
      <p:grpSpPr>
        <a:xfrm xmlns:a="http://schemas.openxmlformats.org/drawingml/2006/main"/>
      </p:grpSpPr>
      <p:sp>
        <p:nvSpPr>
          <p:cNvPr id="6" name="18">
            <a:extLst xmlns:a="http://schemas.openxmlformats.org/drawingml/2006/main">
              <a:ext uri="{FF2B5EF4-FFF2-40B4-BE49-F238E27FC236}">
                <a16:creationId xmlns:a16="http://schemas.microsoft.com/office/drawing/2014/main" id="{847ECCB5-1162-4FD1-95EF-F4BC1ACD721C}"/>
              </a:ext>
            </a:extLst>
          </p:cNvPr>
          <p:cNvSpPr>
            <a:spLocks xmlns:a="http://schemas.openxmlformats.org/drawingml/2006/main" noGrp="1"/>
          </p:cNvSpPr>
          <p:nvPr/>
        </p:nvSpPr>
        <p:spPr>
          <a:xfrm xmlns:a="http://schemas.openxmlformats.org/drawingml/2006/main">
            <a:off x="11087100" y="6305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256B7F"/>
                </a:solidFill>
                <a:latin typeface="Arial"/>
                <a:ea typeface="Arial"/>
                <a:cs typeface="Arial"/>
              </a:defRPr>
            </a:pPr>
            <a:r>
              <a:rPr sz="1275" b="0">
                <a:solidFill>
                  <a:srgbClr val="256B7F"/>
                </a:solidFill>
                <a:latin typeface="Arial"/>
                <a:ea typeface="Arial"/>
                <a:cs typeface="Arial"/>
              </a:rPr>
              <a:t>18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082dd0ff8614e6c"/>
          <a:stretch xmlns:a="http://schemas.openxmlformats.org/drawingml/2006/main"/>
        </p:blipFill>
        <p:spPr>
          <a:xfrm xmlns:a="http://schemas.openxmlformats.org/drawingml/2006/main">
            <a:off x="628650" y="537287"/>
            <a:ext cx="5286375" cy="1773400"/>
          </a:xfrm>
          <a:prstGeom xmlns:a="http://schemas.openxmlformats.org/drawingml/2006/main" prst="rect">
            <a:avLst/>
          </a:prstGeom>
        </p:spPr>
      </p:pic>
      <p:sp>
        <p:nvSpPr>
          <p:cNvPr id="3" name="A photo that helps you">
            <a:extLst xmlns:a="http://schemas.openxmlformats.org/drawingml/2006/main">
              <a:ext uri="{FF2B5EF4-FFF2-40B4-BE49-F238E27FC236}">
                <a16:creationId xmlns:a16="http://schemas.microsoft.com/office/drawing/2014/main" id="{12C9D05C-BB05-43F8-8272-5D3A00ACC265}"/>
              </a:ext>
            </a:extLst>
          </p:cNvPr>
          <p:cNvSpPr>
            <a:spLocks xmlns:a="http://schemas.openxmlformats.org/drawingml/2006/main" noGrp="1"/>
          </p:cNvSpPr>
          <p:nvPr/>
        </p:nvSpPr>
        <p:spPr>
          <a:xfrm xmlns:a="http://schemas.openxmlformats.org/drawingml/2006/main">
            <a:off x="628650" y="2724150"/>
            <a:ext cx="107537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132A3C"/>
                </a:solidFill>
                <a:latin typeface="Arial"/>
                <a:ea typeface="Arial"/>
                <a:cs typeface="Arial"/>
              </a:defRPr>
            </a:pPr>
            <a:r>
              <a:rPr sz="4275" b="1">
                <a:solidFill>
                  <a:srgbClr val="132A3C"/>
                </a:solidFill>
                <a:latin typeface="Arial"/>
                <a:ea typeface="Arial"/>
                <a:cs typeface="Arial"/>
              </a:rPr>
              <a:t>A photo that helps you</a:t>
            </a:r>
          </a:p>
          <a:p xmlns:a="http://schemas.openxmlformats.org/drawingml/2006/main">
            <a:pPr>
              <a:defRPr sz="4275" b="1">
                <a:solidFill>
                  <a:srgbClr val="132A3C"/>
                </a:solidFill>
                <a:latin typeface="Arial"/>
                <a:ea typeface="Arial"/>
                <a:cs typeface="Arial"/>
              </a:defRPr>
            </a:pPr>
            <a:r>
              <a:rPr sz="4275" b="1">
                <a:solidFill>
                  <a:srgbClr val="132A3C"/>
                </a:solidFill>
                <a:latin typeface="Arial"/>
                <a:ea typeface="Arial"/>
                <a:cs typeface="Arial"/>
              </a:rPr>
              <a:t>understand the part</a:t>
            </a:r>
          </a:p>
        </p:txBody>
      </p:sp>
      <p:sp>
        <p:nvSpPr>
          <p:cNvPr id="4" name="Useful information. Clear evidence.">
            <a:extLst xmlns:a="http://schemas.openxmlformats.org/drawingml/2006/main">
              <a:ext uri="{FF2B5EF4-FFF2-40B4-BE49-F238E27FC236}">
                <a16:creationId xmlns:a16="http://schemas.microsoft.com/office/drawing/2014/main" id="{F5D74132-56DE-4912-9929-712FFEAB743F}"/>
              </a:ext>
            </a:extLst>
          </p:cNvPr>
          <p:cNvSpPr>
            <a:spLocks xmlns:a="http://schemas.openxmlformats.org/drawingml/2006/main" noGrp="1"/>
          </p:cNvSpPr>
          <p:nvPr/>
        </p:nvSpPr>
        <p:spPr>
          <a:xfrm xmlns:a="http://schemas.openxmlformats.org/drawingml/2006/main">
            <a:off x="628650" y="4733925"/>
            <a:ext cx="1052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256B7F"/>
                </a:solidFill>
                <a:latin typeface="Arial"/>
                <a:ea typeface="Arial"/>
                <a:cs typeface="Arial"/>
              </a:defRPr>
            </a:pPr>
            <a:r>
              <a:rPr sz="2475" b="0">
                <a:solidFill>
                  <a:srgbClr val="256B7F"/>
                </a:solidFill>
                <a:latin typeface="Arial"/>
                <a:ea typeface="Arial"/>
                <a:cs typeface="Arial"/>
              </a:rPr>
              <a:t>Useful information. Clear evidence.</a:t>
            </a:r>
          </a:p>
          <a:p xmlns:a="http://schemas.openxmlformats.org/drawingml/2006/main">
            <a:pPr>
              <a:defRPr sz="2475" b="0">
                <a:solidFill>
                  <a:srgbClr val="256B7F"/>
                </a:solidFill>
                <a:latin typeface="Arial"/>
                <a:ea typeface="Arial"/>
                <a:cs typeface="Arial"/>
              </a:defRPr>
            </a:pPr>
            <a:r>
              <a:rPr sz="2475" b="0">
                <a:solidFill>
                  <a:srgbClr val="256B7F"/>
                </a:solidFill>
                <a:latin typeface="Arial"/>
                <a:ea typeface="Arial"/>
                <a:cs typeface="Arial"/>
              </a:rPr>
              <a:t>A simple way to tell us what went wrong.</a:t>
            </a:r>
          </a:p>
        </p:txBody>
      </p:sp>
      <p:sp>
        <p:nvSpPr>
          <p:cNvPr id="5" name="Next: finish the focused V1, test with real users and let the evi">
            <a:extLst xmlns:a="http://schemas.openxmlformats.org/drawingml/2006/main">
              <a:ext uri="{FF2B5EF4-FFF2-40B4-BE49-F238E27FC236}">
                <a16:creationId xmlns:a16="http://schemas.microsoft.com/office/drawing/2014/main" id="{A35B6AAF-233E-4BD6-91DC-0A8959490296}"/>
              </a:ext>
            </a:extLst>
          </p:cNvPr>
          <p:cNvSpPr>
            <a:spLocks xmlns:a="http://schemas.openxmlformats.org/drawingml/2006/main" noGrp="1"/>
          </p:cNvSpPr>
          <p:nvPr/>
        </p:nvSpPr>
        <p:spPr>
          <a:xfrm xmlns:a="http://schemas.openxmlformats.org/drawingml/2006/main">
            <a:off x="628650" y="6115050"/>
            <a:ext cx="105060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32A3C"/>
                </a:solidFill>
                <a:latin typeface="Arial"/>
                <a:ea typeface="Arial"/>
                <a:cs typeface="Arial"/>
              </a:defRPr>
            </a:pPr>
            <a:r>
              <a:rPr sz="1800" b="0">
                <a:solidFill>
                  <a:srgbClr val="132A3C"/>
                </a:solidFill>
                <a:latin typeface="Arial"/>
                <a:ea typeface="Arial"/>
                <a:cs typeface="Arial"/>
              </a:rPr>
              <a:t>Next: finish the focused V1, test with real users and let the evidence guide V2.</a:t>
            </a:r>
          </a:p>
        </p:txBody>
      </p:sp>
    </p:spTree>
    <p:extLst>
      <p:ext uri="{BB962C8B-B14F-4D97-AF65-F5344CB8AC3E}">
        <p14:creationId xmlns:p14="http://schemas.microsoft.com/office/powerpoint/2010/main" val="5951818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2026-09-26T19:05:33.2440000Z</dcterms:created>
  <dcterms:modified xsi:type="dcterms:W3CDTF">2026-09-26T19:05:33.2440000Z</dcterms:modified>
</coreProperties>
</file>