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ffe39bdda64c5d" /><Relationship Type="http://schemas.openxmlformats.org/officeDocument/2006/relationships/extended-properties" Target="/docProps/app.xml" Id="R7daf4a7bd77a4f9e" /><Relationship Type="http://schemas.openxmlformats.org/officeDocument/2006/relationships/officeDocument" Target="/ppt/presentation.xml" Id="R86a88ce4a19c4ff0" /></Relationships>
</file>

<file path=ppt/presentation.xml><?xml version="1.0" encoding="utf-8"?>
<p:presentation xmlns:p="http://schemas.openxmlformats.org/presentationml/2006/main">
  <p:sldMasterIdLst>
    <p:sldMasterId xmlns:r="http://schemas.openxmlformats.org/officeDocument/2006/relationships" id="2147483648" r:id="R95ed95962e3b47f2"/>
  </p:sldMasterIdLst>
  <p:notesMasterIdLst>
    <p:notesMasterId xmlns:r="http://schemas.openxmlformats.org/officeDocument/2006/relationships" r:id="R180b719ffd664564"/>
  </p:notesMasterIdLst>
  <p:sldIdLst>
    <p:sldId xmlns:r="http://schemas.openxmlformats.org/officeDocument/2006/relationships" id="256" r:id="Rd0b46cbc4ac94a6c"/>
    <p:sldId xmlns:r="http://schemas.openxmlformats.org/officeDocument/2006/relationships" id="257" r:id="Reb2e0a7d2acd49a4"/>
    <p:sldId xmlns:r="http://schemas.openxmlformats.org/officeDocument/2006/relationships" id="258" r:id="Re6a871514b114059"/>
    <p:sldId xmlns:r="http://schemas.openxmlformats.org/officeDocument/2006/relationships" id="259" r:id="Re4fd37647ff3485e"/>
    <p:sldId xmlns:r="http://schemas.openxmlformats.org/officeDocument/2006/relationships" id="260" r:id="Re5c6ae1b546f417d"/>
    <p:sldId xmlns:r="http://schemas.openxmlformats.org/officeDocument/2006/relationships" id="261" r:id="Ree7b42a67ac04adf"/>
    <p:sldId xmlns:r="http://schemas.openxmlformats.org/officeDocument/2006/relationships" id="262" r:id="Rd4a16d2a3bcb4c55"/>
    <p:sldId xmlns:r="http://schemas.openxmlformats.org/officeDocument/2006/relationships" id="263" r:id="R435401ddace642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b418df7e5b474b" /><Relationship Type="http://schemas.openxmlformats.org/officeDocument/2006/relationships/slideMaster" Target="/ppt/slideMasters/slideMaster1.xml" Id="R95ed95962e3b47f2" /><Relationship Type="http://schemas.openxmlformats.org/officeDocument/2006/relationships/notesMaster" Target="/ppt/notesMasters/notesMaster1.xml" Id="R180b719ffd664564" /><Relationship Type="http://schemas.openxmlformats.org/officeDocument/2006/relationships/presProps" Target="/ppt/presProps.xml" Id="R1acba32161244aff" /><Relationship Type="http://schemas.openxmlformats.org/officeDocument/2006/relationships/tableStyles" Target="/ppt/tableStyles.xml" Id="R3352b95c840f4907" /><Relationship Type="http://schemas.openxmlformats.org/officeDocument/2006/relationships/slide" Target="/ppt/slides/slide1.xml" Id="Rd0b46cbc4ac94a6c" /><Relationship Type="http://schemas.openxmlformats.org/officeDocument/2006/relationships/slide" Target="/ppt/slides/slide2.xml" Id="Reb2e0a7d2acd49a4" /><Relationship Type="http://schemas.openxmlformats.org/officeDocument/2006/relationships/slide" Target="/ppt/slides/slide3.xml" Id="Re6a871514b114059" /><Relationship Type="http://schemas.openxmlformats.org/officeDocument/2006/relationships/slide" Target="/ppt/slides/slide4.xml" Id="Re4fd37647ff3485e" /><Relationship Type="http://schemas.openxmlformats.org/officeDocument/2006/relationships/slide" Target="/ppt/slides/slide5.xml" Id="Re5c6ae1b546f417d" /><Relationship Type="http://schemas.openxmlformats.org/officeDocument/2006/relationships/slide" Target="/ppt/slides/slide6.xml" Id="Ree7b42a67ac04adf" /><Relationship Type="http://schemas.openxmlformats.org/officeDocument/2006/relationships/slide" Target="/ppt/slides/slide7.xml" Id="Rd4a16d2a3bcb4c55" /><Relationship Type="http://schemas.openxmlformats.org/officeDocument/2006/relationships/slide" Target="/ppt/slides/slide8.xml" Id="R435401ddace642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63c0b62dd744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df74009efe4921" /><Relationship Type="http://schemas.openxmlformats.org/officeDocument/2006/relationships/notesMaster" Target="/ppt/notesMasters/notesMaster1.xml" Id="R0948dec48c3f49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37152705e14fca" /><Relationship Type="http://schemas.openxmlformats.org/officeDocument/2006/relationships/notesMaster" Target="/ppt/notesMasters/notesMaster1.xml" Id="R6656119099d745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e5b802717a429f" /><Relationship Type="http://schemas.openxmlformats.org/officeDocument/2006/relationships/notesMaster" Target="/ppt/notesMasters/notesMaster1.xml" Id="R5ce1735833d84e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f131ff6a094f98" /><Relationship Type="http://schemas.openxmlformats.org/officeDocument/2006/relationships/notesMaster" Target="/ppt/notesMasters/notesMaster1.xml" Id="R84f21d9befc045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716ad789924605" /><Relationship Type="http://schemas.openxmlformats.org/officeDocument/2006/relationships/notesMaster" Target="/ppt/notesMasters/notesMaster1.xml" Id="R24206116ab8345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dbccce47374154" /><Relationship Type="http://schemas.openxmlformats.org/officeDocument/2006/relationships/notesMaster" Target="/ppt/notesMasters/notesMaster1.xml" Id="R1d7aa6f54c0a44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49dd75f765417c" /><Relationship Type="http://schemas.openxmlformats.org/officeDocument/2006/relationships/notesMaster" Target="/ppt/notesMasters/notesMaster1.xml" Id="R7a589fb1a08943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b828bc71b14b5b" /><Relationship Type="http://schemas.openxmlformats.org/officeDocument/2006/relationships/notesMaster" Target="/ppt/notesMasters/notesMaster1.xml" Id="Rf7c44ebe065d43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proposal for one seller. No seller study, measured time savings or paid commitment has been established. The illustration is decorative and does not show a scanned customer part.</a:t>
            </a:r>
          </a:p>
          <a:p xmlns:a="http://schemas.openxmlformats.org/drawingml/2006/main">
            <a:r>
              <a:t/>
            </a:r>
          </a:p>
          <a:p xmlns:a="http://schemas.openxmlformats.org/drawingml/2006/main">
            <a:r>
              <a:t>Sources</a:t>
            </a:r>
          </a:p>
          <a:p xmlns:a="http://schemas.openxmlformats.org/drawingml/2006/main">
            <a:r>
              <a:t>docs/PILOT_RUNBOOK.md</a:t>
            </a:r>
          </a:p>
          <a:p xmlns:a="http://schemas.openxmlformats.org/drawingml/2006/main">
            <a:r>
              <a:t>docs/UI_POLISH_2026-09-21.md</a:t>
            </a:r>
          </a:p>
          <a:p xmlns:a="http://schemas.openxmlformats.org/drawingml/2006/main">
            <a:r>
              <a:t>public/brand/alternator-workbench.webp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time-saving premise is a hypothesis. The trial observes the current intake workflow, including identification, documentation and required functional checks. It does not remove safety or testing work to improve the timing result.</a:t>
            </a:r>
          </a:p>
          <a:p xmlns:a="http://schemas.openxmlformats.org/drawingml/2006/main">
            <a:r>
              <a:t/>
            </a:r>
          </a:p>
          <a:p xmlns:a="http://schemas.openxmlformats.org/drawingml/2006/main">
            <a:r>
              <a:t>Sources</a:t>
            </a:r>
          </a:p>
          <a:p xmlns:a="http://schemas.openxmlformats.org/drawingml/2006/main">
            <a:r>
              <a:t>docs/PILOT_RUNBOOK.md</a:t>
            </a:r>
          </a:p>
          <a:p xmlns:a="http://schemas.openxmlformats.org/drawingml/2006/main">
            <a:r>
              <a:t>src/components/result/PartInspectionForm.tsx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 inspection fields remain separate from the AI result. No visible damage does not mean functional success. Recorded tests are not safety certification. DeepSpec does not claim 3D measurement, hidden-defect detection or a custom trained model. Photo storage permission does not imply training permission.</a:t>
            </a:r>
          </a:p>
          <a:p xmlns:a="http://schemas.openxmlformats.org/drawingml/2006/main">
            <a:r>
              <a:t/>
            </a:r>
          </a:p>
          <a:p xmlns:a="http://schemas.openxmlformats.org/drawingml/2006/main">
            <a:r>
              <a:t>Sources</a:t>
            </a:r>
          </a:p>
          <a:p xmlns:a="http://schemas.openxmlformats.org/drawingml/2006/main">
            <a:r>
              <a:t>docs/PILOT_RUNBOOK.md</a:t>
            </a:r>
          </a:p>
          <a:p xmlns:a="http://schemas.openxmlformats.org/drawingml/2006/main">
            <a:r>
              <a:t>src/components/result/PartInspectionForm.tsx</a:t>
            </a:r>
          </a:p>
          <a:p xmlns:a="http://schemas.openxmlformats.org/drawingml/2006/main">
            <a:r>
              <a:t>docs/PART_INSPECTION_PILOT.md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application screenshot from browser QA on September 26, 2026. Fictional QA records and controlled cloud failures. This verifies a local recovery behavior, not successful live inspection-cloud persistence. Drafts are scoped to the signed-in account on the device. Browser storage can fail or be cleared. UI preserves typed text and offers a manual download when storage fails. Concurrent checks are not atomic cloud conflict resolution.</a:t>
            </a:r>
          </a:p>
          <a:p xmlns:a="http://schemas.openxmlformats.org/drawingml/2006/main">
            <a:r>
              <a:t/>
            </a:r>
          </a:p>
          <a:p xmlns:a="http://schemas.openxmlformats.org/drawingml/2006/main">
            <a:r>
              <a:t>Sources</a:t>
            </a:r>
          </a:p>
          <a:p xmlns:a="http://schemas.openxmlformats.org/drawingml/2006/main">
            <a:r>
              <a:t>src/components/result/PartInspectionForm.tsx</a:t>
            </a:r>
          </a:p>
          <a:p xmlns:a="http://schemas.openxmlformats.org/drawingml/2006/main">
            <a:r>
              <a:t>src/services/inspectionDraft.ts</a:t>
            </a:r>
          </a:p>
          <a:p xmlns:a="http://schemas.openxmlformats.org/drawingml/2006/main">
            <a:r>
              <a:t>artifacts/qa/2026-09-26T16-20-49-881Z/report.md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small feasibility study. Ten manual baseline observations are separate from the later twenty-part comparison batch. Balance easy/hard cases and alternate workflows to reduce order effects. Distinct physical parts across arms and batches. Count retakes as captures of the same observation, not independent parts. Keep onboarding and support time separate. Do not infer causal or population-level accuracy from this tiny study.</a:t>
            </a:r>
          </a:p>
          <a:p xmlns:a="http://schemas.openxmlformats.org/drawingml/2006/main">
            <a:r>
              <a:t/>
            </a:r>
          </a:p>
          <a:p xmlns:a="http://schemas.openxmlformats.org/drawingml/2006/main">
            <a:r>
              <a:t>Sources</a:t>
            </a:r>
          </a:p>
          <a:p xmlns:a="http://schemas.openxmlformats.org/drawingml/2006/main">
            <a:r>
              <a:t>docs/PILOT_RUNBOOK.md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continuation threshold from the pilot protocol: at least 30% lower median active time without more wrong accepted identities than manual intake. This is a target and does not establish business value. Also review completed/abandoned outcomes, unresolved identities, missing measurements, elapsed time, retakes, observed provider cost and support. An unsupported identity used externally stops expansion. No validated willingness to pay or prices exist.</a:t>
            </a:r>
          </a:p>
          <a:p xmlns:a="http://schemas.openxmlformats.org/drawingml/2006/main">
            <a:r>
              <a:t/>
            </a:r>
          </a:p>
          <a:p xmlns:a="http://schemas.openxmlformats.org/drawingml/2006/main">
            <a:r>
              <a:t>Sources</a:t>
            </a:r>
          </a:p>
          <a:p xmlns:a="http://schemas.openxmlformats.org/drawingml/2006/main">
            <a:r>
              <a:t>docs/PILOT_RUNBOOK.md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of the September 26 checklist, read-only inspection-column preflight returned missing column inspection_json. GitHub Actions lacked VITE_SUPABASE_URL and VITE_SUPABASE_PUBLISHABLE_KEY for auth verification. Apply production changes only through review. A successful ordinary CI cloud test does not replace npm run verify:supabase -- --inspection. Physical-phone and seller evidence remains outstanding. Until applicable gates pass, use only a clearly labeled local rehearsal.</a:t>
            </a:r>
          </a:p>
          <a:p xmlns:a="http://schemas.openxmlformats.org/drawingml/2006/main">
            <a:r>
              <a:t/>
            </a:r>
          </a:p>
          <a:p xmlns:a="http://schemas.openxmlformats.org/drawingml/2006/main">
            <a:r>
              <a:t>Sources</a:t>
            </a:r>
          </a:p>
          <a:p xmlns:a="http://schemas.openxmlformats.org/drawingml/2006/main">
            <a:r>
              <a:t>docs/PRIVATE_BETA_RELEASE_CHECKLIST.md</a:t>
            </a:r>
          </a:p>
          <a:p xmlns:a="http://schemas.openxmlformats.org/drawingml/2006/main">
            <a:r>
              <a:t>docs/PILOT_RUNBOOK.md</a:t>
            </a:r>
          </a:p>
          <a:p xmlns:a="http://schemas.openxmlformats.org/drawingml/2006/main">
            <a:r>
              <a:t>supabase/migrations/20260920000100_part_inspection.sql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invitation, not sent by this task. Choose one seller and one operator, agree on photo storage and the observation protocol before the trial. No model training or public-sharing permission is implied. Stop for lost records, cross-account exposure or unsupported identities accepted externally. Ask yes/no/not-yet about continuation after reporting real results, then record proposed scope, quoted price and reasons.</a:t>
            </a:r>
          </a:p>
          <a:p xmlns:a="http://schemas.openxmlformats.org/drawingml/2006/main">
            <a:r>
              <a:t/>
            </a:r>
          </a:p>
          <a:p xmlns:a="http://schemas.openxmlformats.org/drawingml/2006/main">
            <a:r>
              <a:t>Sources</a:t>
            </a:r>
          </a:p>
          <a:p xmlns:a="http://schemas.openxmlformats.org/drawingml/2006/main">
            <a:r>
              <a:t>docs/PILOT_RUNBOOK.md</a:t>
            </a:r>
          </a:p>
          <a:p xmlns:a="http://schemas.openxmlformats.org/drawingml/2006/main">
            <a:r>
              <a:t>docs/PRIVATE_BETA_RELEASE_CHECKLIST.md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85541896174c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dbccf4e30c4405" /><Relationship Type="http://schemas.openxmlformats.org/officeDocument/2006/relationships/slideLayout" Target="/ppt/slideLayouts/slideLayout1.xml" Id="R75cfc75d40774e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cfc75d40774e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026e9e43ab4b73" /><Relationship Type="http://schemas.openxmlformats.org/officeDocument/2006/relationships/image" Target="/ppt/media/image.bin" Id="R151c016fa4ce43a9" /><Relationship Type="http://schemas.openxmlformats.org/officeDocument/2006/relationships/notesSlide" Target="/ppt/notesSlides/notesSlide1.xml" Id="R356c1e7e11e146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98dd9b1df54bb8" /><Relationship Type="http://schemas.openxmlformats.org/officeDocument/2006/relationships/notesSlide" Target="/ppt/notesSlides/notesSlide2.xml" Id="R08ca5d7a50db4c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b0c1bc879d47d4" /><Relationship Type="http://schemas.openxmlformats.org/officeDocument/2006/relationships/notesSlide" Target="/ppt/notesSlides/notesSlide3.xml" Id="Ra6b11c3aa9054a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22b18e4358414a" /><Relationship Type="http://schemas.openxmlformats.org/officeDocument/2006/relationships/image" Target="/ppt/media/image.png" Id="R229c357c063b4ce5" /><Relationship Type="http://schemas.openxmlformats.org/officeDocument/2006/relationships/notesSlide" Target="/ppt/notesSlides/notesSlide4.xml" Id="Rd135ebae08c548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4986be0355b4810" /><Relationship Type="http://schemas.openxmlformats.org/officeDocument/2006/relationships/notesSlide" Target="/ppt/notesSlides/notesSlide5.xml" Id="R3fa15def800447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1fab3a670b4a38" /><Relationship Type="http://schemas.openxmlformats.org/officeDocument/2006/relationships/notesSlide" Target="/ppt/notesSlides/notesSlide6.xml" Id="R9248ce41fa334b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18a2bcbc8f41e8" /><Relationship Type="http://schemas.openxmlformats.org/officeDocument/2006/relationships/notesSlide" Target="/ppt/notesSlides/notesSlide7.xml" Id="Rfbbe18ad954747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ea554d6d2c412e" /><Relationship Type="http://schemas.openxmlformats.org/officeDocument/2006/relationships/notesSlide" Target="/ppt/notesSlides/notesSlide8.xml" Id="R3d3f8c79fa6e430c" /></Relationships>
</file>

<file path=ppt/slides/slide1.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A2A11340-9BDC-4AF1-9E1C-CAD91A5A598E}"/>
              </a:ext>
            </a:extLst>
          </p:cNvPr>
          <p:cNvSpPr>
            <a:spLocks xmlns:a="http://schemas.openxmlformats.org/drawingml/2006/main" noGrp="1"/>
          </p:cNvSpPr>
          <p:nvPr/>
        </p:nvSpPr>
        <p:spPr>
          <a:xfrm xmlns:a="http://schemas.openxmlformats.org/drawingml/2006/main">
            <a:off x="11049000" y="6238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9DB8C8"/>
                </a:solidFill>
                <a:latin typeface="Arial"/>
                <a:ea typeface="Arial"/>
                <a:cs typeface="Arial"/>
              </a:defRPr>
            </a:pPr>
            <a:r>
              <a:rPr sz="1275" b="0">
                <a:solidFill>
                  <a:srgbClr val="9DB8C8"/>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51c016fa4ce43a9"/>
          <a:srcRect xmlns:a="http://schemas.openxmlformats.org/drawingml/2006/main" l="0" t="368" r="0" b="368"/>
          <a:stretch xmlns:a="http://schemas.openxmlformats.org/drawingml/2006/main">
            <a:fillRect l="0" t="0" r="0" b="0"/>
          </a:stretch>
        </p:blipFill>
        <p:spPr>
          <a:xfrm xmlns:a="http://schemas.openxmlformats.org/drawingml/2006/main">
            <a:off x="7010400" y="0"/>
            <a:ext cx="5181600" cy="6858000"/>
          </a:xfrm>
          <a:prstGeom xmlns:a="http://schemas.openxmlformats.org/drawingml/2006/main" prst="rect">
            <a:avLst/>
          </a:prstGeom>
        </p:spPr>
      </p:pic>
      <p:sp>
        <p:nvSpPr>
          <p:cNvPr id="3" name="DeepSpec">
            <a:extLst xmlns:a="http://schemas.openxmlformats.org/drawingml/2006/main">
              <a:ext uri="{FF2B5EF4-FFF2-40B4-BE49-F238E27FC236}">
                <a16:creationId xmlns:a16="http://schemas.microsoft.com/office/drawing/2014/main" id="{407D3DF6-0BB8-4970-8F26-780194053C94}"/>
              </a:ext>
            </a:extLst>
          </p:cNvPr>
          <p:cNvSpPr>
            <a:spLocks xmlns:a="http://schemas.openxmlformats.org/drawingml/2006/main" noGrp="1"/>
          </p:cNvSpPr>
          <p:nvPr/>
        </p:nvSpPr>
        <p:spPr>
          <a:xfrm xmlns:a="http://schemas.openxmlformats.org/drawingml/2006/main">
            <a:off x="666750" y="819150"/>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F4FAFB"/>
                </a:solidFill>
                <a:latin typeface="Arial"/>
                <a:ea typeface="Arial"/>
                <a:cs typeface="Arial"/>
              </a:defRPr>
            </a:pPr>
            <a:r>
              <a:rPr sz="5700" b="1">
                <a:solidFill>
                  <a:srgbClr val="F4FAFB"/>
                </a:solidFill>
                <a:latin typeface="Arial"/>
                <a:ea typeface="Arial"/>
                <a:cs typeface="Arial"/>
              </a:rPr>
              <a:t>DeepSpec</a:t>
            </a:r>
          </a:p>
        </p:txBody>
      </p:sp>
      <p:sp>
        <p:nvSpPr>
          <p:cNvPr id="4" name="A small trial">
            <a:extLst xmlns:a="http://schemas.openxmlformats.org/drawingml/2006/main">
              <a:ext uri="{FF2B5EF4-FFF2-40B4-BE49-F238E27FC236}">
                <a16:creationId xmlns:a16="http://schemas.microsoft.com/office/drawing/2014/main" id="{524CC6B6-F5A1-4994-A648-79E98E855411}"/>
              </a:ext>
            </a:extLst>
          </p:cNvPr>
          <p:cNvSpPr>
            <a:spLocks xmlns:a="http://schemas.openxmlformats.org/drawingml/2006/main" noGrp="1"/>
          </p:cNvSpPr>
          <p:nvPr/>
        </p:nvSpPr>
        <p:spPr>
          <a:xfrm xmlns:a="http://schemas.openxmlformats.org/drawingml/2006/main">
            <a:off x="666750" y="2038350"/>
            <a:ext cx="628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B8E3E9"/>
                </a:solidFill>
                <a:latin typeface="Arial"/>
                <a:ea typeface="Arial"/>
                <a:cs typeface="Arial"/>
              </a:defRPr>
            </a:pPr>
            <a:r>
              <a:rPr sz="4350" b="1">
                <a:solidFill>
                  <a:srgbClr val="B8E3E9"/>
                </a:solidFill>
                <a:latin typeface="Arial"/>
                <a:ea typeface="Arial"/>
                <a:cs typeface="Arial"/>
              </a:rPr>
              <a:t>A small trial</a:t>
            </a:r>
          </a:p>
          <a:p xmlns:a="http://schemas.openxmlformats.org/drawingml/2006/main">
            <a:pPr>
              <a:defRPr sz="4350" b="1">
                <a:solidFill>
                  <a:srgbClr val="B8E3E9"/>
                </a:solidFill>
                <a:latin typeface="Arial"/>
                <a:ea typeface="Arial"/>
                <a:cs typeface="Arial"/>
              </a:defRPr>
            </a:pPr>
            <a:r>
              <a:rPr sz="4350" b="1">
                <a:solidFill>
                  <a:srgbClr val="B8E3E9"/>
                </a:solidFill>
                <a:latin typeface="Arial"/>
                <a:ea typeface="Arial"/>
                <a:cs typeface="Arial"/>
              </a:rPr>
              <a:t>for parts intake</a:t>
            </a:r>
          </a:p>
        </p:txBody>
      </p:sp>
      <p:sp>
        <p:nvSpPr>
          <p:cNvPr id="5" name="AI-assisted identification and">
            <a:extLst xmlns:a="http://schemas.openxmlformats.org/drawingml/2006/main">
              <a:ext uri="{FF2B5EF4-FFF2-40B4-BE49-F238E27FC236}">
                <a16:creationId xmlns:a16="http://schemas.microsoft.com/office/drawing/2014/main" id="{D76E9EAE-8910-4A7E-84D1-C9601FC5E02C}"/>
              </a:ext>
            </a:extLst>
          </p:cNvPr>
          <p:cNvSpPr>
            <a:spLocks xmlns:a="http://schemas.openxmlformats.org/drawingml/2006/main" noGrp="1"/>
          </p:cNvSpPr>
          <p:nvPr/>
        </p:nvSpPr>
        <p:spPr>
          <a:xfrm xmlns:a="http://schemas.openxmlformats.org/drawingml/2006/main">
            <a:off x="666750" y="3943350"/>
            <a:ext cx="5810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4FAFB"/>
                </a:solidFill>
                <a:latin typeface="Arial"/>
                <a:ea typeface="Arial"/>
                <a:cs typeface="Arial"/>
              </a:defRPr>
            </a:pPr>
            <a:r>
              <a:rPr sz="2325" b="0">
                <a:solidFill>
                  <a:srgbClr val="F4FAFB"/>
                </a:solidFill>
                <a:latin typeface="Arial"/>
                <a:ea typeface="Arial"/>
                <a:cs typeface="Arial"/>
              </a:rPr>
              <a:t>AI-assisted identification and</a:t>
            </a:r>
          </a:p>
          <a:p xmlns:a="http://schemas.openxmlformats.org/drawingml/2006/main">
            <a:pPr>
              <a:defRPr sz="2325" b="0">
                <a:solidFill>
                  <a:srgbClr val="F4FAFB"/>
                </a:solidFill>
                <a:latin typeface="Arial"/>
                <a:ea typeface="Arial"/>
                <a:cs typeface="Arial"/>
              </a:defRPr>
            </a:pPr>
            <a:r>
              <a:rPr sz="2325" b="0">
                <a:solidFill>
                  <a:srgbClr val="F4FAFB"/>
                </a:solidFill>
                <a:latin typeface="Arial"/>
                <a:ea typeface="Arial"/>
                <a:cs typeface="Arial"/>
              </a:rPr>
              <a:t>human inspection records</a:t>
            </a:r>
          </a:p>
        </p:txBody>
      </p:sp>
      <p:sp>
        <p:nvSpPr>
          <p:cNvPr id="6" name="Private beta proposal">
            <a:extLst xmlns:a="http://schemas.openxmlformats.org/drawingml/2006/main">
              <a:ext uri="{FF2B5EF4-FFF2-40B4-BE49-F238E27FC236}">
                <a16:creationId xmlns:a16="http://schemas.microsoft.com/office/drawing/2014/main" id="{76A1953C-339B-4DE9-B269-56A9EFE825B6}"/>
              </a:ext>
            </a:extLst>
          </p:cNvPr>
          <p:cNvSpPr>
            <a:spLocks xmlns:a="http://schemas.openxmlformats.org/drawingml/2006/main" noGrp="1"/>
          </p:cNvSpPr>
          <p:nvPr/>
        </p:nvSpPr>
        <p:spPr>
          <a:xfrm xmlns:a="http://schemas.openxmlformats.org/drawingml/2006/main">
            <a:off x="666750" y="5734050"/>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9DB8C8"/>
                </a:solidFill>
                <a:latin typeface="Arial"/>
                <a:ea typeface="Arial"/>
                <a:cs typeface="Arial"/>
              </a:defRPr>
            </a:pPr>
            <a:r>
              <a:rPr sz="1650" b="0">
                <a:solidFill>
                  <a:srgbClr val="9DB8C8"/>
                </a:solidFill>
                <a:latin typeface="Arial"/>
                <a:ea typeface="Arial"/>
                <a:cs typeface="Arial"/>
              </a:rPr>
              <a:t>Private beta proposal</a:t>
            </a:r>
          </a:p>
          <a:p xmlns:a="http://schemas.openxmlformats.org/drawingml/2006/main">
            <a:pPr>
              <a:defRPr sz="1650" b="0">
                <a:solidFill>
                  <a:srgbClr val="9DB8C8"/>
                </a:solidFill>
                <a:latin typeface="Arial"/>
                <a:ea typeface="Arial"/>
                <a:cs typeface="Arial"/>
              </a:defRPr>
            </a:pPr>
            <a:r>
              <a:rPr sz="1650" b="0">
                <a:solidFill>
                  <a:srgbClr val="9DB8C8"/>
                </a:solidFill>
                <a:latin typeface="Arial"/>
                <a:ea typeface="Arial"/>
                <a:cs typeface="Arial"/>
              </a:rPr>
              <a:t>September 2026</a:t>
            </a:r>
          </a:p>
        </p:txBody>
      </p:sp>
      <p:sp>
        <p:nvSpPr>
          <p:cNvPr id="7" name="Illustrative artwork">
            <a:extLst xmlns:a="http://schemas.openxmlformats.org/drawingml/2006/main">
              <a:ext uri="{FF2B5EF4-FFF2-40B4-BE49-F238E27FC236}">
                <a16:creationId xmlns:a16="http://schemas.microsoft.com/office/drawing/2014/main" id="{1B7190FB-EBB5-4832-827E-1526321E0558}"/>
              </a:ext>
            </a:extLst>
          </p:cNvPr>
          <p:cNvSpPr>
            <a:spLocks xmlns:a="http://schemas.openxmlformats.org/drawingml/2006/main" noGrp="1"/>
          </p:cNvSpPr>
          <p:nvPr/>
        </p:nvSpPr>
        <p:spPr>
          <a:xfrm xmlns:a="http://schemas.openxmlformats.org/drawingml/2006/main">
            <a:off x="9067800" y="6343650"/>
            <a:ext cx="2428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9DB8C8"/>
                </a:solidFill>
                <a:latin typeface="Arial"/>
                <a:ea typeface="Arial"/>
                <a:cs typeface="Arial"/>
              </a:defRPr>
            </a:pPr>
            <a:r>
              <a:rPr sz="1275" b="0">
                <a:solidFill>
                  <a:srgbClr val="9DB8C8"/>
                </a:solidFill>
                <a:latin typeface="Arial"/>
                <a:ea typeface="Arial"/>
                <a:cs typeface="Arial"/>
              </a:rPr>
              <a:t>Illustrative artwork</a:t>
            </a:r>
          </a:p>
        </p:txBody>
      </p:sp>
    </p:spTree>
    <p:extLst>
      <p:ext uri="{BB962C8B-B14F-4D97-AF65-F5344CB8AC3E}">
        <p14:creationId xmlns:p14="http://schemas.microsoft.com/office/powerpoint/2010/main" val="1371456748"/>
      </p:ext>
    </p:extLst>
  </p:cSld>
</p:sld>
</file>

<file path=ppt/slides/slide2.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10" name="What the trial will test">
            <a:extLst xmlns:a="http://schemas.openxmlformats.org/drawingml/2006/main">
              <a:ext uri="{FF2B5EF4-FFF2-40B4-BE49-F238E27FC236}">
                <a16:creationId xmlns:a16="http://schemas.microsoft.com/office/drawing/2014/main" id="{FDF2E907-EFC3-447D-A1AB-60D45C49428D}"/>
              </a:ext>
            </a:extLst>
          </p:cNvPr>
          <p:cNvSpPr>
            <a:spLocks xmlns:a="http://schemas.openxmlformats.org/drawingml/2006/main" noGrp="1"/>
          </p:cNvSpPr>
          <p:nvPr/>
        </p:nvSpPr>
        <p:spPr>
          <a:xfrm xmlns:a="http://schemas.openxmlformats.org/drawingml/2006/main">
            <a:off x="666750" y="51435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32A3C"/>
                </a:solidFill>
                <a:latin typeface="Arial"/>
                <a:ea typeface="Arial"/>
                <a:cs typeface="Arial"/>
              </a:defRPr>
            </a:pPr>
            <a:r>
              <a:rPr sz="3600" b="1">
                <a:solidFill>
                  <a:srgbClr val="132A3C"/>
                </a:solidFill>
                <a:latin typeface="Arial"/>
                <a:ea typeface="Arial"/>
                <a:cs typeface="Arial"/>
              </a:rPr>
              <a:t>What the trial will test</a:t>
            </a:r>
          </a:p>
        </p:txBody>
      </p:sp>
      <p:sp>
        <p:nvSpPr>
          <p:cNvPr id="2" name="02">
            <a:extLst xmlns:a="http://schemas.openxmlformats.org/drawingml/2006/main">
              <a:ext uri="{FF2B5EF4-FFF2-40B4-BE49-F238E27FC236}">
                <a16:creationId xmlns:a16="http://schemas.microsoft.com/office/drawing/2014/main" id="{E53B7FE3-6BDA-41BB-93F3-AAA61A35A45C}"/>
              </a:ext>
            </a:extLst>
          </p:cNvPr>
          <p:cNvSpPr>
            <a:spLocks xmlns:a="http://schemas.openxmlformats.org/drawingml/2006/main" noGrp="1"/>
          </p:cNvSpPr>
          <p:nvPr/>
        </p:nvSpPr>
        <p:spPr>
          <a:xfrm xmlns:a="http://schemas.openxmlformats.org/drawingml/2006/main">
            <a:off x="11049000" y="6238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67181"/>
                </a:solidFill>
                <a:latin typeface="Arial"/>
                <a:ea typeface="Arial"/>
                <a:cs typeface="Arial"/>
              </a:defRPr>
            </a:pPr>
            <a:r>
              <a:rPr sz="1275" b="0">
                <a:solidFill>
                  <a:srgbClr val="567181"/>
                </a:solidFill>
                <a:latin typeface="Arial"/>
                <a:ea typeface="Arial"/>
                <a:cs typeface="Arial"/>
              </a:rPr>
              <a:t>02</a:t>
            </a:r>
          </a:p>
        </p:txBody>
      </p:sp>
      <p:sp>
        <p:nvSpPr>
          <p:cNvPr id="3" name="Can a seller document a part">
            <a:extLst xmlns:a="http://schemas.openxmlformats.org/drawingml/2006/main">
              <a:ext uri="{FF2B5EF4-FFF2-40B4-BE49-F238E27FC236}">
                <a16:creationId xmlns:a16="http://schemas.microsoft.com/office/drawing/2014/main" id="{ACF68EE6-78D9-4A82-AB83-1A5BB74667D4}"/>
              </a:ext>
            </a:extLst>
          </p:cNvPr>
          <p:cNvSpPr>
            <a:spLocks xmlns:a="http://schemas.openxmlformats.org/drawingml/2006/main" noGrp="1"/>
          </p:cNvSpPr>
          <p:nvPr/>
        </p:nvSpPr>
        <p:spPr>
          <a:xfrm xmlns:a="http://schemas.openxmlformats.org/drawingml/2006/main">
            <a:off x="666750" y="1790700"/>
            <a:ext cx="9906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132A3C"/>
                </a:solidFill>
                <a:latin typeface="Arial"/>
                <a:ea typeface="Arial"/>
                <a:cs typeface="Arial"/>
              </a:defRPr>
            </a:pPr>
            <a:r>
              <a:rPr sz="3675" b="1">
                <a:solidFill>
                  <a:srgbClr val="132A3C"/>
                </a:solidFill>
                <a:latin typeface="Arial"/>
                <a:ea typeface="Arial"/>
                <a:cs typeface="Arial"/>
              </a:rPr>
              <a:t>Can a seller document a part</a:t>
            </a:r>
          </a:p>
          <a:p xmlns:a="http://schemas.openxmlformats.org/drawingml/2006/main">
            <a:pPr>
              <a:defRPr sz="3675" b="1">
                <a:solidFill>
                  <a:srgbClr val="132A3C"/>
                </a:solidFill>
                <a:latin typeface="Arial"/>
                <a:ea typeface="Arial"/>
                <a:cs typeface="Arial"/>
              </a:defRPr>
            </a:pPr>
            <a:r>
              <a:rPr sz="3675" b="1">
                <a:solidFill>
                  <a:srgbClr val="132A3C"/>
                </a:solidFill>
                <a:latin typeface="Arial"/>
                <a:ea typeface="Arial"/>
                <a:cs typeface="Arial"/>
              </a:rPr>
              <a:t>with less staff time?</a:t>
            </a:r>
          </a:p>
        </p:txBody>
      </p:sp>
      <p:sp>
        <p:nvSpPr>
          <p:cNvPr id="4" name="01">
            <a:extLst xmlns:a="http://schemas.openxmlformats.org/drawingml/2006/main">
              <a:ext uri="{FF2B5EF4-FFF2-40B4-BE49-F238E27FC236}">
                <a16:creationId xmlns:a16="http://schemas.microsoft.com/office/drawing/2014/main" id="{AB8B5C32-1D25-402B-A3BE-B1F9AB0A5776}"/>
              </a:ext>
            </a:extLst>
          </p:cNvPr>
          <p:cNvSpPr>
            <a:spLocks xmlns:a="http://schemas.openxmlformats.org/drawingml/2006/main" noGrp="1"/>
          </p:cNvSpPr>
          <p:nvPr/>
        </p:nvSpPr>
        <p:spPr>
          <a:xfrm xmlns:a="http://schemas.openxmlformats.org/drawingml/2006/main">
            <a:off x="685800" y="3724275"/>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486F82"/>
                </a:solidFill>
                <a:latin typeface="Arial"/>
                <a:ea typeface="Arial"/>
                <a:cs typeface="Arial"/>
              </a:defRPr>
            </a:pPr>
            <a:r>
              <a:rPr sz="2400" b="1">
                <a:solidFill>
                  <a:srgbClr val="486F82"/>
                </a:solidFill>
                <a:latin typeface="Arial"/>
                <a:ea typeface="Arial"/>
                <a:cs typeface="Arial"/>
              </a:rPr>
              <a:t>01</a:t>
            </a:r>
          </a:p>
        </p:txBody>
      </p:sp>
      <p:sp>
        <p:nvSpPr>
          <p:cNvPr id="5" name="Identify the part">
            <a:extLst xmlns:a="http://schemas.openxmlformats.org/drawingml/2006/main">
              <a:ext uri="{FF2B5EF4-FFF2-40B4-BE49-F238E27FC236}">
                <a16:creationId xmlns:a16="http://schemas.microsoft.com/office/drawing/2014/main" id="{85975727-1DEC-4EF7-A688-6EDE32963072}"/>
              </a:ext>
            </a:extLst>
          </p:cNvPr>
          <p:cNvSpPr>
            <a:spLocks xmlns:a="http://schemas.openxmlformats.org/drawingml/2006/main" noGrp="1"/>
          </p:cNvSpPr>
          <p:nvPr/>
        </p:nvSpPr>
        <p:spPr>
          <a:xfrm xmlns:a="http://schemas.openxmlformats.org/drawingml/2006/main">
            <a:off x="1628775" y="37052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32A3C"/>
                </a:solidFill>
                <a:latin typeface="Arial"/>
                <a:ea typeface="Arial"/>
                <a:cs typeface="Arial"/>
              </a:defRPr>
            </a:pPr>
            <a:r>
              <a:rPr sz="2250" b="1">
                <a:solidFill>
                  <a:srgbClr val="132A3C"/>
                </a:solidFill>
                <a:latin typeface="Arial"/>
                <a:ea typeface="Arial"/>
                <a:cs typeface="Arial"/>
              </a:rPr>
              <a:t>Identify the part</a:t>
            </a:r>
          </a:p>
        </p:txBody>
      </p:sp>
      <p:sp>
        <p:nvSpPr>
          <p:cNvPr id="6" name="Check a photo suggestion against a label or reference.">
            <a:extLst xmlns:a="http://schemas.openxmlformats.org/drawingml/2006/main">
              <a:ext uri="{FF2B5EF4-FFF2-40B4-BE49-F238E27FC236}">
                <a16:creationId xmlns:a16="http://schemas.microsoft.com/office/drawing/2014/main" id="{D55E6F51-79B1-4153-BA4A-700A92DD2008}"/>
              </a:ext>
            </a:extLst>
          </p:cNvPr>
          <p:cNvSpPr>
            <a:spLocks xmlns:a="http://schemas.openxmlformats.org/drawingml/2006/main" noGrp="1"/>
          </p:cNvSpPr>
          <p:nvPr/>
        </p:nvSpPr>
        <p:spPr>
          <a:xfrm xmlns:a="http://schemas.openxmlformats.org/drawingml/2006/main">
            <a:off x="1628775" y="4143375"/>
            <a:ext cx="9191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32A3C"/>
                </a:solidFill>
                <a:latin typeface="Arial"/>
                <a:ea typeface="Arial"/>
                <a:cs typeface="Arial"/>
              </a:defRPr>
            </a:pPr>
            <a:r>
              <a:rPr sz="2025" b="0">
                <a:solidFill>
                  <a:srgbClr val="132A3C"/>
                </a:solidFill>
                <a:latin typeface="Arial"/>
                <a:ea typeface="Arial"/>
                <a:cs typeface="Arial"/>
              </a:rPr>
              <a:t>Check a photo suggestion against a label or reference.</a:t>
            </a:r>
          </a:p>
        </p:txBody>
      </p:sp>
      <p:sp>
        <p:nvSpPr>
          <p:cNvPr id="7" name="02">
            <a:extLst xmlns:a="http://schemas.openxmlformats.org/drawingml/2006/main">
              <a:ext uri="{FF2B5EF4-FFF2-40B4-BE49-F238E27FC236}">
                <a16:creationId xmlns:a16="http://schemas.microsoft.com/office/drawing/2014/main" id="{C447E4A3-4AA4-40AF-ACFE-8361A69391D4}"/>
              </a:ext>
            </a:extLst>
          </p:cNvPr>
          <p:cNvSpPr>
            <a:spLocks xmlns:a="http://schemas.openxmlformats.org/drawingml/2006/main" noGrp="1"/>
          </p:cNvSpPr>
          <p:nvPr/>
        </p:nvSpPr>
        <p:spPr>
          <a:xfrm xmlns:a="http://schemas.openxmlformats.org/drawingml/2006/main">
            <a:off x="685800" y="4962525"/>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486F82"/>
                </a:solidFill>
                <a:latin typeface="Arial"/>
                <a:ea typeface="Arial"/>
                <a:cs typeface="Arial"/>
              </a:defRPr>
            </a:pPr>
            <a:r>
              <a:rPr sz="2400" b="1">
                <a:solidFill>
                  <a:srgbClr val="486F82"/>
                </a:solidFill>
                <a:latin typeface="Arial"/>
                <a:ea typeface="Arial"/>
                <a:cs typeface="Arial"/>
              </a:rPr>
              <a:t>02</a:t>
            </a:r>
          </a:p>
        </p:txBody>
      </p:sp>
      <p:sp>
        <p:nvSpPr>
          <p:cNvPr id="8" name="Keep a usable record">
            <a:extLst xmlns:a="http://schemas.openxmlformats.org/drawingml/2006/main">
              <a:ext uri="{FF2B5EF4-FFF2-40B4-BE49-F238E27FC236}">
                <a16:creationId xmlns:a16="http://schemas.microsoft.com/office/drawing/2014/main" id="{E4B3C56C-4500-414F-8252-5D14F8597D1E}"/>
              </a:ext>
            </a:extLst>
          </p:cNvPr>
          <p:cNvSpPr>
            <a:spLocks xmlns:a="http://schemas.openxmlformats.org/drawingml/2006/main" noGrp="1"/>
          </p:cNvSpPr>
          <p:nvPr/>
        </p:nvSpPr>
        <p:spPr>
          <a:xfrm xmlns:a="http://schemas.openxmlformats.org/drawingml/2006/main">
            <a:off x="1628775" y="4943475"/>
            <a:ext cx="781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32A3C"/>
                </a:solidFill>
                <a:latin typeface="Arial"/>
                <a:ea typeface="Arial"/>
                <a:cs typeface="Arial"/>
              </a:defRPr>
            </a:pPr>
            <a:r>
              <a:rPr sz="2250" b="1">
                <a:solidFill>
                  <a:srgbClr val="132A3C"/>
                </a:solidFill>
                <a:latin typeface="Arial"/>
                <a:ea typeface="Arial"/>
                <a:cs typeface="Arial"/>
              </a:rPr>
              <a:t>Keep a usable record</a:t>
            </a:r>
          </a:p>
        </p:txBody>
      </p:sp>
      <p:sp>
        <p:nvSpPr>
          <p:cNvPr id="9" name="Record human checks, then reopen or export the inspection.">
            <a:extLst xmlns:a="http://schemas.openxmlformats.org/drawingml/2006/main">
              <a:ext uri="{FF2B5EF4-FFF2-40B4-BE49-F238E27FC236}">
                <a16:creationId xmlns:a16="http://schemas.microsoft.com/office/drawing/2014/main" id="{73F6EE9D-ABE3-401F-9CBB-051B7E663C2D}"/>
              </a:ext>
            </a:extLst>
          </p:cNvPr>
          <p:cNvSpPr>
            <a:spLocks xmlns:a="http://schemas.openxmlformats.org/drawingml/2006/main" noGrp="1"/>
          </p:cNvSpPr>
          <p:nvPr/>
        </p:nvSpPr>
        <p:spPr>
          <a:xfrm xmlns:a="http://schemas.openxmlformats.org/drawingml/2006/main">
            <a:off x="1628775" y="5381625"/>
            <a:ext cx="9191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32A3C"/>
                </a:solidFill>
                <a:latin typeface="Arial"/>
                <a:ea typeface="Arial"/>
                <a:cs typeface="Arial"/>
              </a:defRPr>
            </a:pPr>
            <a:r>
              <a:rPr sz="2025" b="0">
                <a:solidFill>
                  <a:srgbClr val="132A3C"/>
                </a:solidFill>
                <a:latin typeface="Arial"/>
                <a:ea typeface="Arial"/>
                <a:cs typeface="Arial"/>
              </a:rPr>
              <a:t>Record human checks, then reopen or export the inspection.</a:t>
            </a:r>
          </a:p>
        </p:txBody>
      </p:sp>
    </p:spTree>
    <p:extLst>
      <p:ext uri="{BB962C8B-B14F-4D97-AF65-F5344CB8AC3E}">
        <p14:creationId xmlns:p14="http://schemas.microsoft.com/office/powerpoint/2010/main" val="76992902"/>
      </p:ext>
    </p:extLst>
  </p:cSld>
</p:sld>
</file>

<file path=ppt/slides/slide3.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9" name="AI suggestions and human checks">
            <a:extLst xmlns:a="http://schemas.openxmlformats.org/drawingml/2006/main">
              <a:ext uri="{FF2B5EF4-FFF2-40B4-BE49-F238E27FC236}">
                <a16:creationId xmlns:a16="http://schemas.microsoft.com/office/drawing/2014/main" id="{8B1EF668-8EBB-4BC2-80FC-9EE607436DFF}"/>
              </a:ext>
            </a:extLst>
          </p:cNvPr>
          <p:cNvSpPr>
            <a:spLocks xmlns:a="http://schemas.openxmlformats.org/drawingml/2006/main" noGrp="1"/>
          </p:cNvSpPr>
          <p:nvPr/>
        </p:nvSpPr>
        <p:spPr>
          <a:xfrm xmlns:a="http://schemas.openxmlformats.org/drawingml/2006/main">
            <a:off x="666750" y="51435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4FAFB"/>
                </a:solidFill>
                <a:latin typeface="Arial"/>
                <a:ea typeface="Arial"/>
                <a:cs typeface="Arial"/>
              </a:defRPr>
            </a:pPr>
            <a:r>
              <a:rPr sz="3600" b="1">
                <a:solidFill>
                  <a:srgbClr val="F4FAFB"/>
                </a:solidFill>
                <a:latin typeface="Arial"/>
                <a:ea typeface="Arial"/>
                <a:cs typeface="Arial"/>
              </a:rPr>
              <a:t>AI suggestions and human checks</a:t>
            </a:r>
          </a:p>
        </p:txBody>
      </p:sp>
      <p:sp>
        <p:nvSpPr>
          <p:cNvPr id="2" name="03">
            <a:extLst xmlns:a="http://schemas.openxmlformats.org/drawingml/2006/main">
              <a:ext uri="{FF2B5EF4-FFF2-40B4-BE49-F238E27FC236}">
                <a16:creationId xmlns:a16="http://schemas.microsoft.com/office/drawing/2014/main" id="{B281B02C-9E41-485C-A444-E282863C52A8}"/>
              </a:ext>
            </a:extLst>
          </p:cNvPr>
          <p:cNvSpPr>
            <a:spLocks xmlns:a="http://schemas.openxmlformats.org/drawingml/2006/main" noGrp="1"/>
          </p:cNvSpPr>
          <p:nvPr/>
        </p:nvSpPr>
        <p:spPr>
          <a:xfrm xmlns:a="http://schemas.openxmlformats.org/drawingml/2006/main">
            <a:off x="11049000" y="6238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9DB8C8"/>
                </a:solidFill>
                <a:latin typeface="Arial"/>
                <a:ea typeface="Arial"/>
                <a:cs typeface="Arial"/>
              </a:defRPr>
            </a:pPr>
            <a:r>
              <a:rPr sz="1275" b="0">
                <a:solidFill>
                  <a:srgbClr val="9DB8C8"/>
                </a:solidFill>
                <a:latin typeface="Arial"/>
                <a:ea typeface="Arial"/>
                <a:cs typeface="Arial"/>
              </a:rPr>
              <a:t>03</a:t>
            </a:r>
          </a:p>
        </p:txBody>
      </p:sp>
      <p:sp>
        <p:nvSpPr>
          <p:cNvPr id="3" name="DeepSpec suggests">
            <a:extLst xmlns:a="http://schemas.openxmlformats.org/drawingml/2006/main">
              <a:ext uri="{FF2B5EF4-FFF2-40B4-BE49-F238E27FC236}">
                <a16:creationId xmlns:a16="http://schemas.microsoft.com/office/drawing/2014/main" id="{1DD9A737-C847-4398-84B5-3AFBC7B67BC2}"/>
              </a:ext>
            </a:extLst>
          </p:cNvPr>
          <p:cNvSpPr>
            <a:spLocks xmlns:a="http://schemas.openxmlformats.org/drawingml/2006/main" noGrp="1"/>
          </p:cNvSpPr>
          <p:nvPr/>
        </p:nvSpPr>
        <p:spPr>
          <a:xfrm xmlns:a="http://schemas.openxmlformats.org/drawingml/2006/main">
            <a:off x="666750" y="2000250"/>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B8E3E9"/>
                </a:solidFill>
                <a:latin typeface="Arial"/>
                <a:ea typeface="Arial"/>
                <a:cs typeface="Arial"/>
              </a:defRPr>
            </a:pPr>
            <a:r>
              <a:rPr sz="2700" b="1">
                <a:solidFill>
                  <a:srgbClr val="B8E3E9"/>
                </a:solidFill>
                <a:latin typeface="Arial"/>
                <a:ea typeface="Arial"/>
                <a:cs typeface="Arial"/>
              </a:rPr>
              <a:t>DeepSpec suggests</a:t>
            </a:r>
          </a:p>
        </p:txBody>
      </p:sp>
      <p:sp>
        <p:nvSpPr>
          <p:cNvPr id="4" name="A possible part identity">
            <a:extLst xmlns:a="http://schemas.openxmlformats.org/drawingml/2006/main">
              <a:ext uri="{FF2B5EF4-FFF2-40B4-BE49-F238E27FC236}">
                <a16:creationId xmlns:a16="http://schemas.microsoft.com/office/drawing/2014/main" id="{9E0CBB88-F393-4868-A6B3-D913802B5019}"/>
              </a:ext>
            </a:extLst>
          </p:cNvPr>
          <p:cNvSpPr>
            <a:spLocks xmlns:a="http://schemas.openxmlformats.org/drawingml/2006/main" noGrp="1"/>
          </p:cNvSpPr>
          <p:nvPr/>
        </p:nvSpPr>
        <p:spPr>
          <a:xfrm xmlns:a="http://schemas.openxmlformats.org/drawingml/2006/main">
            <a:off x="666750" y="2800350"/>
            <a:ext cx="4762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4FAFB"/>
                </a:solidFill>
                <a:latin typeface="Arial"/>
                <a:ea typeface="Arial"/>
                <a:cs typeface="Arial"/>
              </a:defRPr>
            </a:pPr>
            <a:r>
              <a:rPr sz="2325" b="0">
                <a:solidFill>
                  <a:srgbClr val="F4FAFB"/>
                </a:solidFill>
                <a:latin typeface="Arial"/>
                <a:ea typeface="Arial"/>
                <a:cs typeface="Arial"/>
              </a:rPr>
              <a:t>A possible part identity</a:t>
            </a:r>
          </a:p>
          <a:p xmlns:a="http://schemas.openxmlformats.org/drawingml/2006/main">
            <a:pPr>
              <a:defRPr sz="2325" b="0">
                <a:solidFill>
                  <a:srgbClr val="F4FAFB"/>
                </a:solidFill>
                <a:latin typeface="Arial"/>
                <a:ea typeface="Arial"/>
                <a:cs typeface="Arial"/>
              </a:defRPr>
            </a:pPr>
            <a:r>
              <a:rPr sz="2325" b="0">
                <a:solidFill>
                  <a:srgbClr val="F4FAFB"/>
                </a:solidFill>
                <a:latin typeface="Arial"/>
                <a:ea typeface="Arial"/>
                <a:cs typeface="Arial"/>
              </a:rPr>
              <a:t>from the photo.</a:t>
            </a:r>
          </a:p>
        </p:txBody>
      </p:sp>
      <p:sp>
        <p:nvSpPr>
          <p:cNvPr id="5" name="Treat uncertain or unsupported">
            <a:extLst xmlns:a="http://schemas.openxmlformats.org/drawingml/2006/main">
              <a:ext uri="{FF2B5EF4-FFF2-40B4-BE49-F238E27FC236}">
                <a16:creationId xmlns:a16="http://schemas.microsoft.com/office/drawing/2014/main" id="{DA20EE99-5333-4BD4-8492-47ADF7556570}"/>
              </a:ext>
            </a:extLst>
          </p:cNvPr>
          <p:cNvSpPr>
            <a:spLocks xmlns:a="http://schemas.openxmlformats.org/drawingml/2006/main" noGrp="1"/>
          </p:cNvSpPr>
          <p:nvPr/>
        </p:nvSpPr>
        <p:spPr>
          <a:xfrm xmlns:a="http://schemas.openxmlformats.org/drawingml/2006/main">
            <a:off x="666750" y="4257675"/>
            <a:ext cx="4762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9DB8C8"/>
                </a:solidFill>
                <a:latin typeface="Arial"/>
                <a:ea typeface="Arial"/>
                <a:cs typeface="Arial"/>
              </a:defRPr>
            </a:pPr>
            <a:r>
              <a:rPr sz="2100" b="0">
                <a:solidFill>
                  <a:srgbClr val="9DB8C8"/>
                </a:solidFill>
                <a:latin typeface="Arial"/>
                <a:ea typeface="Arial"/>
                <a:cs typeface="Arial"/>
              </a:rPr>
              <a:t>Treat uncertain or unsupported</a:t>
            </a:r>
          </a:p>
          <a:p xmlns:a="http://schemas.openxmlformats.org/drawingml/2006/main">
            <a:pPr>
              <a:defRPr sz="2100" b="0">
                <a:solidFill>
                  <a:srgbClr val="9DB8C8"/>
                </a:solidFill>
                <a:latin typeface="Arial"/>
                <a:ea typeface="Arial"/>
                <a:cs typeface="Arial"/>
              </a:defRPr>
            </a:pPr>
            <a:r>
              <a:rPr sz="2100" b="0">
                <a:solidFill>
                  <a:srgbClr val="9DB8C8"/>
                </a:solidFill>
                <a:latin typeface="Arial"/>
                <a:ea typeface="Arial"/>
                <a:cs typeface="Arial"/>
              </a:rPr>
              <a:t>identities as unresolved.</a:t>
            </a:r>
          </a:p>
        </p:txBody>
      </p:sp>
      <p:sp>
        <p:nvSpPr>
          <p:cNvPr id="6" name="The operator records">
            <a:extLst xmlns:a="http://schemas.openxmlformats.org/drawingml/2006/main">
              <a:ext uri="{FF2B5EF4-FFF2-40B4-BE49-F238E27FC236}">
                <a16:creationId xmlns:a16="http://schemas.microsoft.com/office/drawing/2014/main" id="{6827DEAB-05F0-41F9-A3A0-A89293905E99}"/>
              </a:ext>
            </a:extLst>
          </p:cNvPr>
          <p:cNvSpPr>
            <a:spLocks xmlns:a="http://schemas.openxmlformats.org/drawingml/2006/main" noGrp="1"/>
          </p:cNvSpPr>
          <p:nvPr/>
        </p:nvSpPr>
        <p:spPr>
          <a:xfrm xmlns:a="http://schemas.openxmlformats.org/drawingml/2006/main">
            <a:off x="6515100" y="20002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B8E3E9"/>
                </a:solidFill>
                <a:latin typeface="Arial"/>
                <a:ea typeface="Arial"/>
                <a:cs typeface="Arial"/>
              </a:defRPr>
            </a:pPr>
            <a:r>
              <a:rPr sz="2700" b="1">
                <a:solidFill>
                  <a:srgbClr val="B8E3E9"/>
                </a:solidFill>
                <a:latin typeface="Arial"/>
                <a:ea typeface="Arial"/>
                <a:cs typeface="Arial"/>
              </a:rPr>
              <a:t>The operator records</a:t>
            </a:r>
          </a:p>
        </p:txBody>
      </p:sp>
      <p:sp>
        <p:nvSpPr>
          <p:cNvPr id="7" name="The checked identity and evidence.">
            <a:extLst xmlns:a="http://schemas.openxmlformats.org/drawingml/2006/main">
              <a:ext uri="{FF2B5EF4-FFF2-40B4-BE49-F238E27FC236}">
                <a16:creationId xmlns:a16="http://schemas.microsoft.com/office/drawing/2014/main" id="{4A684245-4480-4EA8-B6F5-AE8572263CFE}"/>
              </a:ext>
            </a:extLst>
          </p:cNvPr>
          <p:cNvSpPr>
            <a:spLocks xmlns:a="http://schemas.openxmlformats.org/drawingml/2006/main" noGrp="1"/>
          </p:cNvSpPr>
          <p:nvPr/>
        </p:nvSpPr>
        <p:spPr>
          <a:xfrm xmlns:a="http://schemas.openxmlformats.org/drawingml/2006/main">
            <a:off x="6515100" y="2800350"/>
            <a:ext cx="4953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The checked identity and evidence.</a:t>
            </a:r>
          </a:p>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Visible condition.</a:t>
            </a:r>
          </a:p>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The actual test method and result.</a:t>
            </a:r>
          </a:p>
        </p:txBody>
      </p:sp>
      <p:sp>
        <p:nvSpPr>
          <p:cNvPr id="8" name="A photo does not establish that">
            <a:extLst xmlns:a="http://schemas.openxmlformats.org/drawingml/2006/main">
              <a:ext uri="{FF2B5EF4-FFF2-40B4-BE49-F238E27FC236}">
                <a16:creationId xmlns:a16="http://schemas.microsoft.com/office/drawing/2014/main" id="{D189267B-6D94-42E4-A511-DBC0A592DE8D}"/>
              </a:ext>
            </a:extLst>
          </p:cNvPr>
          <p:cNvSpPr>
            <a:spLocks xmlns:a="http://schemas.openxmlformats.org/drawingml/2006/main" noGrp="1"/>
          </p:cNvSpPr>
          <p:nvPr/>
        </p:nvSpPr>
        <p:spPr>
          <a:xfrm xmlns:a="http://schemas.openxmlformats.org/drawingml/2006/main">
            <a:off x="6515100" y="476250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9DB8C8"/>
                </a:solidFill>
                <a:latin typeface="Arial"/>
                <a:ea typeface="Arial"/>
                <a:cs typeface="Arial"/>
              </a:defRPr>
            </a:pPr>
            <a:r>
              <a:rPr sz="2100" b="0">
                <a:solidFill>
                  <a:srgbClr val="9DB8C8"/>
                </a:solidFill>
                <a:latin typeface="Arial"/>
                <a:ea typeface="Arial"/>
                <a:cs typeface="Arial"/>
              </a:rPr>
              <a:t>A photo does not establish that</a:t>
            </a:r>
          </a:p>
          <a:p xmlns:a="http://schemas.openxmlformats.org/drawingml/2006/main">
            <a:pPr>
              <a:defRPr sz="2100" b="0">
                <a:solidFill>
                  <a:srgbClr val="9DB8C8"/>
                </a:solidFill>
                <a:latin typeface="Arial"/>
                <a:ea typeface="Arial"/>
                <a:cs typeface="Arial"/>
              </a:defRPr>
            </a:pPr>
            <a:r>
              <a:rPr sz="2100" b="0">
                <a:solidFill>
                  <a:srgbClr val="9DB8C8"/>
                </a:solidFill>
                <a:latin typeface="Arial"/>
                <a:ea typeface="Arial"/>
                <a:cs typeface="Arial"/>
              </a:rPr>
              <a:t>a part works or is safe.</a:t>
            </a:r>
          </a:p>
        </p:txBody>
      </p:sp>
    </p:spTree>
    <p:extLst>
      <p:ext uri="{BB962C8B-B14F-4D97-AF65-F5344CB8AC3E}">
        <p14:creationId xmlns:p14="http://schemas.microsoft.com/office/powerpoint/2010/main" val="1689226338"/>
      </p:ext>
    </p:extLst>
  </p:cSld>
</p:sld>
</file>

<file path=ppt/slides/slide4.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8" name="Inspection draft recovery">
            <a:extLst xmlns:a="http://schemas.openxmlformats.org/drawingml/2006/main">
              <a:ext uri="{FF2B5EF4-FFF2-40B4-BE49-F238E27FC236}">
                <a16:creationId xmlns:a16="http://schemas.microsoft.com/office/drawing/2014/main" id="{1850F879-F28F-4B2F-9B7D-F0496874B8FC}"/>
              </a:ext>
            </a:extLst>
          </p:cNvPr>
          <p:cNvSpPr>
            <a:spLocks xmlns:a="http://schemas.openxmlformats.org/drawingml/2006/main" noGrp="1"/>
          </p:cNvSpPr>
          <p:nvPr/>
        </p:nvSpPr>
        <p:spPr>
          <a:xfrm xmlns:a="http://schemas.openxmlformats.org/drawingml/2006/main">
            <a:off x="666750" y="51435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32A3C"/>
                </a:solidFill>
                <a:latin typeface="Arial"/>
                <a:ea typeface="Arial"/>
                <a:cs typeface="Arial"/>
              </a:defRPr>
            </a:pPr>
            <a:r>
              <a:rPr sz="3600" b="1">
                <a:solidFill>
                  <a:srgbClr val="132A3C"/>
                </a:solidFill>
                <a:latin typeface="Arial"/>
                <a:ea typeface="Arial"/>
                <a:cs typeface="Arial"/>
              </a:rPr>
              <a:t>Inspection draft recovery</a:t>
            </a:r>
          </a:p>
        </p:txBody>
      </p:sp>
      <p:sp>
        <p:nvSpPr>
          <p:cNvPr id="2" name="04">
            <a:extLst xmlns:a="http://schemas.openxmlformats.org/drawingml/2006/main">
              <a:ext uri="{FF2B5EF4-FFF2-40B4-BE49-F238E27FC236}">
                <a16:creationId xmlns:a16="http://schemas.microsoft.com/office/drawing/2014/main" id="{54B7C5C9-CE2B-4DD0-80C8-B6836EFA4DA3}"/>
              </a:ext>
            </a:extLst>
          </p:cNvPr>
          <p:cNvSpPr>
            <a:spLocks xmlns:a="http://schemas.openxmlformats.org/drawingml/2006/main" noGrp="1"/>
          </p:cNvSpPr>
          <p:nvPr/>
        </p:nvSpPr>
        <p:spPr>
          <a:xfrm xmlns:a="http://schemas.openxmlformats.org/drawingml/2006/main">
            <a:off x="11049000" y="6238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67181"/>
                </a:solidFill>
                <a:latin typeface="Arial"/>
                <a:ea typeface="Arial"/>
                <a:cs typeface="Arial"/>
              </a:defRPr>
            </a:pPr>
            <a:r>
              <a:rPr sz="1275" b="0">
                <a:solidFill>
                  <a:srgbClr val="567181"/>
                </a:solidFill>
                <a:latin typeface="Arial"/>
                <a:ea typeface="Arial"/>
                <a:cs typeface="Arial"/>
              </a:rPr>
              <a:t>04</a:t>
            </a:r>
          </a:p>
        </p:txBody>
      </p:sp>
      <p:sp>
        <p:nvSpPr>
          <p:cNvPr id="3" name="Interrupted work has">
            <a:extLst xmlns:a="http://schemas.openxmlformats.org/drawingml/2006/main">
              <a:ext uri="{FF2B5EF4-FFF2-40B4-BE49-F238E27FC236}">
                <a16:creationId xmlns:a16="http://schemas.microsoft.com/office/drawing/2014/main" id="{D4FFA4DC-168F-473F-89AC-06BEE8114B0C}"/>
              </a:ext>
            </a:extLst>
          </p:cNvPr>
          <p:cNvSpPr>
            <a:spLocks xmlns:a="http://schemas.openxmlformats.org/drawingml/2006/main" noGrp="1"/>
          </p:cNvSpPr>
          <p:nvPr/>
        </p:nvSpPr>
        <p:spPr>
          <a:xfrm xmlns:a="http://schemas.openxmlformats.org/drawingml/2006/main">
            <a:off x="666750" y="1924050"/>
            <a:ext cx="6286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32A3C"/>
                </a:solidFill>
                <a:latin typeface="Arial"/>
                <a:ea typeface="Arial"/>
                <a:cs typeface="Arial"/>
              </a:defRPr>
            </a:pPr>
            <a:r>
              <a:rPr sz="3150" b="1">
                <a:solidFill>
                  <a:srgbClr val="132A3C"/>
                </a:solidFill>
                <a:latin typeface="Arial"/>
                <a:ea typeface="Arial"/>
                <a:cs typeface="Arial"/>
              </a:rPr>
              <a:t>Interrupted work has</a:t>
            </a:r>
          </a:p>
          <a:p xmlns:a="http://schemas.openxmlformats.org/drawingml/2006/main">
            <a:pPr>
              <a:defRPr sz="3150" b="1">
                <a:solidFill>
                  <a:srgbClr val="132A3C"/>
                </a:solidFill>
                <a:latin typeface="Arial"/>
                <a:ea typeface="Arial"/>
                <a:cs typeface="Arial"/>
              </a:defRPr>
            </a:pPr>
            <a:r>
              <a:rPr sz="3150" b="1">
                <a:solidFill>
                  <a:srgbClr val="132A3C"/>
                </a:solidFill>
                <a:latin typeface="Arial"/>
                <a:ea typeface="Arial"/>
                <a:cs typeface="Arial"/>
              </a:rPr>
              <a:t>a recovery path</a:t>
            </a:r>
          </a:p>
        </p:txBody>
      </p:sp>
      <p:sp>
        <p:nvSpPr>
          <p:cNvPr id="4" name="Edits keep a draft in this browser.">
            <a:extLst xmlns:a="http://schemas.openxmlformats.org/drawingml/2006/main">
              <a:ext uri="{FF2B5EF4-FFF2-40B4-BE49-F238E27FC236}">
                <a16:creationId xmlns:a16="http://schemas.microsoft.com/office/drawing/2014/main" id="{96A25702-304B-4801-B299-06E41B4E8049}"/>
              </a:ext>
            </a:extLst>
          </p:cNvPr>
          <p:cNvSpPr>
            <a:spLocks xmlns:a="http://schemas.openxmlformats.org/drawingml/2006/main" noGrp="1"/>
          </p:cNvSpPr>
          <p:nvPr/>
        </p:nvSpPr>
        <p:spPr>
          <a:xfrm xmlns:a="http://schemas.openxmlformats.org/drawingml/2006/main">
            <a:off x="666750" y="3305175"/>
            <a:ext cx="59626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Edits keep a draft in this browser.</a:t>
            </a:r>
          </a:p>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After a refresh, choose restore or discard.</a:t>
            </a:r>
          </a:p>
        </p:txBody>
      </p:sp>
      <p:sp>
        <p:nvSpPr>
          <p:cNvPr id="5" name="A changed saved inspection blocks">
            <a:extLst xmlns:a="http://schemas.openxmlformats.org/drawingml/2006/main">
              <a:ext uri="{FF2B5EF4-FFF2-40B4-BE49-F238E27FC236}">
                <a16:creationId xmlns:a16="http://schemas.microsoft.com/office/drawing/2014/main" id="{99E78BC2-1919-424E-AA2C-22745DFD2F82}"/>
              </a:ext>
            </a:extLst>
          </p:cNvPr>
          <p:cNvSpPr>
            <a:spLocks xmlns:a="http://schemas.openxmlformats.org/drawingml/2006/main" noGrp="1"/>
          </p:cNvSpPr>
          <p:nvPr/>
        </p:nvSpPr>
        <p:spPr>
          <a:xfrm xmlns:a="http://schemas.openxmlformats.org/drawingml/2006/main">
            <a:off x="666750" y="4629150"/>
            <a:ext cx="6000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A changed saved inspection blocks</a:t>
            </a:r>
          </a:p>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restoring the older draft. Download</a:t>
            </a:r>
          </a:p>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the notes to compare.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29c357c063b4ce5"/>
          <a:srcRect xmlns:a="http://schemas.openxmlformats.org/drawingml/2006/main" l="0" t="0" r="0" b="60548"/>
          <a:stretch xmlns:a="http://schemas.openxmlformats.org/drawingml/2006/main">
            <a:fillRect l="0" t="0" r="0" b="0"/>
          </a:stretch>
        </p:blipFill>
        <p:spPr>
          <a:xfrm xmlns:a="http://schemas.openxmlformats.org/drawingml/2006/main">
            <a:off x="7524750" y="1657350"/>
            <a:ext cx="3952875" cy="4352925"/>
          </a:xfrm>
          <a:prstGeom xmlns:a="http://schemas.openxmlformats.org/drawingml/2006/main" prst="rect">
            <a:avLst/>
          </a:prstGeom>
        </p:spPr>
      </p:pic>
      <p:sp>
        <p:nvSpPr>
          <p:cNvPr id="7" name="QA fixture. Local browser storage, not a cloud backup.">
            <a:extLst xmlns:a="http://schemas.openxmlformats.org/drawingml/2006/main">
              <a:ext uri="{FF2B5EF4-FFF2-40B4-BE49-F238E27FC236}">
                <a16:creationId xmlns:a16="http://schemas.microsoft.com/office/drawing/2014/main" id="{4BF43EAD-3A71-4E9F-8F33-6491D656E39D}"/>
              </a:ext>
            </a:extLst>
          </p:cNvPr>
          <p:cNvSpPr>
            <a:spLocks xmlns:a="http://schemas.openxmlformats.org/drawingml/2006/main" noGrp="1"/>
          </p:cNvSpPr>
          <p:nvPr/>
        </p:nvSpPr>
        <p:spPr>
          <a:xfrm xmlns:a="http://schemas.openxmlformats.org/drawingml/2006/main">
            <a:off x="666750" y="625792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7181"/>
                </a:solidFill>
                <a:latin typeface="Arial"/>
                <a:ea typeface="Arial"/>
                <a:cs typeface="Arial"/>
              </a:defRPr>
            </a:pPr>
            <a:r>
              <a:rPr sz="1350" b="0">
                <a:solidFill>
                  <a:srgbClr val="567181"/>
                </a:solidFill>
                <a:latin typeface="Arial"/>
                <a:ea typeface="Arial"/>
                <a:cs typeface="Arial"/>
              </a:rPr>
              <a:t>QA fixture. Local browser storage, not a cloud backup.</a:t>
            </a:r>
          </a:p>
        </p:txBody>
      </p:sp>
    </p:spTree>
    <p:extLst>
      <p:ext uri="{BB962C8B-B14F-4D97-AF65-F5344CB8AC3E}">
        <p14:creationId xmlns:p14="http://schemas.microsoft.com/office/powerpoint/2010/main" val="607508103"/>
      </p:ext>
    </p:extLst>
  </p:cSld>
</p:sld>
</file>

<file path=ppt/slides/slide5.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11" name="A small supervised trial">
            <a:extLst xmlns:a="http://schemas.openxmlformats.org/drawingml/2006/main">
              <a:ext uri="{FF2B5EF4-FFF2-40B4-BE49-F238E27FC236}">
                <a16:creationId xmlns:a16="http://schemas.microsoft.com/office/drawing/2014/main" id="{D18F4796-3DFB-4D42-9D07-292F2E98608C}"/>
              </a:ext>
            </a:extLst>
          </p:cNvPr>
          <p:cNvSpPr>
            <a:spLocks xmlns:a="http://schemas.openxmlformats.org/drawingml/2006/main" noGrp="1"/>
          </p:cNvSpPr>
          <p:nvPr/>
        </p:nvSpPr>
        <p:spPr>
          <a:xfrm xmlns:a="http://schemas.openxmlformats.org/drawingml/2006/main">
            <a:off x="666750" y="51435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4FAFB"/>
                </a:solidFill>
                <a:latin typeface="Arial"/>
                <a:ea typeface="Arial"/>
                <a:cs typeface="Arial"/>
              </a:defRPr>
            </a:pPr>
            <a:r>
              <a:rPr sz="3600" b="1">
                <a:solidFill>
                  <a:srgbClr val="F4FAFB"/>
                </a:solidFill>
                <a:latin typeface="Arial"/>
                <a:ea typeface="Arial"/>
                <a:cs typeface="Arial"/>
              </a:rPr>
              <a:t>A small supervised trial</a:t>
            </a:r>
          </a:p>
        </p:txBody>
      </p:sp>
      <p:sp>
        <p:nvSpPr>
          <p:cNvPr id="2" name="05">
            <a:extLst xmlns:a="http://schemas.openxmlformats.org/drawingml/2006/main">
              <a:ext uri="{FF2B5EF4-FFF2-40B4-BE49-F238E27FC236}">
                <a16:creationId xmlns:a16="http://schemas.microsoft.com/office/drawing/2014/main" id="{0E2CBB4E-D20F-4FFC-8915-9E4CE22C0AB3}"/>
              </a:ext>
            </a:extLst>
          </p:cNvPr>
          <p:cNvSpPr>
            <a:spLocks xmlns:a="http://schemas.openxmlformats.org/drawingml/2006/main" noGrp="1"/>
          </p:cNvSpPr>
          <p:nvPr/>
        </p:nvSpPr>
        <p:spPr>
          <a:xfrm xmlns:a="http://schemas.openxmlformats.org/drawingml/2006/main">
            <a:off x="11049000" y="6238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9DB8C8"/>
                </a:solidFill>
                <a:latin typeface="Arial"/>
                <a:ea typeface="Arial"/>
                <a:cs typeface="Arial"/>
              </a:defRPr>
            </a:pPr>
            <a:r>
              <a:rPr sz="1275" b="0">
                <a:solidFill>
                  <a:srgbClr val="9DB8C8"/>
                </a:solidFill>
                <a:latin typeface="Arial"/>
                <a:ea typeface="Arial"/>
                <a:cs typeface="Arial"/>
              </a:rPr>
              <a:t>05</a:t>
            </a:r>
          </a:p>
        </p:txBody>
      </p:sp>
      <p:sp>
        <p:nvSpPr>
          <p:cNvPr id="3" name="One seller. One operator. One part family.">
            <a:extLst xmlns:a="http://schemas.openxmlformats.org/drawingml/2006/main">
              <a:ext uri="{FF2B5EF4-FFF2-40B4-BE49-F238E27FC236}">
                <a16:creationId xmlns:a16="http://schemas.microsoft.com/office/drawing/2014/main" id="{251E953C-131B-4B0F-AD33-DB08A7031104}"/>
              </a:ext>
            </a:extLst>
          </p:cNvPr>
          <p:cNvSpPr>
            <a:spLocks xmlns:a="http://schemas.openxmlformats.org/drawingml/2006/main" noGrp="1"/>
          </p:cNvSpPr>
          <p:nvPr/>
        </p:nvSpPr>
        <p:spPr>
          <a:xfrm xmlns:a="http://schemas.openxmlformats.org/drawingml/2006/main">
            <a:off x="666750" y="17526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B8E3E9"/>
                </a:solidFill>
                <a:latin typeface="Arial"/>
                <a:ea typeface="Arial"/>
                <a:cs typeface="Arial"/>
              </a:defRPr>
            </a:pPr>
            <a:r>
              <a:rPr sz="2550" b="1">
                <a:solidFill>
                  <a:srgbClr val="B8E3E9"/>
                </a:solidFill>
                <a:latin typeface="Arial"/>
                <a:ea typeface="Arial"/>
                <a:cs typeface="Arial"/>
              </a:rPr>
              <a:t>One seller. One operator. One part family.</a:t>
            </a:r>
          </a:p>
        </p:txBody>
      </p:sp>
      <p:sp>
        <p:nvSpPr>
          <p:cNvPr id="4" name="10">
            <a:extLst xmlns:a="http://schemas.openxmlformats.org/drawingml/2006/main">
              <a:ext uri="{FF2B5EF4-FFF2-40B4-BE49-F238E27FC236}">
                <a16:creationId xmlns:a16="http://schemas.microsoft.com/office/drawing/2014/main" id="{77E5930A-5A6D-4041-822E-FE0EFEA5A7E9}"/>
              </a:ext>
            </a:extLst>
          </p:cNvPr>
          <p:cNvSpPr>
            <a:spLocks xmlns:a="http://schemas.openxmlformats.org/drawingml/2006/main" noGrp="1"/>
          </p:cNvSpPr>
          <p:nvPr/>
        </p:nvSpPr>
        <p:spPr>
          <a:xfrm xmlns:a="http://schemas.openxmlformats.org/drawingml/2006/main">
            <a:off x="666750" y="2752725"/>
            <a:ext cx="3810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950" b="1">
                <a:solidFill>
                  <a:srgbClr val="F4FAFB"/>
                </a:solidFill>
                <a:latin typeface="Arial"/>
                <a:ea typeface="Arial"/>
                <a:cs typeface="Arial"/>
              </a:defRPr>
            </a:pPr>
            <a:r>
              <a:rPr sz="7950" b="1">
                <a:solidFill>
                  <a:srgbClr val="F4FAFB"/>
                </a:solidFill>
                <a:latin typeface="Arial"/>
                <a:ea typeface="Arial"/>
                <a:cs typeface="Arial"/>
              </a:rPr>
              <a:t>10</a:t>
            </a:r>
          </a:p>
        </p:txBody>
      </p:sp>
      <p:sp>
        <p:nvSpPr>
          <p:cNvPr id="5" name="Manual baseline observations">
            <a:extLst xmlns:a="http://schemas.openxmlformats.org/drawingml/2006/main">
              <a:ext uri="{FF2B5EF4-FFF2-40B4-BE49-F238E27FC236}">
                <a16:creationId xmlns:a16="http://schemas.microsoft.com/office/drawing/2014/main" id="{6803B915-3B05-4ED6-89E6-0D25A18DA517}"/>
              </a:ext>
            </a:extLst>
          </p:cNvPr>
          <p:cNvSpPr>
            <a:spLocks xmlns:a="http://schemas.openxmlformats.org/drawingml/2006/main" noGrp="1"/>
          </p:cNvSpPr>
          <p:nvPr/>
        </p:nvSpPr>
        <p:spPr>
          <a:xfrm xmlns:a="http://schemas.openxmlformats.org/drawingml/2006/main">
            <a:off x="666750" y="4124325"/>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4FAFB"/>
                </a:solidFill>
                <a:latin typeface="Arial"/>
                <a:ea typeface="Arial"/>
                <a:cs typeface="Arial"/>
              </a:defRPr>
            </a:pPr>
            <a:r>
              <a:rPr sz="2175" b="1">
                <a:solidFill>
                  <a:srgbClr val="F4FAFB"/>
                </a:solidFill>
                <a:latin typeface="Arial"/>
                <a:ea typeface="Arial"/>
                <a:cs typeface="Arial"/>
              </a:rPr>
              <a:t>Manual baseline observations</a:t>
            </a:r>
          </a:p>
        </p:txBody>
      </p:sp>
      <p:sp>
        <p:nvSpPr>
          <p:cNvPr id="6" name="Rehearse first, then record">
            <a:extLst xmlns:a="http://schemas.openxmlformats.org/drawingml/2006/main">
              <a:ext uri="{FF2B5EF4-FFF2-40B4-BE49-F238E27FC236}">
                <a16:creationId xmlns:a16="http://schemas.microsoft.com/office/drawing/2014/main" id="{071A88C4-4A4C-4D93-859E-65039D40A363}"/>
              </a:ext>
            </a:extLst>
          </p:cNvPr>
          <p:cNvSpPr>
            <a:spLocks xmlns:a="http://schemas.openxmlformats.org/drawingml/2006/main" noGrp="1"/>
          </p:cNvSpPr>
          <p:nvPr/>
        </p:nvSpPr>
        <p:spPr>
          <a:xfrm xmlns:a="http://schemas.openxmlformats.org/drawingml/2006/main">
            <a:off x="666750" y="48387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9DB8C8"/>
                </a:solidFill>
                <a:latin typeface="Arial"/>
                <a:ea typeface="Arial"/>
                <a:cs typeface="Arial"/>
              </a:defRPr>
            </a:pPr>
            <a:r>
              <a:rPr sz="2100" b="0">
                <a:solidFill>
                  <a:srgbClr val="9DB8C8"/>
                </a:solidFill>
                <a:latin typeface="Arial"/>
                <a:ea typeface="Arial"/>
                <a:cs typeface="Arial"/>
              </a:rPr>
              <a:t>Rehearse first, then record</a:t>
            </a:r>
          </a:p>
          <a:p xmlns:a="http://schemas.openxmlformats.org/drawingml/2006/main">
            <a:pPr>
              <a:defRPr sz="2100" b="0">
                <a:solidFill>
                  <a:srgbClr val="9DB8C8"/>
                </a:solidFill>
                <a:latin typeface="Arial"/>
                <a:ea typeface="Arial"/>
                <a:cs typeface="Arial"/>
              </a:defRPr>
            </a:pPr>
            <a:r>
              <a:rPr sz="2100" b="0">
                <a:solidFill>
                  <a:srgbClr val="9DB8C8"/>
                </a:solidFill>
                <a:latin typeface="Arial"/>
                <a:ea typeface="Arial"/>
                <a:cs typeface="Arial"/>
              </a:rPr>
              <a:t>the ordinary workflow.</a:t>
            </a:r>
          </a:p>
        </p:txBody>
      </p:sp>
      <p:sp>
        <p:nvSpPr>
          <p:cNvPr id="7" name="20">
            <a:extLst xmlns:a="http://schemas.openxmlformats.org/drawingml/2006/main">
              <a:ext uri="{FF2B5EF4-FFF2-40B4-BE49-F238E27FC236}">
                <a16:creationId xmlns:a16="http://schemas.microsoft.com/office/drawing/2014/main" id="{044985C6-1E6E-4DA1-96DF-9ABFB74B2646}"/>
              </a:ext>
            </a:extLst>
          </p:cNvPr>
          <p:cNvSpPr>
            <a:spLocks xmlns:a="http://schemas.openxmlformats.org/drawingml/2006/main" noGrp="1"/>
          </p:cNvSpPr>
          <p:nvPr/>
        </p:nvSpPr>
        <p:spPr>
          <a:xfrm xmlns:a="http://schemas.openxmlformats.org/drawingml/2006/main">
            <a:off x="6600825" y="2752725"/>
            <a:ext cx="385762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950" b="1">
                <a:solidFill>
                  <a:srgbClr val="F4FAFB"/>
                </a:solidFill>
                <a:latin typeface="Arial"/>
                <a:ea typeface="Arial"/>
                <a:cs typeface="Arial"/>
              </a:defRPr>
            </a:pPr>
            <a:r>
              <a:rPr sz="7950" b="1">
                <a:solidFill>
                  <a:srgbClr val="F4FAFB"/>
                </a:solidFill>
                <a:latin typeface="Arial"/>
                <a:ea typeface="Arial"/>
                <a:cs typeface="Arial"/>
              </a:rPr>
              <a:t>20</a:t>
            </a:r>
          </a:p>
        </p:txBody>
      </p:sp>
      <p:sp>
        <p:nvSpPr>
          <p:cNvPr id="8" name="Parts in the comparison batch">
            <a:extLst xmlns:a="http://schemas.openxmlformats.org/drawingml/2006/main">
              <a:ext uri="{FF2B5EF4-FFF2-40B4-BE49-F238E27FC236}">
                <a16:creationId xmlns:a16="http://schemas.microsoft.com/office/drawing/2014/main" id="{856E5B67-3583-4082-97A3-0EEB1A92C14D}"/>
              </a:ext>
            </a:extLst>
          </p:cNvPr>
          <p:cNvSpPr>
            <a:spLocks xmlns:a="http://schemas.openxmlformats.org/drawingml/2006/main" noGrp="1"/>
          </p:cNvSpPr>
          <p:nvPr/>
        </p:nvSpPr>
        <p:spPr>
          <a:xfrm xmlns:a="http://schemas.openxmlformats.org/drawingml/2006/main">
            <a:off x="6600825" y="41243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4FAFB"/>
                </a:solidFill>
                <a:latin typeface="Arial"/>
                <a:ea typeface="Arial"/>
                <a:cs typeface="Arial"/>
              </a:defRPr>
            </a:pPr>
            <a:r>
              <a:rPr sz="2175" b="1">
                <a:solidFill>
                  <a:srgbClr val="F4FAFB"/>
                </a:solidFill>
                <a:latin typeface="Arial"/>
                <a:ea typeface="Arial"/>
                <a:cs typeface="Arial"/>
              </a:rPr>
              <a:t>Parts in the comparison batch</a:t>
            </a:r>
          </a:p>
        </p:txBody>
      </p:sp>
      <p:sp>
        <p:nvSpPr>
          <p:cNvPr id="9" name="10 manual and 10 with DeepSpec.">
            <a:extLst xmlns:a="http://schemas.openxmlformats.org/drawingml/2006/main">
              <a:ext uri="{FF2B5EF4-FFF2-40B4-BE49-F238E27FC236}">
                <a16:creationId xmlns:a16="http://schemas.microsoft.com/office/drawing/2014/main" id="{3A2053C6-EF91-4E4C-B3C9-967B35E27EBD}"/>
              </a:ext>
            </a:extLst>
          </p:cNvPr>
          <p:cNvSpPr>
            <a:spLocks xmlns:a="http://schemas.openxmlformats.org/drawingml/2006/main" noGrp="1"/>
          </p:cNvSpPr>
          <p:nvPr/>
        </p:nvSpPr>
        <p:spPr>
          <a:xfrm xmlns:a="http://schemas.openxmlformats.org/drawingml/2006/main">
            <a:off x="6600825" y="483870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9DB8C8"/>
                </a:solidFill>
                <a:latin typeface="Arial"/>
                <a:ea typeface="Arial"/>
                <a:cs typeface="Arial"/>
              </a:defRPr>
            </a:pPr>
            <a:r>
              <a:rPr sz="2100" b="0">
                <a:solidFill>
                  <a:srgbClr val="9DB8C8"/>
                </a:solidFill>
                <a:latin typeface="Arial"/>
                <a:ea typeface="Arial"/>
                <a:cs typeface="Arial"/>
              </a:rPr>
              <a:t>10 manual and 10 with DeepSpec.</a:t>
            </a:r>
          </a:p>
          <a:p xmlns:a="http://schemas.openxmlformats.org/drawingml/2006/main">
            <a:pPr>
              <a:defRPr sz="2100" b="0">
                <a:solidFill>
                  <a:srgbClr val="9DB8C8"/>
                </a:solidFill>
                <a:latin typeface="Arial"/>
                <a:ea typeface="Arial"/>
                <a:cs typeface="Arial"/>
              </a:defRPr>
            </a:pPr>
            <a:r>
              <a:rPr sz="2100" b="0">
                <a:solidFill>
                  <a:srgbClr val="9DB8C8"/>
                </a:solidFill>
                <a:latin typeface="Arial"/>
                <a:ea typeface="Arial"/>
                <a:cs typeface="Arial"/>
              </a:rPr>
              <a:t>Use different physical parts.</a:t>
            </a:r>
          </a:p>
        </p:txBody>
      </p:sp>
      <p:sp>
        <p:nvSpPr>
          <p:cNvPr id="10" name="Keep normal tests. Balance difficulty. Retain failed and abandoned att">
            <a:extLst xmlns:a="http://schemas.openxmlformats.org/drawingml/2006/main">
              <a:ext uri="{FF2B5EF4-FFF2-40B4-BE49-F238E27FC236}">
                <a16:creationId xmlns:a16="http://schemas.microsoft.com/office/drawing/2014/main" id="{7D77537C-8DF3-40FF-8BF4-6AA037BE3062}"/>
              </a:ext>
            </a:extLst>
          </p:cNvPr>
          <p:cNvSpPr>
            <a:spLocks xmlns:a="http://schemas.openxmlformats.org/drawingml/2006/main" noGrp="1"/>
          </p:cNvSpPr>
          <p:nvPr/>
        </p:nvSpPr>
        <p:spPr>
          <a:xfrm xmlns:a="http://schemas.openxmlformats.org/drawingml/2006/main">
            <a:off x="666750" y="611505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9DB8C8"/>
                </a:solidFill>
                <a:latin typeface="Arial"/>
                <a:ea typeface="Arial"/>
                <a:cs typeface="Arial"/>
              </a:defRPr>
            </a:pPr>
            <a:r>
              <a:rPr sz="1650" b="0">
                <a:solidFill>
                  <a:srgbClr val="9DB8C8"/>
                </a:solidFill>
                <a:latin typeface="Arial"/>
                <a:ea typeface="Arial"/>
                <a:cs typeface="Arial"/>
              </a:rPr>
              <a:t>Keep normal tests. Balance difficulty. Retain failed and abandoned attempts.</a:t>
            </a:r>
          </a:p>
        </p:txBody>
      </p:sp>
    </p:spTree>
    <p:extLst>
      <p:ext uri="{BB962C8B-B14F-4D97-AF65-F5344CB8AC3E}">
        <p14:creationId xmlns:p14="http://schemas.microsoft.com/office/powerpoint/2010/main" val="1634861891"/>
      </p:ext>
    </p:extLst>
  </p:cSld>
</p:sld>
</file>

<file path=ppt/slides/slide6.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9" name="Proposed continuation target">
            <a:extLst xmlns:a="http://schemas.openxmlformats.org/drawingml/2006/main">
              <a:ext uri="{FF2B5EF4-FFF2-40B4-BE49-F238E27FC236}">
                <a16:creationId xmlns:a16="http://schemas.microsoft.com/office/drawing/2014/main" id="{2F53A976-F99F-40D2-865C-7860AD5A514A}"/>
              </a:ext>
            </a:extLst>
          </p:cNvPr>
          <p:cNvSpPr>
            <a:spLocks xmlns:a="http://schemas.openxmlformats.org/drawingml/2006/main" noGrp="1"/>
          </p:cNvSpPr>
          <p:nvPr/>
        </p:nvSpPr>
        <p:spPr>
          <a:xfrm xmlns:a="http://schemas.openxmlformats.org/drawingml/2006/main">
            <a:off x="666750" y="51435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32A3C"/>
                </a:solidFill>
                <a:latin typeface="Arial"/>
                <a:ea typeface="Arial"/>
                <a:cs typeface="Arial"/>
              </a:defRPr>
            </a:pPr>
            <a:r>
              <a:rPr sz="3600" b="1">
                <a:solidFill>
                  <a:srgbClr val="132A3C"/>
                </a:solidFill>
                <a:latin typeface="Arial"/>
                <a:ea typeface="Arial"/>
                <a:cs typeface="Arial"/>
              </a:rPr>
              <a:t>Proposed continuation target</a:t>
            </a:r>
          </a:p>
        </p:txBody>
      </p:sp>
      <p:sp>
        <p:nvSpPr>
          <p:cNvPr id="2" name="06">
            <a:extLst xmlns:a="http://schemas.openxmlformats.org/drawingml/2006/main">
              <a:ext uri="{FF2B5EF4-FFF2-40B4-BE49-F238E27FC236}">
                <a16:creationId xmlns:a16="http://schemas.microsoft.com/office/drawing/2014/main" id="{03C6A78D-9B12-4A21-9C0F-8E74B7518617}"/>
              </a:ext>
            </a:extLst>
          </p:cNvPr>
          <p:cNvSpPr>
            <a:spLocks xmlns:a="http://schemas.openxmlformats.org/drawingml/2006/main" noGrp="1"/>
          </p:cNvSpPr>
          <p:nvPr/>
        </p:nvSpPr>
        <p:spPr>
          <a:xfrm xmlns:a="http://schemas.openxmlformats.org/drawingml/2006/main">
            <a:off x="11049000" y="6238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67181"/>
                </a:solidFill>
                <a:latin typeface="Arial"/>
                <a:ea typeface="Arial"/>
                <a:cs typeface="Arial"/>
              </a:defRPr>
            </a:pPr>
            <a:r>
              <a:rPr sz="1275" b="0">
                <a:solidFill>
                  <a:srgbClr val="567181"/>
                </a:solidFill>
                <a:latin typeface="Arial"/>
                <a:ea typeface="Arial"/>
                <a:cs typeface="Arial"/>
              </a:rPr>
              <a:t>06</a:t>
            </a:r>
          </a:p>
        </p:txBody>
      </p:sp>
      <p:sp>
        <p:nvSpPr>
          <p:cNvPr id="3" name="30%">
            <a:extLst xmlns:a="http://schemas.openxmlformats.org/drawingml/2006/main">
              <a:ext uri="{FF2B5EF4-FFF2-40B4-BE49-F238E27FC236}">
                <a16:creationId xmlns:a16="http://schemas.microsoft.com/office/drawing/2014/main" id="{4C0A8195-BEC6-44A9-98E9-EE90CEDB073E}"/>
              </a:ext>
            </a:extLst>
          </p:cNvPr>
          <p:cNvSpPr>
            <a:spLocks xmlns:a="http://schemas.openxmlformats.org/drawingml/2006/main" noGrp="1"/>
          </p:cNvSpPr>
          <p:nvPr/>
        </p:nvSpPr>
        <p:spPr>
          <a:xfrm xmlns:a="http://schemas.openxmlformats.org/drawingml/2006/main">
            <a:off x="666750" y="1924050"/>
            <a:ext cx="509587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600" b="1">
                <a:solidFill>
                  <a:srgbClr val="216477"/>
                </a:solidFill>
                <a:latin typeface="Arial"/>
                <a:ea typeface="Arial"/>
                <a:cs typeface="Arial"/>
              </a:defRPr>
            </a:pPr>
            <a:r>
              <a:rPr sz="9600" b="1">
                <a:solidFill>
                  <a:srgbClr val="216477"/>
                </a:solidFill>
                <a:latin typeface="Arial"/>
                <a:ea typeface="Arial"/>
                <a:cs typeface="Arial"/>
              </a:rPr>
              <a:t>30%</a:t>
            </a:r>
          </a:p>
        </p:txBody>
      </p:sp>
      <p:sp>
        <p:nvSpPr>
          <p:cNvPr id="4" name="Lower median active time">
            <a:extLst xmlns:a="http://schemas.openxmlformats.org/drawingml/2006/main">
              <a:ext uri="{FF2B5EF4-FFF2-40B4-BE49-F238E27FC236}">
                <a16:creationId xmlns:a16="http://schemas.microsoft.com/office/drawing/2014/main" id="{7A976BDC-9AA7-481B-9C3F-849E5BD59229}"/>
              </a:ext>
            </a:extLst>
          </p:cNvPr>
          <p:cNvSpPr>
            <a:spLocks xmlns:a="http://schemas.openxmlformats.org/drawingml/2006/main" noGrp="1"/>
          </p:cNvSpPr>
          <p:nvPr/>
        </p:nvSpPr>
        <p:spPr>
          <a:xfrm xmlns:a="http://schemas.openxmlformats.org/drawingml/2006/main">
            <a:off x="723900" y="3733800"/>
            <a:ext cx="6334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32A3C"/>
                </a:solidFill>
                <a:latin typeface="Arial"/>
                <a:ea typeface="Arial"/>
                <a:cs typeface="Arial"/>
              </a:defRPr>
            </a:pPr>
            <a:r>
              <a:rPr sz="2700" b="1">
                <a:solidFill>
                  <a:srgbClr val="132A3C"/>
                </a:solidFill>
                <a:latin typeface="Arial"/>
                <a:ea typeface="Arial"/>
                <a:cs typeface="Arial"/>
              </a:rPr>
              <a:t>Lower median active time</a:t>
            </a:r>
          </a:p>
        </p:txBody>
      </p:sp>
      <p:sp>
        <p:nvSpPr>
          <p:cNvPr id="5" name="Target only. No measured savings yet.">
            <a:extLst xmlns:a="http://schemas.openxmlformats.org/drawingml/2006/main">
              <a:ext uri="{FF2B5EF4-FFF2-40B4-BE49-F238E27FC236}">
                <a16:creationId xmlns:a16="http://schemas.microsoft.com/office/drawing/2014/main" id="{5F18F4C6-886F-4FEC-B773-6AF049C1E947}"/>
              </a:ext>
            </a:extLst>
          </p:cNvPr>
          <p:cNvSpPr>
            <a:spLocks xmlns:a="http://schemas.openxmlformats.org/drawingml/2006/main" noGrp="1"/>
          </p:cNvSpPr>
          <p:nvPr/>
        </p:nvSpPr>
        <p:spPr>
          <a:xfrm xmlns:a="http://schemas.openxmlformats.org/drawingml/2006/main">
            <a:off x="723900" y="455295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486F82"/>
                </a:solidFill>
                <a:latin typeface="Arial"/>
                <a:ea typeface="Arial"/>
                <a:cs typeface="Arial"/>
              </a:defRPr>
            </a:pPr>
            <a:r>
              <a:rPr sz="2175" b="0">
                <a:solidFill>
                  <a:srgbClr val="486F82"/>
                </a:solidFill>
                <a:latin typeface="Arial"/>
                <a:ea typeface="Arial"/>
                <a:cs typeface="Arial"/>
              </a:rPr>
              <a:t>Target only. No measured savings yet.</a:t>
            </a:r>
          </a:p>
        </p:txBody>
      </p:sp>
      <p:sp>
        <p:nvSpPr>
          <p:cNvPr id="6" name="The result also needs">
            <a:extLst xmlns:a="http://schemas.openxmlformats.org/drawingml/2006/main">
              <a:ext uri="{FF2B5EF4-FFF2-40B4-BE49-F238E27FC236}">
                <a16:creationId xmlns:a16="http://schemas.microsoft.com/office/drawing/2014/main" id="{A6257FDD-20E5-4DE0-A44A-569F779FDE43}"/>
              </a:ext>
            </a:extLst>
          </p:cNvPr>
          <p:cNvSpPr>
            <a:spLocks xmlns:a="http://schemas.openxmlformats.org/drawingml/2006/main" noGrp="1"/>
          </p:cNvSpPr>
          <p:nvPr/>
        </p:nvSpPr>
        <p:spPr>
          <a:xfrm xmlns:a="http://schemas.openxmlformats.org/drawingml/2006/main">
            <a:off x="7610475" y="2028825"/>
            <a:ext cx="3905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32A3C"/>
                </a:solidFill>
                <a:latin typeface="Arial"/>
                <a:ea typeface="Arial"/>
                <a:cs typeface="Arial"/>
              </a:defRPr>
            </a:pPr>
            <a:r>
              <a:rPr sz="2400" b="1">
                <a:solidFill>
                  <a:srgbClr val="132A3C"/>
                </a:solidFill>
                <a:latin typeface="Arial"/>
                <a:ea typeface="Arial"/>
                <a:cs typeface="Arial"/>
              </a:rPr>
              <a:t>The result also needs</a:t>
            </a:r>
          </a:p>
        </p:txBody>
      </p:sp>
      <p:sp>
        <p:nvSpPr>
          <p:cNvPr id="7" name="No increase in wrong">
            <a:extLst xmlns:a="http://schemas.openxmlformats.org/drawingml/2006/main">
              <a:ext uri="{FF2B5EF4-FFF2-40B4-BE49-F238E27FC236}">
                <a16:creationId xmlns:a16="http://schemas.microsoft.com/office/drawing/2014/main" id="{AFD7CE02-40AB-42B2-9A38-7D107F16847D}"/>
              </a:ext>
            </a:extLst>
          </p:cNvPr>
          <p:cNvSpPr>
            <a:spLocks xmlns:a="http://schemas.openxmlformats.org/drawingml/2006/main" noGrp="1"/>
          </p:cNvSpPr>
          <p:nvPr/>
        </p:nvSpPr>
        <p:spPr>
          <a:xfrm xmlns:a="http://schemas.openxmlformats.org/drawingml/2006/main">
            <a:off x="7610475" y="2828925"/>
            <a:ext cx="3905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No increase in wrong</a:t>
            </a:r>
          </a:p>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accepted identities.</a:t>
            </a:r>
          </a:p>
          <a:p xmlns:a="http://schemas.openxmlformats.org/drawingml/2006/main">
            <a:r>
              <a:t/>
            </a:r>
          </a:p>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No lost records.</a:t>
            </a:r>
          </a:p>
          <a:p xmlns:a="http://schemas.openxmlformats.org/drawingml/2006/main">
            <a:r>
              <a:t/>
            </a:r>
          </a:p>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Honest counts of failures,</a:t>
            </a:r>
          </a:p>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missing timing and support.</a:t>
            </a:r>
          </a:p>
        </p:txBody>
      </p:sp>
      <p:sp>
        <p:nvSpPr>
          <p:cNvPr id="8" name="Required inspection and functional-test time stays in both workflows.">
            <a:extLst xmlns:a="http://schemas.openxmlformats.org/drawingml/2006/main">
              <a:ext uri="{FF2B5EF4-FFF2-40B4-BE49-F238E27FC236}">
                <a16:creationId xmlns:a16="http://schemas.microsoft.com/office/drawing/2014/main" id="{7BAE223C-685A-4C7C-8F76-5011FECA5F31}"/>
              </a:ext>
            </a:extLst>
          </p:cNvPr>
          <p:cNvSpPr>
            <a:spLocks xmlns:a="http://schemas.openxmlformats.org/drawingml/2006/main" noGrp="1"/>
          </p:cNvSpPr>
          <p:nvPr/>
        </p:nvSpPr>
        <p:spPr>
          <a:xfrm xmlns:a="http://schemas.openxmlformats.org/drawingml/2006/main">
            <a:off x="723900" y="5981700"/>
            <a:ext cx="1028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67181"/>
                </a:solidFill>
                <a:latin typeface="Arial"/>
                <a:ea typeface="Arial"/>
                <a:cs typeface="Arial"/>
              </a:defRPr>
            </a:pPr>
            <a:r>
              <a:rPr sz="1650" b="0">
                <a:solidFill>
                  <a:srgbClr val="567181"/>
                </a:solidFill>
                <a:latin typeface="Arial"/>
                <a:ea typeface="Arial"/>
                <a:cs typeface="Arial"/>
              </a:rPr>
              <a:t>Required inspection and functional-test time stays in both workflows.</a:t>
            </a:r>
          </a:p>
        </p:txBody>
      </p:sp>
    </p:spTree>
    <p:extLst>
      <p:ext uri="{BB962C8B-B14F-4D97-AF65-F5344CB8AC3E}">
        <p14:creationId xmlns:p14="http://schemas.microsoft.com/office/powerpoint/2010/main" val="116492679"/>
      </p:ext>
    </p:extLst>
  </p:cSld>
</p:sld>
</file>

<file path=ppt/slides/slide7.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9" name="Before a seller begins">
            <a:extLst xmlns:a="http://schemas.openxmlformats.org/drawingml/2006/main">
              <a:ext uri="{FF2B5EF4-FFF2-40B4-BE49-F238E27FC236}">
                <a16:creationId xmlns:a16="http://schemas.microsoft.com/office/drawing/2014/main" id="{581254F9-C3D7-4563-B5C1-3E2DE7716F3D}"/>
              </a:ext>
            </a:extLst>
          </p:cNvPr>
          <p:cNvSpPr>
            <a:spLocks xmlns:a="http://schemas.openxmlformats.org/drawingml/2006/main" noGrp="1"/>
          </p:cNvSpPr>
          <p:nvPr/>
        </p:nvSpPr>
        <p:spPr>
          <a:xfrm xmlns:a="http://schemas.openxmlformats.org/drawingml/2006/main">
            <a:off x="666750" y="51435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32A3C"/>
                </a:solidFill>
                <a:latin typeface="Arial"/>
                <a:ea typeface="Arial"/>
                <a:cs typeface="Arial"/>
              </a:defRPr>
            </a:pPr>
            <a:r>
              <a:rPr sz="3600" b="1">
                <a:solidFill>
                  <a:srgbClr val="132A3C"/>
                </a:solidFill>
                <a:latin typeface="Arial"/>
                <a:ea typeface="Arial"/>
                <a:cs typeface="Arial"/>
              </a:rPr>
              <a:t>Before a seller begins</a:t>
            </a:r>
          </a:p>
        </p:txBody>
      </p:sp>
      <p:sp>
        <p:nvSpPr>
          <p:cNvPr id="2" name="07">
            <a:extLst xmlns:a="http://schemas.openxmlformats.org/drawingml/2006/main">
              <a:ext uri="{FF2B5EF4-FFF2-40B4-BE49-F238E27FC236}">
                <a16:creationId xmlns:a16="http://schemas.microsoft.com/office/drawing/2014/main" id="{D2234BC5-14A9-4825-83AB-C34D6A225BE6}"/>
              </a:ext>
            </a:extLst>
          </p:cNvPr>
          <p:cNvSpPr>
            <a:spLocks xmlns:a="http://schemas.openxmlformats.org/drawingml/2006/main" noGrp="1"/>
          </p:cNvSpPr>
          <p:nvPr/>
        </p:nvSpPr>
        <p:spPr>
          <a:xfrm xmlns:a="http://schemas.openxmlformats.org/drawingml/2006/main">
            <a:off x="11049000" y="6238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67181"/>
                </a:solidFill>
                <a:latin typeface="Arial"/>
                <a:ea typeface="Arial"/>
                <a:cs typeface="Arial"/>
              </a:defRPr>
            </a:pPr>
            <a:r>
              <a:rPr sz="1275" b="0">
                <a:solidFill>
                  <a:srgbClr val="567181"/>
                </a:solidFill>
                <a:latin typeface="Arial"/>
                <a:ea typeface="Arial"/>
                <a:cs typeface="Arial"/>
              </a:rPr>
              <a:t>07</a:t>
            </a:r>
          </a:p>
        </p:txBody>
      </p:sp>
      <p:sp>
        <p:nvSpPr>
          <p:cNvPr id="3" name="The cloud-backed pilot still has release gates">
            <a:extLst xmlns:a="http://schemas.openxmlformats.org/drawingml/2006/main">
              <a:ext uri="{FF2B5EF4-FFF2-40B4-BE49-F238E27FC236}">
                <a16:creationId xmlns:a16="http://schemas.microsoft.com/office/drawing/2014/main" id="{CA2818F0-0574-4661-B0F8-B68E39D87E02}"/>
              </a:ext>
            </a:extLst>
          </p:cNvPr>
          <p:cNvSpPr>
            <a:spLocks xmlns:a="http://schemas.openxmlformats.org/drawingml/2006/main" noGrp="1"/>
          </p:cNvSpPr>
          <p:nvPr/>
        </p:nvSpPr>
        <p:spPr>
          <a:xfrm xmlns:a="http://schemas.openxmlformats.org/drawingml/2006/main">
            <a:off x="666750" y="17526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32A3C"/>
                </a:solidFill>
                <a:latin typeface="Arial"/>
                <a:ea typeface="Arial"/>
                <a:cs typeface="Arial"/>
              </a:defRPr>
            </a:pPr>
            <a:r>
              <a:rPr sz="2475" b="1">
                <a:solidFill>
                  <a:srgbClr val="132A3C"/>
                </a:solidFill>
                <a:latin typeface="Arial"/>
                <a:ea typeface="Arial"/>
                <a:cs typeface="Arial"/>
              </a:rPr>
              <a:t>The cloud-backed pilot still has release gates</a:t>
            </a:r>
          </a:p>
        </p:txBody>
      </p:sp>
      <p:sp>
        <p:nvSpPr>
          <p:cNvPr id="4" name="Cloud inspection storage">
            <a:extLst xmlns:a="http://schemas.openxmlformats.org/drawingml/2006/main">
              <a:ext uri="{FF2B5EF4-FFF2-40B4-BE49-F238E27FC236}">
                <a16:creationId xmlns:a16="http://schemas.microsoft.com/office/drawing/2014/main" id="{0EDDF2B2-C141-44B2-8E9B-B85D68E0C959}"/>
              </a:ext>
            </a:extLst>
          </p:cNvPr>
          <p:cNvSpPr>
            <a:spLocks xmlns:a="http://schemas.openxmlformats.org/drawingml/2006/main" noGrp="1"/>
          </p:cNvSpPr>
          <p:nvPr/>
        </p:nvSpPr>
        <p:spPr>
          <a:xfrm xmlns:a="http://schemas.openxmlformats.org/drawingml/2006/main">
            <a:off x="666750" y="277177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16477"/>
                </a:solidFill>
                <a:latin typeface="Arial"/>
                <a:ea typeface="Arial"/>
                <a:cs typeface="Arial"/>
              </a:defRPr>
            </a:pPr>
            <a:r>
              <a:rPr sz="2250" b="1">
                <a:solidFill>
                  <a:srgbClr val="216477"/>
                </a:solidFill>
                <a:latin typeface="Arial"/>
                <a:ea typeface="Arial"/>
                <a:cs typeface="Arial"/>
              </a:rPr>
              <a:t>Cloud inspection storage</a:t>
            </a:r>
          </a:p>
        </p:txBody>
      </p:sp>
      <p:sp>
        <p:nvSpPr>
          <p:cNvPr id="5" name="Apply the reviewed database change.">
            <a:extLst xmlns:a="http://schemas.openxmlformats.org/drawingml/2006/main">
              <a:ext uri="{FF2B5EF4-FFF2-40B4-BE49-F238E27FC236}">
                <a16:creationId xmlns:a16="http://schemas.microsoft.com/office/drawing/2014/main" id="{05F07BA0-6E92-4385-A791-4FDC4F9FA4FB}"/>
              </a:ext>
            </a:extLst>
          </p:cNvPr>
          <p:cNvSpPr>
            <a:spLocks xmlns:a="http://schemas.openxmlformats.org/drawingml/2006/main" noGrp="1"/>
          </p:cNvSpPr>
          <p:nvPr/>
        </p:nvSpPr>
        <p:spPr>
          <a:xfrm xmlns:a="http://schemas.openxmlformats.org/drawingml/2006/main">
            <a:off x="666750" y="33432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Apply the reviewed database change.</a:t>
            </a:r>
          </a:p>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Verify save, readback and account isolation.</a:t>
            </a:r>
          </a:p>
        </p:txBody>
      </p:sp>
      <p:sp>
        <p:nvSpPr>
          <p:cNvPr id="6" name="Release checks">
            <a:extLst xmlns:a="http://schemas.openxmlformats.org/drawingml/2006/main">
              <a:ext uri="{FF2B5EF4-FFF2-40B4-BE49-F238E27FC236}">
                <a16:creationId xmlns:a16="http://schemas.microsoft.com/office/drawing/2014/main" id="{B10BB22B-99E5-49CD-B7CA-43A2232A7D49}"/>
              </a:ext>
            </a:extLst>
          </p:cNvPr>
          <p:cNvSpPr>
            <a:spLocks xmlns:a="http://schemas.openxmlformats.org/drawingml/2006/main" noGrp="1"/>
          </p:cNvSpPr>
          <p:nvPr/>
        </p:nvSpPr>
        <p:spPr>
          <a:xfrm xmlns:a="http://schemas.openxmlformats.org/drawingml/2006/main">
            <a:off x="666750" y="43815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16477"/>
                </a:solidFill>
                <a:latin typeface="Arial"/>
                <a:ea typeface="Arial"/>
                <a:cs typeface="Arial"/>
              </a:defRPr>
            </a:pPr>
            <a:r>
              <a:rPr sz="2250" b="1">
                <a:solidFill>
                  <a:srgbClr val="216477"/>
                </a:solidFill>
                <a:latin typeface="Arial"/>
                <a:ea typeface="Arial"/>
                <a:cs typeface="Arial"/>
              </a:rPr>
              <a:t>Release checks</a:t>
            </a:r>
          </a:p>
        </p:txBody>
      </p:sp>
      <p:sp>
        <p:nvSpPr>
          <p:cNvPr id="7" name="Configure the missing CI settings and pass the checks.">
            <a:extLst xmlns:a="http://schemas.openxmlformats.org/drawingml/2006/main">
              <a:ext uri="{FF2B5EF4-FFF2-40B4-BE49-F238E27FC236}">
                <a16:creationId xmlns:a16="http://schemas.microsoft.com/office/drawing/2014/main" id="{A0408FFB-2B4D-47F2-A2EB-DE578987308B}"/>
              </a:ext>
            </a:extLst>
          </p:cNvPr>
          <p:cNvSpPr>
            <a:spLocks xmlns:a="http://schemas.openxmlformats.org/drawingml/2006/main" noGrp="1"/>
          </p:cNvSpPr>
          <p:nvPr/>
        </p:nvSpPr>
        <p:spPr>
          <a:xfrm xmlns:a="http://schemas.openxmlformats.org/drawingml/2006/main">
            <a:off x="666750" y="49530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Configure the missing CI settings and pass the checks.</a:t>
            </a:r>
          </a:p>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Rehearse camera, recovery and exports on the actual phone.</a:t>
            </a:r>
          </a:p>
        </p:txBody>
      </p:sp>
      <p:sp>
        <p:nvSpPr>
          <p:cNvPr id="8" name="Use one editor during the pilot. Cross-device edits lack atomic confli">
            <a:extLst xmlns:a="http://schemas.openxmlformats.org/drawingml/2006/main">
              <a:ext uri="{FF2B5EF4-FFF2-40B4-BE49-F238E27FC236}">
                <a16:creationId xmlns:a16="http://schemas.microsoft.com/office/drawing/2014/main" id="{CA20084A-1084-4B88-BA37-B9EE7955DE75}"/>
              </a:ext>
            </a:extLst>
          </p:cNvPr>
          <p:cNvSpPr>
            <a:spLocks xmlns:a="http://schemas.openxmlformats.org/drawingml/2006/main" noGrp="1"/>
          </p:cNvSpPr>
          <p:nvPr/>
        </p:nvSpPr>
        <p:spPr>
          <a:xfrm xmlns:a="http://schemas.openxmlformats.org/drawingml/2006/main">
            <a:off x="666750" y="6219825"/>
            <a:ext cx="10287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67181"/>
                </a:solidFill>
                <a:latin typeface="Arial"/>
                <a:ea typeface="Arial"/>
                <a:cs typeface="Arial"/>
              </a:defRPr>
            </a:pPr>
            <a:r>
              <a:rPr sz="1425" b="0">
                <a:solidFill>
                  <a:srgbClr val="567181"/>
                </a:solidFill>
                <a:latin typeface="Arial"/>
                <a:ea typeface="Arial"/>
                <a:cs typeface="Arial"/>
              </a:rPr>
              <a:t>Use one editor during the pilot. Cross-device edits lack atomic conflict protection.</a:t>
            </a:r>
          </a:p>
        </p:txBody>
      </p:sp>
    </p:spTree>
    <p:extLst>
      <p:ext uri="{BB962C8B-B14F-4D97-AF65-F5344CB8AC3E}">
        <p14:creationId xmlns:p14="http://schemas.microsoft.com/office/powerpoint/2010/main" val="1811713560"/>
      </p:ext>
    </p:extLst>
  </p:cSld>
</p:sld>
</file>

<file path=ppt/slides/slide8.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7" name="Pilot invitation">
            <a:extLst xmlns:a="http://schemas.openxmlformats.org/drawingml/2006/main">
              <a:ext uri="{FF2B5EF4-FFF2-40B4-BE49-F238E27FC236}">
                <a16:creationId xmlns:a16="http://schemas.microsoft.com/office/drawing/2014/main" id="{F41F7130-3F23-407E-A165-0FF2C0432FE1}"/>
              </a:ext>
            </a:extLst>
          </p:cNvPr>
          <p:cNvSpPr>
            <a:spLocks xmlns:a="http://schemas.openxmlformats.org/drawingml/2006/main" noGrp="1"/>
          </p:cNvSpPr>
          <p:nvPr/>
        </p:nvSpPr>
        <p:spPr>
          <a:xfrm xmlns:a="http://schemas.openxmlformats.org/drawingml/2006/main">
            <a:off x="666750" y="51435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4FAFB"/>
                </a:solidFill>
                <a:latin typeface="Arial"/>
                <a:ea typeface="Arial"/>
                <a:cs typeface="Arial"/>
              </a:defRPr>
            </a:pPr>
            <a:r>
              <a:rPr sz="3600" b="1">
                <a:solidFill>
                  <a:srgbClr val="F4FAFB"/>
                </a:solidFill>
                <a:latin typeface="Arial"/>
                <a:ea typeface="Arial"/>
                <a:cs typeface="Arial"/>
              </a:rPr>
              <a:t>Pilot invitation</a:t>
            </a:r>
          </a:p>
        </p:txBody>
      </p:sp>
      <p:sp>
        <p:nvSpPr>
          <p:cNvPr id="2" name="08">
            <a:extLst xmlns:a="http://schemas.openxmlformats.org/drawingml/2006/main">
              <a:ext uri="{FF2B5EF4-FFF2-40B4-BE49-F238E27FC236}">
                <a16:creationId xmlns:a16="http://schemas.microsoft.com/office/drawing/2014/main" id="{F3E70046-D978-4881-9897-C8D3AC50A9D1}"/>
              </a:ext>
            </a:extLst>
          </p:cNvPr>
          <p:cNvSpPr>
            <a:spLocks xmlns:a="http://schemas.openxmlformats.org/drawingml/2006/main" noGrp="1"/>
          </p:cNvSpPr>
          <p:nvPr/>
        </p:nvSpPr>
        <p:spPr>
          <a:xfrm xmlns:a="http://schemas.openxmlformats.org/drawingml/2006/main">
            <a:off x="11049000" y="62388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9DB8C8"/>
                </a:solidFill>
                <a:latin typeface="Arial"/>
                <a:ea typeface="Arial"/>
                <a:cs typeface="Arial"/>
              </a:defRPr>
            </a:pPr>
            <a:r>
              <a:rPr sz="1275" b="0">
                <a:solidFill>
                  <a:srgbClr val="9DB8C8"/>
                </a:solidFill>
                <a:latin typeface="Arial"/>
                <a:ea typeface="Arial"/>
                <a:cs typeface="Arial"/>
              </a:rPr>
              <a:t>08</a:t>
            </a:r>
          </a:p>
        </p:txBody>
      </p:sp>
      <p:sp>
        <p:nvSpPr>
          <p:cNvPr id="3" name="Could we observe how you">
            <a:extLst xmlns:a="http://schemas.openxmlformats.org/drawingml/2006/main">
              <a:ext uri="{FF2B5EF4-FFF2-40B4-BE49-F238E27FC236}">
                <a16:creationId xmlns:a16="http://schemas.microsoft.com/office/drawing/2014/main" id="{849FF72C-400A-488C-BE2C-577B6DB9F6BF}"/>
              </a:ext>
            </a:extLst>
          </p:cNvPr>
          <p:cNvSpPr>
            <a:spLocks xmlns:a="http://schemas.openxmlformats.org/drawingml/2006/main" noGrp="1"/>
          </p:cNvSpPr>
          <p:nvPr/>
        </p:nvSpPr>
        <p:spPr>
          <a:xfrm xmlns:a="http://schemas.openxmlformats.org/drawingml/2006/main">
            <a:off x="666750" y="1714500"/>
            <a:ext cx="105727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F4FAFB"/>
                </a:solidFill>
                <a:latin typeface="Arial"/>
                <a:ea typeface="Arial"/>
                <a:cs typeface="Arial"/>
              </a:defRPr>
            </a:pPr>
            <a:r>
              <a:rPr sz="4275" b="1">
                <a:solidFill>
                  <a:srgbClr val="F4FAFB"/>
                </a:solidFill>
                <a:latin typeface="Arial"/>
                <a:ea typeface="Arial"/>
                <a:cs typeface="Arial"/>
              </a:rPr>
              <a:t>Could we observe how you</a:t>
            </a:r>
          </a:p>
          <a:p xmlns:a="http://schemas.openxmlformats.org/drawingml/2006/main">
            <a:pPr>
              <a:defRPr sz="4275" b="1">
                <a:solidFill>
                  <a:srgbClr val="F4FAFB"/>
                </a:solidFill>
                <a:latin typeface="Arial"/>
                <a:ea typeface="Arial"/>
                <a:cs typeface="Arial"/>
              </a:defRPr>
            </a:pPr>
            <a:r>
              <a:rPr sz="4275" b="1">
                <a:solidFill>
                  <a:srgbClr val="F4FAFB"/>
                </a:solidFill>
                <a:latin typeface="Arial"/>
                <a:ea typeface="Arial"/>
                <a:cs typeface="Arial"/>
              </a:rPr>
              <a:t>document incoming parts?</a:t>
            </a:r>
          </a:p>
        </p:txBody>
      </p:sp>
      <p:sp>
        <p:nvSpPr>
          <p:cNvPr id="4" name="You choose the part family and required checks,">
            <a:extLst xmlns:a="http://schemas.openxmlformats.org/drawingml/2006/main">
              <a:ext uri="{FF2B5EF4-FFF2-40B4-BE49-F238E27FC236}">
                <a16:creationId xmlns:a16="http://schemas.microsoft.com/office/drawing/2014/main" id="{1DAEA02E-B9EE-4506-BD58-2BBBE3A9037F}"/>
              </a:ext>
            </a:extLst>
          </p:cNvPr>
          <p:cNvSpPr>
            <a:spLocks xmlns:a="http://schemas.openxmlformats.org/drawingml/2006/main" noGrp="1"/>
          </p:cNvSpPr>
          <p:nvPr/>
        </p:nvSpPr>
        <p:spPr>
          <a:xfrm xmlns:a="http://schemas.openxmlformats.org/drawingml/2006/main">
            <a:off x="666750" y="3552825"/>
            <a:ext cx="1019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B8E3E9"/>
                </a:solidFill>
                <a:latin typeface="Arial"/>
                <a:ea typeface="Arial"/>
                <a:cs typeface="Arial"/>
              </a:defRPr>
            </a:pPr>
            <a:r>
              <a:rPr sz="2325" b="0">
                <a:solidFill>
                  <a:srgbClr val="B8E3E9"/>
                </a:solidFill>
                <a:latin typeface="Arial"/>
                <a:ea typeface="Arial"/>
                <a:cs typeface="Arial"/>
              </a:rPr>
              <a:t>You choose the part family and required checks,</a:t>
            </a:r>
          </a:p>
          <a:p xmlns:a="http://schemas.openxmlformats.org/drawingml/2006/main">
            <a:pPr>
              <a:defRPr sz="2325" b="0">
                <a:solidFill>
                  <a:srgbClr val="B8E3E9"/>
                </a:solidFill>
                <a:latin typeface="Arial"/>
                <a:ea typeface="Arial"/>
                <a:cs typeface="Arial"/>
              </a:defRPr>
            </a:pPr>
            <a:r>
              <a:rPr sz="2325" b="0">
                <a:solidFill>
                  <a:srgbClr val="B8E3E9"/>
                </a:solidFill>
                <a:latin typeface="Arial"/>
                <a:ea typeface="Arial"/>
                <a:cs typeface="Arial"/>
              </a:rPr>
              <a:t>and approve how photos are stored.</a:t>
            </a:r>
          </a:p>
        </p:txBody>
      </p:sp>
      <p:sp>
        <p:nvSpPr>
          <p:cNvPr id="5" name="We run the small comparison and review">
            <a:extLst xmlns:a="http://schemas.openxmlformats.org/drawingml/2006/main">
              <a:ext uri="{FF2B5EF4-FFF2-40B4-BE49-F238E27FC236}">
                <a16:creationId xmlns:a16="http://schemas.microsoft.com/office/drawing/2014/main" id="{2A082059-266D-4F48-A2FF-8B7198B372A9}"/>
              </a:ext>
            </a:extLst>
          </p:cNvPr>
          <p:cNvSpPr>
            <a:spLocks xmlns:a="http://schemas.openxmlformats.org/drawingml/2006/main" noGrp="1"/>
          </p:cNvSpPr>
          <p:nvPr/>
        </p:nvSpPr>
        <p:spPr>
          <a:xfrm xmlns:a="http://schemas.openxmlformats.org/drawingml/2006/main">
            <a:off x="666750" y="4695825"/>
            <a:ext cx="10191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4FAFB"/>
                </a:solidFill>
                <a:latin typeface="Arial"/>
                <a:ea typeface="Arial"/>
                <a:cs typeface="Arial"/>
              </a:defRPr>
            </a:pPr>
            <a:r>
              <a:rPr sz="2325" b="0">
                <a:solidFill>
                  <a:srgbClr val="F4FAFB"/>
                </a:solidFill>
                <a:latin typeface="Arial"/>
                <a:ea typeface="Arial"/>
                <a:cs typeface="Arial"/>
              </a:rPr>
              <a:t>We run the small comparison and review</a:t>
            </a:r>
          </a:p>
          <a:p xmlns:a="http://schemas.openxmlformats.org/drawingml/2006/main">
            <a:pPr>
              <a:defRPr sz="2325" b="0">
                <a:solidFill>
                  <a:srgbClr val="F4FAFB"/>
                </a:solidFill>
                <a:latin typeface="Arial"/>
                <a:ea typeface="Arial"/>
                <a:cs typeface="Arial"/>
              </a:defRPr>
            </a:pPr>
            <a:r>
              <a:rPr sz="2325" b="0">
                <a:solidFill>
                  <a:srgbClr val="F4FAFB"/>
                </a:solidFill>
                <a:latin typeface="Arial"/>
                <a:ea typeface="Arial"/>
                <a:cs typeface="Arial"/>
              </a:rPr>
              <a:t>staff time, errors and saved records together.</a:t>
            </a:r>
          </a:p>
        </p:txBody>
      </p:sp>
      <p:sp>
        <p:nvSpPr>
          <p:cNvPr id="6" name="Supervised, unpaid trial. Discuss paid continuation after the results.">
            <a:extLst xmlns:a="http://schemas.openxmlformats.org/drawingml/2006/main">
              <a:ext uri="{FF2B5EF4-FFF2-40B4-BE49-F238E27FC236}">
                <a16:creationId xmlns:a16="http://schemas.microsoft.com/office/drawing/2014/main" id="{587C9EDB-2921-4ACB-BC41-4461A2BE3EA5}"/>
              </a:ext>
            </a:extLst>
          </p:cNvPr>
          <p:cNvSpPr>
            <a:spLocks xmlns:a="http://schemas.openxmlformats.org/drawingml/2006/main" noGrp="1"/>
          </p:cNvSpPr>
          <p:nvPr/>
        </p:nvSpPr>
        <p:spPr>
          <a:xfrm xmlns:a="http://schemas.openxmlformats.org/drawingml/2006/main">
            <a:off x="666750" y="608647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9DB8C8"/>
                </a:solidFill>
                <a:latin typeface="Arial"/>
                <a:ea typeface="Arial"/>
                <a:cs typeface="Arial"/>
              </a:defRPr>
            </a:pPr>
            <a:r>
              <a:rPr sz="1650" b="0">
                <a:solidFill>
                  <a:srgbClr val="9DB8C8"/>
                </a:solidFill>
                <a:latin typeface="Arial"/>
                <a:ea typeface="Arial"/>
                <a:cs typeface="Arial"/>
              </a:rPr>
              <a:t>Supervised, unpaid trial. Discuss paid continuation after the results.</a:t>
            </a:r>
          </a:p>
        </p:txBody>
      </p:sp>
    </p:spTree>
    <p:extLst>
      <p:ext uri="{BB962C8B-B14F-4D97-AF65-F5344CB8AC3E}">
        <p14:creationId xmlns:p14="http://schemas.microsoft.com/office/powerpoint/2010/main" val="1057776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2026-09-26T16:30:52.1130000Z</dcterms:created>
  <dcterms:modified xsi:type="dcterms:W3CDTF">2026-09-26T16:30:52.1130000Z</dcterms:modified>
</coreProperties>
</file>