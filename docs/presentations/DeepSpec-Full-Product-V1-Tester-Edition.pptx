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95aa83e1a7f4a58" /><Relationship Type="http://schemas.openxmlformats.org/officeDocument/2006/relationships/extended-properties" Target="/docProps/app.xml" Id="R505a5ffffd454bd2" /><Relationship Type="http://schemas.openxmlformats.org/officeDocument/2006/relationships/officeDocument" Target="/ppt/presentation.xml" Id="R74d26e35c61b4f8b" /></Relationships>
</file>

<file path=ppt/presentation.xml><?xml version="1.0" encoding="utf-8"?>
<p:presentation xmlns:p="http://schemas.openxmlformats.org/presentationml/2006/main">
  <p:sldMasterIdLst>
    <p:sldMasterId xmlns:r="http://schemas.openxmlformats.org/officeDocument/2006/relationships" id="2147483648" r:id="R7e017e16eba849b7"/>
  </p:sldMasterIdLst>
  <p:notesMasterIdLst>
    <p:notesMasterId xmlns:r="http://schemas.openxmlformats.org/officeDocument/2006/relationships" r:id="R01a0aaca7cc04a9d"/>
  </p:notesMasterIdLst>
  <p:sldIdLst>
    <p:sldId xmlns:r="http://schemas.openxmlformats.org/officeDocument/2006/relationships" id="256" r:id="R866ed999c64c408e"/>
    <p:sldId xmlns:r="http://schemas.openxmlformats.org/officeDocument/2006/relationships" id="257" r:id="Ra32840fe7fd543c6"/>
    <p:sldId xmlns:r="http://schemas.openxmlformats.org/officeDocument/2006/relationships" id="258" r:id="R5453a3933be049c4"/>
    <p:sldId xmlns:r="http://schemas.openxmlformats.org/officeDocument/2006/relationships" id="259" r:id="R5a31db30653b4ce7"/>
    <p:sldId xmlns:r="http://schemas.openxmlformats.org/officeDocument/2006/relationships" id="260" r:id="R55b3e435b68b478a"/>
    <p:sldId xmlns:r="http://schemas.openxmlformats.org/officeDocument/2006/relationships" id="261" r:id="R5a10694e08744eca"/>
    <p:sldId xmlns:r="http://schemas.openxmlformats.org/officeDocument/2006/relationships" id="262" r:id="R8f634724340d4d44"/>
    <p:sldId xmlns:r="http://schemas.openxmlformats.org/officeDocument/2006/relationships" id="263" r:id="Raaa7740ab49a4520"/>
    <p:sldId xmlns:r="http://schemas.openxmlformats.org/officeDocument/2006/relationships" id="264" r:id="R0b6cff2532ee4fde"/>
    <p:sldId xmlns:r="http://schemas.openxmlformats.org/officeDocument/2006/relationships" id="265" r:id="R3e7e92a876444db1"/>
    <p:sldId xmlns:r="http://schemas.openxmlformats.org/officeDocument/2006/relationships" id="266" r:id="R9088bd22f3204882"/>
    <p:sldId xmlns:r="http://schemas.openxmlformats.org/officeDocument/2006/relationships" id="267" r:id="Rc6764f3b9c5649b2"/>
    <p:sldId xmlns:r="http://schemas.openxmlformats.org/officeDocument/2006/relationships" id="268" r:id="Rc301b7ca744b4dab"/>
    <p:sldId xmlns:r="http://schemas.openxmlformats.org/officeDocument/2006/relationships" id="269" r:id="R0faeab4fec1a4a3a"/>
    <p:sldId xmlns:r="http://schemas.openxmlformats.org/officeDocument/2006/relationships" id="270" r:id="R2ad7a6216cbb4067"/>
    <p:sldId xmlns:r="http://schemas.openxmlformats.org/officeDocument/2006/relationships" id="271" r:id="Ra9f6c0a414ab4283"/>
    <p:sldId xmlns:r="http://schemas.openxmlformats.org/officeDocument/2006/relationships" id="272" r:id="R5da5875339ee4e69"/>
    <p:sldId xmlns:r="http://schemas.openxmlformats.org/officeDocument/2006/relationships" id="273" r:id="Rdca0be9ebd5e49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22dfa2b9d146b6" /><Relationship Type="http://schemas.openxmlformats.org/officeDocument/2006/relationships/slideMaster" Target="/ppt/slideMasters/slideMaster1.xml" Id="R7e017e16eba849b7" /><Relationship Type="http://schemas.openxmlformats.org/officeDocument/2006/relationships/notesMaster" Target="/ppt/notesMasters/notesMaster1.xml" Id="R01a0aaca7cc04a9d" /><Relationship Type="http://schemas.openxmlformats.org/officeDocument/2006/relationships/presProps" Target="/ppt/presProps.xml" Id="R315722e67f7c4e75" /><Relationship Type="http://schemas.openxmlformats.org/officeDocument/2006/relationships/tableStyles" Target="/ppt/tableStyles.xml" Id="R8afaa4de37f347b5" /><Relationship Type="http://schemas.openxmlformats.org/officeDocument/2006/relationships/slide" Target="/ppt/slides/slide1.xml" Id="R866ed999c64c408e" /><Relationship Type="http://schemas.openxmlformats.org/officeDocument/2006/relationships/slide" Target="/ppt/slides/slide2.xml" Id="Ra32840fe7fd543c6" /><Relationship Type="http://schemas.openxmlformats.org/officeDocument/2006/relationships/slide" Target="/ppt/slides/slide3.xml" Id="R5453a3933be049c4" /><Relationship Type="http://schemas.openxmlformats.org/officeDocument/2006/relationships/slide" Target="/ppt/slides/slide4.xml" Id="R5a31db30653b4ce7" /><Relationship Type="http://schemas.openxmlformats.org/officeDocument/2006/relationships/slide" Target="/ppt/slides/slide5.xml" Id="R55b3e435b68b478a" /><Relationship Type="http://schemas.openxmlformats.org/officeDocument/2006/relationships/slide" Target="/ppt/slides/slide6.xml" Id="R5a10694e08744eca" /><Relationship Type="http://schemas.openxmlformats.org/officeDocument/2006/relationships/slide" Target="/ppt/slides/slide7.xml" Id="R8f634724340d4d44" /><Relationship Type="http://schemas.openxmlformats.org/officeDocument/2006/relationships/slide" Target="/ppt/slides/slide8.xml" Id="Raaa7740ab49a4520" /><Relationship Type="http://schemas.openxmlformats.org/officeDocument/2006/relationships/slide" Target="/ppt/slides/slide9.xml" Id="R0b6cff2532ee4fde" /><Relationship Type="http://schemas.openxmlformats.org/officeDocument/2006/relationships/slide" Target="/ppt/slides/slide10.xml" Id="R3e7e92a876444db1" /><Relationship Type="http://schemas.openxmlformats.org/officeDocument/2006/relationships/slide" Target="/ppt/slides/slide11.xml" Id="R9088bd22f3204882" /><Relationship Type="http://schemas.openxmlformats.org/officeDocument/2006/relationships/slide" Target="/ppt/slides/slide12.xml" Id="Rc6764f3b9c5649b2" /><Relationship Type="http://schemas.openxmlformats.org/officeDocument/2006/relationships/slide" Target="/ppt/slides/slide13.xml" Id="Rc301b7ca744b4dab" /><Relationship Type="http://schemas.openxmlformats.org/officeDocument/2006/relationships/slide" Target="/ppt/slides/slide14.xml" Id="R0faeab4fec1a4a3a" /><Relationship Type="http://schemas.openxmlformats.org/officeDocument/2006/relationships/slide" Target="/ppt/slides/slide15.xml" Id="R2ad7a6216cbb4067" /><Relationship Type="http://schemas.openxmlformats.org/officeDocument/2006/relationships/slide" Target="/ppt/slides/slide16.xml" Id="Ra9f6c0a414ab4283" /><Relationship Type="http://schemas.openxmlformats.org/officeDocument/2006/relationships/slide" Target="/ppt/slides/slide17.xml" Id="R5da5875339ee4e69" /><Relationship Type="http://schemas.openxmlformats.org/officeDocument/2006/relationships/slide" Target="/ppt/slides/slide18.xml" Id="Rdca0be9ebd5e49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bcd08efea24b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39cc674dde487c" /><Relationship Type="http://schemas.openxmlformats.org/officeDocument/2006/relationships/notesMaster" Target="/ppt/notesMasters/notesMaster1.xml" Id="R5245bfc4ceac46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9282fe2b0e48c6" /><Relationship Type="http://schemas.openxmlformats.org/officeDocument/2006/relationships/notesMaster" Target="/ppt/notesMasters/notesMaster1.xml" Id="Ra36d288f0d7243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004c1ce239497e" /><Relationship Type="http://schemas.openxmlformats.org/officeDocument/2006/relationships/notesMaster" Target="/ppt/notesMasters/notesMaster1.xml" Id="Ra1b847f7296c48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9474f24b2e4f9f" /><Relationship Type="http://schemas.openxmlformats.org/officeDocument/2006/relationships/notesMaster" Target="/ppt/notesMasters/notesMaster1.xml" Id="R4de9645e94cc44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ac6c89eedc4505" /><Relationship Type="http://schemas.openxmlformats.org/officeDocument/2006/relationships/notesMaster" Target="/ppt/notesMasters/notesMaster1.xml" Id="R1a3fe8d3877245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cbf5b19fee431b" /><Relationship Type="http://schemas.openxmlformats.org/officeDocument/2006/relationships/notesMaster" Target="/ppt/notesMasters/notesMaster1.xml" Id="Rf1e29fed804541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2e0c8fd1314fa5" /><Relationship Type="http://schemas.openxmlformats.org/officeDocument/2006/relationships/notesMaster" Target="/ppt/notesMasters/notesMaster1.xml" Id="R658b7ec6b7154d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b5ced426b7401f" /><Relationship Type="http://schemas.openxmlformats.org/officeDocument/2006/relationships/notesMaster" Target="/ppt/notesMasters/notesMaster1.xml" Id="R38ef9ff746fc40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30fe68b9c84f9b" /><Relationship Type="http://schemas.openxmlformats.org/officeDocument/2006/relationships/notesMaster" Target="/ppt/notesMasters/notesMaster1.xml" Id="R16b8c02d89ab4b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2486f2e7624a95" /><Relationship Type="http://schemas.openxmlformats.org/officeDocument/2006/relationships/notesMaster" Target="/ppt/notesMasters/notesMaster1.xml" Id="R78697923fda74b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eb36b980064376" /><Relationship Type="http://schemas.openxmlformats.org/officeDocument/2006/relationships/notesMaster" Target="/ppt/notesMasters/notesMaster1.xml" Id="Rc49127c8939a4a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d3098701154057" /><Relationship Type="http://schemas.openxmlformats.org/officeDocument/2006/relationships/notesMaster" Target="/ppt/notesMasters/notesMaster1.xml" Id="Rcfcf2e1de3844e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39e5a795724c2e" /><Relationship Type="http://schemas.openxmlformats.org/officeDocument/2006/relationships/notesMaster" Target="/ppt/notesMasters/notesMaster1.xml" Id="R81635d86489c42c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f04e70acce4460d" /><Relationship Type="http://schemas.openxmlformats.org/officeDocument/2006/relationships/notesMaster" Target="/ppt/notesMasters/notesMaster1.xml" Id="Rc5466175767f470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3b2ea3d1b3046f7" /><Relationship Type="http://schemas.openxmlformats.org/officeDocument/2006/relationships/notesMaster" Target="/ppt/notesMasters/notesMaster1.xml" Id="Rbe37369792a549b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78f4a8e0e24fa8" /><Relationship Type="http://schemas.openxmlformats.org/officeDocument/2006/relationships/notesMaster" Target="/ppt/notesMasters/notesMaster1.xml" Id="Rc16e64ce9d224ec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f2a34b6a2da4c59" /><Relationship Type="http://schemas.openxmlformats.org/officeDocument/2006/relationships/notesMaster" Target="/ppt/notesMasters/notesMaster1.xml" Id="R59adeaae4cc247d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cc19174eb604429" /><Relationship Type="http://schemas.openxmlformats.org/officeDocument/2006/relationships/notesMaster" Target="/ppt/notesMasters/notesMaster1.xml" Id="R8f5056f6376b44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DeepSpec is now a private-beta candidate: photograph a vehicle part, review an AI suggestion, ask focused follow-ups, mark the answer right, wrong or unresolved, and keep the photo, answer and human feedback together. Public launch still depends on provider evaluation, physical-phone checks, monitoring and real tester evidence.</a:t>
            </a:r>
          </a:p>
          <a:p xmlns:a="http://schemas.openxmlformats.org/drawingml/2006/main">
            <a:r>
              <a:t/>
            </a:r>
          </a:p>
          <a:p xmlns:a="http://schemas.openxmlformats.org/drawingml/2006/main">
            <a:r>
              <a:t>Sources</a:t>
            </a:r>
          </a:p>
          <a:p xmlns:a="http://schemas.openxmlformats.org/drawingml/2006/main">
            <a:r>
              <a:t>docs/V1_LAUNCH_PLAN.md</a:t>
            </a:r>
          </a:p>
          <a:p xmlns:a="http://schemas.openxmlformats.org/drawingml/2006/main">
            <a:r>
              <a:t>docs/V1_CREATIVE_RESEARCH_2026-10-01.md</a:t>
            </a:r>
          </a:p>
          <a:p xmlns:a="http://schemas.openxmlformats.org/drawingml/2006/main">
            <a:r>
              <a:t>src/screens/Result.tsx</a:t>
            </a:r>
          </a:p>
          <a:p xmlns:a="http://schemas.openxmlformats.org/drawingml/2006/main">
            <a:r>
              <a:t>src/screens/EarlyAccess.tsx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product hypotheses, not claims from an industry survey. They apply to a person trying to understand a component as well as to seller intake. DeepSpec should observe real users before quantifying prevalence, time lost or return-rate impact.</a:t>
            </a:r>
          </a:p>
          <a:p xmlns:a="http://schemas.openxmlformats.org/drawingml/2006/main">
            <a:r>
              <a:t/>
            </a:r>
          </a:p>
          <a:p xmlns:a="http://schemas.openxmlformats.org/drawingml/2006/main">
            <a:r>
              <a:t>Sources</a:t>
            </a:r>
          </a:p>
          <a:p xmlns:a="http://schemas.openxmlformats.org/drawingml/2006/main">
            <a:r>
              <a:t>docs/V1_V2_MASTER_PLAN.md</a:t>
            </a:r>
          </a:p>
          <a:p xmlns:a="http://schemas.openxmlformats.org/drawingml/2006/main">
            <a:r>
              <a:t>docs/PILOT_RUNBOOK.md</a:t>
            </a:r>
          </a:p>
          <a:p xmlns:a="http://schemas.openxmlformats.org/drawingml/2006/main">
            <a:r>
              <a:t>docs/PART_INSPECTION_PILOT.md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intended-use cohorts, not customer counts or validated demand. DeepSpec should not compete as a generic visual search tool or OEM catalog. Its defensible V1 wedge is a reviewable record: photo, AI suggestion, visible clues, focused follow-up and human feedback kept together.</a:t>
            </a:r>
          </a:p>
          <a:p xmlns:a="http://schemas.openxmlformats.org/drawingml/2006/main">
            <a:r>
              <a:t/>
            </a:r>
          </a:p>
          <a:p xmlns:a="http://schemas.openxmlformats.org/drawingml/2006/main">
            <a:r>
              <a:t>Sources</a:t>
            </a:r>
          </a:p>
          <a:p xmlns:a="http://schemas.openxmlformats.org/drawingml/2006/main">
            <a:r>
              <a:t>docs/V1_CREATIVE_RESEARCH_2026-10-01.md</a:t>
            </a:r>
          </a:p>
          <a:p xmlns:a="http://schemas.openxmlformats.org/drawingml/2006/main">
            <a:r>
              <a:t>https://support.google.com/websearch/answer/1325808?hl=en</a:t>
            </a:r>
          </a:p>
          <a:p xmlns:a="http://schemas.openxmlformats.org/drawingml/2006/main">
            <a:r>
              <a:t>https://docs.partium.io/partium-find/partium-search-engine/how-partium-image-part-search-works/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combines scanner capture and results with human inspection metadata and saved history/report tools. Save state distinguishes device persistence from successful cloud receipt. Cloud behavior depends on configuration and connectivity.</a:t>
            </a:r>
          </a:p>
          <a:p xmlns:a="http://schemas.openxmlformats.org/drawingml/2006/main">
            <a:r>
              <a:t/>
            </a:r>
          </a:p>
          <a:p xmlns:a="http://schemas.openxmlformats.org/drawingml/2006/main">
            <a:r>
              <a:t>Sources</a:t>
            </a:r>
          </a:p>
          <a:p xmlns:a="http://schemas.openxmlformats.org/drawingml/2006/main">
            <a:r>
              <a:t>docs/PART_INSPECTION_PILOT.md</a:t>
            </a:r>
          </a:p>
          <a:p xmlns:a="http://schemas.openxmlformats.org/drawingml/2006/main">
            <a:r>
              <a:t>src/screens/Scanner.tsx</a:t>
            </a:r>
          </a:p>
          <a:p xmlns:a="http://schemas.openxmlformats.org/drawingml/2006/main">
            <a:r>
              <a:t>src/screens/Result.tsx</a:t>
            </a:r>
          </a:p>
          <a:p xmlns:a="http://schemas.openxmlformats.org/drawingml/2006/main">
            <a:r>
              <a:t>src/screens/History.tsx</a:t>
            </a:r>
          </a:p>
          <a:p xmlns:a="http://schemas.openxmlformats.org/drawingml/2006/main">
            <a:r>
              <a:t>src/services/report.ts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scanner accepts camera and upload input, assesses capture quality and can focus/isolate a selected region. Segmentation service availability affects isolation; do not claim guaranteed segmentation or 3D reconstruction. This is a two-dimensional image workflow. A clearer photo can aid review but does not guarantee identification accuracy.</a:t>
            </a:r>
          </a:p>
          <a:p xmlns:a="http://schemas.openxmlformats.org/drawingml/2006/main">
            <a:r>
              <a:t/>
            </a:r>
          </a:p>
          <a:p xmlns:a="http://schemas.openxmlformats.org/drawingml/2006/main">
            <a:r>
              <a:t>Sources</a:t>
            </a:r>
          </a:p>
          <a:p xmlns:a="http://schemas.openxmlformats.org/drawingml/2006/main">
            <a:r>
              <a:t>docs/V1_V2_MASTER_PLAN.md</a:t>
            </a:r>
          </a:p>
          <a:p xmlns:a="http://schemas.openxmlformats.org/drawingml/2006/main">
            <a:r>
              <a:t>src/screens/Scanner.tsx</a:t>
            </a:r>
          </a:p>
          <a:p xmlns:a="http://schemas.openxmlformats.org/drawingml/2006/main">
            <a:r>
              <a:t>src/lib/imageQuality.ts</a:t>
            </a:r>
          </a:p>
          <a:p xmlns:a="http://schemas.openxmlformats.org/drawingml/2006/main">
            <a:r>
              <a:t>src/lib/promptableSegmentation.ts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 current local QA capture of the result page. The result keeps a focused follow-up field beside the evidence and stores the conversation with the scan. Answer depth may vary from 9 to 25 sentences based on complexity. It remains an AI suggestion, not proof of function, safety, fitment or hidden condition.</a:t>
            </a:r>
          </a:p>
          <a:p xmlns:a="http://schemas.openxmlformats.org/drawingml/2006/main">
            <a:r>
              <a:t/>
            </a:r>
          </a:p>
          <a:p xmlns:a="http://schemas.openxmlformats.org/drawingml/2006/main">
            <a:r>
              <a:t>Sources</a:t>
            </a:r>
          </a:p>
          <a:p xmlns:a="http://schemas.openxmlformats.org/drawingml/2006/main">
            <a:r>
              <a:t>output/presentation-work/result-followup-current.png</a:t>
            </a:r>
          </a:p>
          <a:p xmlns:a="http://schemas.openxmlformats.org/drawingml/2006/main">
            <a:r>
              <a:t>src/screens/Result.tsx</a:t>
            </a:r>
          </a:p>
          <a:p xmlns:a="http://schemas.openxmlformats.org/drawingml/2006/main">
            <a:r>
              <a:t>src/services/resultChat.ts</a:t>
            </a:r>
          </a:p>
          <a:p xmlns:a="http://schemas.openxmlformats.org/drawingml/2006/main">
            <a:r>
              <a:t>src/services/storage.ts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DeepSpec stores human inspection fields separately from AI output. The form requires inspector name, identity evidence when identity is provided, notes for visible damage/uncertainty, and a method/result when a functional status has been selected. Inspector identity is self-reported. These records are not safety certification or validated training labels.</a:t>
            </a:r>
          </a:p>
          <a:p xmlns:a="http://schemas.openxmlformats.org/drawingml/2006/main">
            <a:r>
              <a:t/>
            </a:r>
          </a:p>
          <a:p xmlns:a="http://schemas.openxmlformats.org/drawingml/2006/main">
            <a:r>
              <a:t>Sources</a:t>
            </a:r>
          </a:p>
          <a:p xmlns:a="http://schemas.openxmlformats.org/drawingml/2006/main">
            <a:r>
              <a:t>docs/PART_INSPECTION_PILOT.md</a:t>
            </a:r>
          </a:p>
          <a:p xmlns:a="http://schemas.openxmlformats.org/drawingml/2006/main">
            <a:r>
              <a:t>src/components/result/PartInspectionForm.tsx</a:t>
            </a:r>
          </a:p>
          <a:p xmlns:a="http://schemas.openxmlformats.org/drawingml/2006/main">
            <a:r>
              <a:t>src/lib/partInspection.ts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fictional QA input in the actual application. Draft recovery is scoped by signed-in account and scan on the device. Restore and discard are explicit. If the saved inspection changed, restoration is blocked and the user can download old notes. The app warns when storage fails and keeps visible typed text. This guard does not provide atomic cross-device conflict resolution.</a:t>
            </a:r>
          </a:p>
          <a:p xmlns:a="http://schemas.openxmlformats.org/drawingml/2006/main">
            <a:r>
              <a:t/>
            </a:r>
          </a:p>
          <a:p xmlns:a="http://schemas.openxmlformats.org/drawingml/2006/main">
            <a:r>
              <a:t>Sources</a:t>
            </a:r>
          </a:p>
          <a:p xmlns:a="http://schemas.openxmlformats.org/drawingml/2006/main">
            <a:r>
              <a:t>docs/DRAFT_RECOVERY_RELEASE_REPORT_2026-09-26.md</a:t>
            </a:r>
          </a:p>
          <a:p xmlns:a="http://schemas.openxmlformats.org/drawingml/2006/main">
            <a:r>
              <a:t>src/services/inspectionDraft.ts</a:t>
            </a:r>
          </a:p>
          <a:p xmlns:a="http://schemas.openxmlformats.org/drawingml/2006/main">
            <a:r>
              <a:t>src/components/result/PartInspectionForm.tsx</a:t>
            </a:r>
          </a:p>
          <a:p xmlns:a="http://schemas.openxmlformats.org/drawingml/2006/main">
            <a:r>
              <a:t>artifacts/qa/2026-09-26T16-20-49-881Z/screenshots/inspection-stale-recovery-choice.png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history supports search, categories, review states, ratings and an unresolved-identity filter. The screenshot contains synthetic QA records with unavailable photos, not real customer inventory. Library export offers JSON; individual text report export includes human inspection fields and private notes, so review before sharing. Device success and cloud success remain distinct.</a:t>
            </a:r>
          </a:p>
          <a:p xmlns:a="http://schemas.openxmlformats.org/drawingml/2006/main">
            <a:r>
              <a:t/>
            </a:r>
          </a:p>
          <a:p xmlns:a="http://schemas.openxmlformats.org/drawingml/2006/main">
            <a:r>
              <a:t>Sources</a:t>
            </a:r>
          </a:p>
          <a:p xmlns:a="http://schemas.openxmlformats.org/drawingml/2006/main">
            <a:r>
              <a:t>src/screens/History.tsx</a:t>
            </a:r>
          </a:p>
          <a:p xmlns:a="http://schemas.openxmlformats.org/drawingml/2006/main">
            <a:r>
              <a:t>src/services/report.ts</a:t>
            </a:r>
          </a:p>
          <a:p xmlns:a="http://schemas.openxmlformats.org/drawingml/2006/main">
            <a:r>
              <a:t>artifacts/qa/2026-09-21T13-42-31-354Z/screenshots/saved-history.png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Shop mode supports local job/customer/vehicle context, linked scans and generated customer reports. It does not currently provide a shared live multi-employee database or automatic catalog/order integration. This is an intended application within the product, not proof that a shop already adopted it.</a:t>
            </a:r>
          </a:p>
          <a:p xmlns:a="http://schemas.openxmlformats.org/drawingml/2006/main">
            <a:r>
              <a:t/>
            </a:r>
          </a:p>
          <a:p xmlns:a="http://schemas.openxmlformats.org/drawingml/2006/main">
            <a:r>
              <a:t>Sources</a:t>
            </a:r>
          </a:p>
          <a:p xmlns:a="http://schemas.openxmlformats.org/drawingml/2006/main">
            <a:r>
              <a:t>src/screens/Shop.tsx</a:t>
            </a:r>
          </a:p>
          <a:p xmlns:a="http://schemas.openxmlformats.org/drawingml/2006/main">
            <a:r>
              <a:t>src/services/shop.ts</a:t>
            </a:r>
          </a:p>
          <a:p xmlns:a="http://schemas.openxmlformats.org/drawingml/2006/main">
            <a:r>
              <a:t>src/services/report.ts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Account-scope generation guards prevent stale asynchronous activity from applying to another account. Local device data still uses browser storage and is not a guarantee against a compromised device. Existing authentication and cloud pathways require release verification. The live inspection verifier now passes save/read/update and account isolation after the additive migration. No automatic training ingestion is claimed.</a:t>
            </a:r>
          </a:p>
          <a:p xmlns:a="http://schemas.openxmlformats.org/drawingml/2006/main">
            <a:r>
              <a:t/>
            </a:r>
          </a:p>
          <a:p xmlns:a="http://schemas.openxmlformats.org/drawingml/2006/main">
            <a:r>
              <a:t>Sources</a:t>
            </a:r>
          </a:p>
          <a:p xmlns:a="http://schemas.openxmlformats.org/drawingml/2006/main">
            <a:r>
              <a:t>src/lib/accountScope.ts</a:t>
            </a:r>
          </a:p>
          <a:p xmlns:a="http://schemas.openxmlformats.org/drawingml/2006/main">
            <a:r>
              <a:t>src/services/storage.ts</a:t>
            </a:r>
          </a:p>
          <a:p xmlns:a="http://schemas.openxmlformats.org/drawingml/2006/main">
            <a:r>
              <a:t>src/services/cloudSync.ts</a:t>
            </a:r>
          </a:p>
          <a:p xmlns:a="http://schemas.openxmlformats.org/drawingml/2006/main">
            <a:r>
              <a:t>src/services/inspectionDraft.ts</a:t>
            </a:r>
          </a:p>
          <a:p xmlns:a="http://schemas.openxmlformats.org/drawingml/2006/main">
            <a:r>
              <a:t>artifacts/qa/v1-foundation-2026-09-26/cloud-inspection.txt</a:t>
            </a:r>
          </a:p>
          <a:p xmlns:a="http://schemas.openxmlformats.org/drawingml/2006/main">
            <a:r>
              <a:t>docs/V1_LAUNCH_PLAN.md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arithmetic only. Assume 30 parts/day × 22 working days/month = 660 parts/month. Assume ordinary intake including required tests takes 6 minutes manually versus 4.5 minutes assisted. (6 - 4.5) × 660 / 60 = 16.5 hours/month. At an assumed $30/hour this is $495 of modeled gross labor capacity before setup, support, software or other costs. It is not cash savings, revenue, profit, a price recommendation, or a seller measurement. Actual values must come from observation. Editable chart contains literal hypothetical data.</a:t>
            </a:r>
          </a:p>
          <a:p xmlns:a="http://schemas.openxmlformats.org/drawingml/2006/main">
            <a:r>
              <a:t/>
            </a:r>
          </a:p>
          <a:p xmlns:a="http://schemas.openxmlformats.org/drawingml/2006/main">
            <a:r>
              <a:t>Sources</a:t>
            </a:r>
          </a:p>
          <a:p xmlns:a="http://schemas.openxmlformats.org/drawingml/2006/main">
            <a:r>
              <a:t>docs/PILOT_RUNBOOK.md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audiences and pricing structures are hypotheses, not current offers, revenue or customer commitments. Do not infer willingness to pay from the hypothetical time calculator. Observe usage, support burden, model costs and the buyer’s own alternatives, then ask whether they would continue at a concrete proposed scope and price.</a:t>
            </a:r>
          </a:p>
          <a:p xmlns:a="http://schemas.openxmlformats.org/drawingml/2006/main">
            <a:r>
              <a:t/>
            </a:r>
          </a:p>
          <a:p xmlns:a="http://schemas.openxmlformats.org/drawingml/2006/main">
            <a:r>
              <a:t>Sources</a:t>
            </a:r>
          </a:p>
          <a:p xmlns:a="http://schemas.openxmlformats.org/drawingml/2006/main">
            <a:r>
              <a:t>docs/PILOT_RUNBOOK.md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reports current branch evidence, not public-launch proof. Focused tests, lint and production build pass. The public tester page and the right/wrong/unresolved result review were checked in a real browser at mobile and desktop widths. The live Supabase constraints accept the three review states. Real identification accuracy, real-user usefulness, physical-phone behavior and production monitoring remain release gates.</a:t>
            </a:r>
          </a:p>
          <a:p xmlns:a="http://schemas.openxmlformats.org/drawingml/2006/main">
            <a:r>
              <a:t/>
            </a:r>
          </a:p>
          <a:p xmlns:a="http://schemas.openxmlformats.org/drawingml/2006/main">
            <a:r>
              <a:t>Sources</a:t>
            </a:r>
          </a:p>
          <a:p xmlns:a="http://schemas.openxmlformats.org/drawingml/2006/main">
            <a:r>
              <a:t>docs/V1_CREATIVE_RESEARCH_2026-10-01.md</a:t>
            </a:r>
          </a:p>
          <a:p xmlns:a="http://schemas.openxmlformats.org/drawingml/2006/main">
            <a:r>
              <a:t>src/screens/EarlyAccess.test.tsx</a:t>
            </a:r>
          </a:p>
          <a:p xmlns:a="http://schemas.openxmlformats.org/drawingml/2006/main">
            <a:r>
              <a:t>src/screens/Result.test.tsx</a:t>
            </a:r>
          </a:p>
          <a:p xmlns:a="http://schemas.openxmlformats.org/drawingml/2006/main">
            <a:r>
              <a:t>supabase/migrations/20261002012446_add_unsure_scan_rating.sql</a:t>
            </a:r>
          </a:p>
          <a:p xmlns:a="http://schemas.openxmlformats.org/drawingml/2006/main">
            <a:r>
              <a:t>output/playwright/founding-tester-public-desktop.png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means implemented and verified on the review branch, not publicly launched. The tester program, focused follow-up, explicit unresolved feedback and opt-in training consent are built. Public launch still requires a labeled automotive provider evaluation, physical iOS and Android checks, actual tester observations, monitoring, cost controls, access controls and rollback evidence.</a:t>
            </a:r>
          </a:p>
          <a:p xmlns:a="http://schemas.openxmlformats.org/drawingml/2006/main">
            <a:r>
              <a:t/>
            </a:r>
          </a:p>
          <a:p xmlns:a="http://schemas.openxmlformats.org/drawingml/2006/main">
            <a:r>
              <a:t>Sources</a:t>
            </a:r>
          </a:p>
          <a:p xmlns:a="http://schemas.openxmlformats.org/drawingml/2006/main">
            <a:r>
              <a:t>docs/V1_LAUNCH_PLAN.md</a:t>
            </a:r>
          </a:p>
          <a:p xmlns:a="http://schemas.openxmlformats.org/drawingml/2006/main">
            <a:r>
              <a:t>docs/PRIVATE_BETA_RELEASE_CHECKLIST.md</a:t>
            </a:r>
          </a:p>
          <a:p xmlns:a="http://schemas.openxmlformats.org/drawingml/2006/main">
            <a:r>
              <a:t>docs/PRODUCTION_READINESS_GOAL_PLAN.md</a:t>
            </a:r>
          </a:p>
          <a:p xmlns:a="http://schemas.openxmlformats.org/drawingml/2006/main">
            <a:r>
              <a:t>src/screens/EarlyAccess.tsx</a:t>
            </a:r>
          </a:p>
          <a:p xmlns:a="http://schemas.openxmlformats.org/drawingml/2006/main">
            <a:r>
              <a:t>src/screens/Result.tsx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is ready for controlled private-beta preparation, not public launch. Recruit 5–15 founding testers across DIY, trainee, mechanic, seller and shop workflows. Each tester scans 10 real parts, judges every result as right, wrong or unresolved, sends at least three useful notes and reopens records to verify persistence. The reward is free beta access plus six months after paid launch for accepted testers who complete the checklist.</a:t>
            </a:r>
          </a:p>
          <a:p xmlns:a="http://schemas.openxmlformats.org/drawingml/2006/main">
            <a:r>
              <a:t/>
            </a:r>
          </a:p>
          <a:p xmlns:a="http://schemas.openxmlformats.org/drawingml/2006/main">
            <a:r>
              <a:t>Sources</a:t>
            </a:r>
          </a:p>
          <a:p xmlns:a="http://schemas.openxmlformats.org/drawingml/2006/main">
            <a:r>
              <a:t>docs/V1_CREATIVE_RESEARCH_2026-10-01.md</a:t>
            </a:r>
          </a:p>
          <a:p xmlns:a="http://schemas.openxmlformats.org/drawingml/2006/main">
            <a:r>
              <a:t>src/screens/EarlyAccess.tsx</a:t>
            </a:r>
          </a:p>
          <a:p xmlns:a="http://schemas.openxmlformats.org/drawingml/2006/main">
            <a:r>
              <a:t>https://support.google.com/googleplay/android-developer/answer/14151465?hl=en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capture path is live: users can mark a result right, wrong or unresolved, add a correction when known, submit categorized feedback and separately opt a scan into future review. Those records still require review before dataset approval. No upload automatically enters model training.</a:t>
            </a:r>
          </a:p>
          <a:p xmlns:a="http://schemas.openxmlformats.org/drawingml/2006/main">
            <a:r>
              <a:t/>
            </a:r>
          </a:p>
          <a:p xmlns:a="http://schemas.openxmlformats.org/drawingml/2006/main">
            <a:r>
              <a:t>Sources</a:t>
            </a:r>
          </a:p>
          <a:p xmlns:a="http://schemas.openxmlformats.org/drawingml/2006/main">
            <a:r>
              <a:t>src/screens/Result.tsx</a:t>
            </a:r>
          </a:p>
          <a:p xmlns:a="http://schemas.openxmlformats.org/drawingml/2006/main">
            <a:r>
              <a:t>src/screens/EarlyAccess.tsx</a:t>
            </a:r>
          </a:p>
          <a:p xmlns:a="http://schemas.openxmlformats.org/drawingml/2006/main">
            <a:r>
              <a:t>src/components/result/TrainingConsentPanel.tsx</a:t>
            </a:r>
          </a:p>
          <a:p xmlns:a="http://schemas.openxmlformats.org/drawingml/2006/main">
            <a:r>
              <a:t>src/lib/intakeReview.ts</a:t>
            </a:r>
          </a:p>
          <a:p xmlns:a="http://schemas.openxmlformats.org/drawingml/2006/main">
            <a:r>
              <a:t>supabase/migrations/20261002012446_add_unsure_scan_rating.sql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objective is evidence, not revenue or scale. Run the founding tester program, measure right/wrong/unresolved outcomes, record failure patterns and verify the app on real phones. Public launch should follow only after repeated failures are fixed and the release gates are satisfied.</a:t>
            </a:r>
          </a:p>
          <a:p xmlns:a="http://schemas.openxmlformats.org/drawingml/2006/main">
            <a:r>
              <a:t/>
            </a:r>
          </a:p>
          <a:p xmlns:a="http://schemas.openxmlformats.org/drawingml/2006/main">
            <a:r>
              <a:t>Sources</a:t>
            </a:r>
          </a:p>
          <a:p xmlns:a="http://schemas.openxmlformats.org/drawingml/2006/main">
            <a:r>
              <a:t>docs/V1_LAUNCH_PLAN.md</a:t>
            </a:r>
          </a:p>
          <a:p xmlns:a="http://schemas.openxmlformats.org/drawingml/2006/main">
            <a:r>
              <a:t>docs/PRIVATE_BETA_RELEASE_CHECKLIST.md</a:t>
            </a:r>
          </a:p>
          <a:p xmlns:a="http://schemas.openxmlformats.org/drawingml/2006/main">
            <a:r>
              <a:t>docs/V1_CREATIVE_RESEARCH_2026-10-01.md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0a1665805a4e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9afee70f9f4a12" /><Relationship Type="http://schemas.openxmlformats.org/officeDocument/2006/relationships/slideLayout" Target="/ppt/slideLayouts/slideLayout1.xml" Id="Rab4d28170c7d42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4d28170c7d42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dcef51ab1743d0" /><Relationship Type="http://schemas.openxmlformats.org/officeDocument/2006/relationships/image" Target="/ppt/media/image.bin" Id="R2ec8e131263f4efa" /><Relationship Type="http://schemas.openxmlformats.org/officeDocument/2006/relationships/notesSlide" Target="/ppt/notesSlides/notesSlide1.xml" Id="R18a79f97f0844c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bedfe1b902462b" /><Relationship Type="http://schemas.openxmlformats.org/officeDocument/2006/relationships/notesSlide" Target="/ppt/notesSlides/notesSlide2.xml" Id="Rfecce426c99b43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06be6f67dc4bf1" /><Relationship Type="http://schemas.openxmlformats.org/officeDocument/2006/relationships/notesSlide" Target="/ppt/notesSlides/notesSlide3.xml" Id="Rdd199a9a4b6f41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76172044f54ac5" /><Relationship Type="http://schemas.openxmlformats.org/officeDocument/2006/relationships/notesSlide" Target="/ppt/notesSlides/notesSlide4.xml" Id="R28a170ce8f484a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fa73300a894548" /><Relationship Type="http://schemas.openxmlformats.org/officeDocument/2006/relationships/notesSlide" Target="/ppt/notesSlides/notesSlide5.xml" Id="R38f8bf5e477641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7f63b2359c4032" /><Relationship Type="http://schemas.openxmlformats.org/officeDocument/2006/relationships/image" Target="/ppt/media/image.png" Id="R3fde144e1485437f" /><Relationship Type="http://schemas.openxmlformats.org/officeDocument/2006/relationships/notesSlide" Target="/ppt/notesSlides/notesSlide6.xml" Id="R2428933f1b8e45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051d315d37d452f" /><Relationship Type="http://schemas.openxmlformats.org/officeDocument/2006/relationships/notesSlide" Target="/ppt/notesSlides/notesSlide7.xml" Id="Rbdc9662105ee4f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2e32d9ede74440" /><Relationship Type="http://schemas.openxmlformats.org/officeDocument/2006/relationships/image" Target="/ppt/media/image2.png" Id="Rb65eddad17e340b0" /><Relationship Type="http://schemas.openxmlformats.org/officeDocument/2006/relationships/notesSlide" Target="/ppt/notesSlides/notesSlide8.xml" Id="Rf4a0fb126f0e40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faf0b144a6f4fe7" /><Relationship Type="http://schemas.openxmlformats.org/officeDocument/2006/relationships/image" Target="/ppt/media/image3.png" Id="R0d91279f31a84b41" /><Relationship Type="http://schemas.openxmlformats.org/officeDocument/2006/relationships/notesSlide" Target="/ppt/notesSlides/notesSlide9.xml" Id="R78010f53f46545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76dd759c17643cc" /><Relationship Type="http://schemas.openxmlformats.org/officeDocument/2006/relationships/notesSlide" Target="/ppt/notesSlides/notesSlide10.xml" Id="R7390a20c66974d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ab09832536e4e8c" /><Relationship Type="http://schemas.openxmlformats.org/officeDocument/2006/relationships/notesSlide" Target="/ppt/notesSlides/notesSlide11.xml" Id="R01e9c806e9de4e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57a49d5ca6b4559" /><Relationship Type="http://schemas.openxmlformats.org/officeDocument/2006/relationships/chart" Target="/ppt/slides/charts/chart1.xml" Id="Raad06a52f2fa471f" /><Relationship Type="http://schemas.openxmlformats.org/officeDocument/2006/relationships/notesSlide" Target="/ppt/notesSlides/notesSlide12.xml" Id="R72cda9ff958f42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d65458870da4b2b" /><Relationship Type="http://schemas.openxmlformats.org/officeDocument/2006/relationships/notesSlide" Target="/ppt/notesSlides/notesSlide13.xml" Id="R8d6420e195d64b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decf220e31d4dc4" /><Relationship Type="http://schemas.openxmlformats.org/officeDocument/2006/relationships/notesSlide" Target="/ppt/notesSlides/notesSlide14.xml" Id="R4bbe3abcb3e048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dc1a06bad494fad" /><Relationship Type="http://schemas.openxmlformats.org/officeDocument/2006/relationships/notesSlide" Target="/ppt/notesSlides/notesSlide15.xml" Id="Rb899dffc35de439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4ee125f25f148f3" /><Relationship Type="http://schemas.openxmlformats.org/officeDocument/2006/relationships/notesSlide" Target="/ppt/notesSlides/notesSlide16.xml" Id="R3d7a98b133ab429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acd890fe3d94044" /><Relationship Type="http://schemas.openxmlformats.org/officeDocument/2006/relationships/notesSlide" Target="/ppt/notesSlides/notesSlide17.xml" Id="Rd65064c3cb37436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c0f07e479de4c53" /><Relationship Type="http://schemas.openxmlformats.org/officeDocument/2006/relationships/image" Target="/ppt/media/image4.png" Id="R3a26a017b1f74bca" /><Relationship Type="http://schemas.openxmlformats.org/officeDocument/2006/relationships/notesSlide" Target="/ppt/notesSlides/notesSlide18.xml" Id="R41a1cb7e7d5841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32A3C"/>
                </a:solidFill>
                <a:latin typeface="Arial"/>
                <a:ea typeface="Arial"/>
                <a:cs typeface="Arial"/>
              </a:rPr>
              <a:t>Minutes per part</a:t>
            </a:r>
          </a:p>
        </c:rich>
      </c:tx>
      <c:overlay val="0"/>
      <c:txPr>
        <a:bodyPr xmlns:a="http://schemas.openxmlformats.org/drawingml/2006/main" anchorCtr="1"/>
        <a:lstStyle xmlns:a="http://schemas.openxmlformats.org/drawingml/2006/main"/>
        <a:p xmlns:a="http://schemas.openxmlformats.org/drawingml/2006/main">
          <a:pPr>
            <a:defRPr sz="1800">
              <a:solidFill>
                <a:srgbClr val="132A3C"/>
              </a:solidFill>
              <a:latin typeface="Arial"/>
              <a:ea typeface="Arial"/>
              <a:cs typeface="Arial"/>
            </a:defRPr>
          </a:pPr>
        </a:p>
      </c:txPr>
    </c:title>
    <c:plotArea>
      <c:barChart>
        <c:barDir val="bar"/>
        <c:grouping val="clustered"/>
        <c:varyColors val="0"/>
        <c:ser>
          <c:idx val="0"/>
          <c:order val="0"/>
          <c:tx>
            <c:v>Minutes per part</c:v>
          </c:tx>
          <c:spPr>
            <a:solidFill xmlns:a="http://schemas.openxmlformats.org/drawingml/2006/main">
              <a:srgbClr val="256B7F"/>
            </a:solidFill>
          </c:spPr>
          <c:dPt>
            <c:idx val="0"/>
            <c:invertIfNegative val="0"/>
            <c:spPr>
              <a:solidFill xmlns:a="http://schemas.openxmlformats.org/drawingml/2006/main">
                <a:srgbClr val="7796A7"/>
              </a:solidFill>
            </c:spPr>
          </c:dPt>
          <c:dPt>
            <c:idx val="1"/>
            <c:invertIfNegative val="0"/>
            <c:spPr>
              <a:solidFill xmlns:a="http://schemas.openxmlformats.org/drawingml/2006/main">
                <a:srgbClr val="256B7F"/>
              </a:solidFill>
            </c:spPr>
          </c:dPt>
          <c:cat>
            <c:strRef>
              <c:f>'Chart Data'!$A$2:$A$3</c:f>
              <c:strCache>
                <c:ptCount val="2"/>
                <c:pt idx="0">
                  <c:v>Manual</c:v>
                </c:pt>
                <c:pt idx="1">
                  <c:v>With DeepSpec</c:v>
                </c:pt>
              </c:strCache>
            </c:strRef>
          </c:cat>
          <c:val>
            <c:numRef>
              <c:f>'Chart Data'!$B$2:$B$3</c:f>
              <c:numCache>
                <c:formatCode>0.0</c:formatCode>
                <c:ptCount val="2"/>
                <c:pt idx="0">
                  <c:v>6</c:v>
                </c:pt>
                <c:pt idx="1">
                  <c:v>4.5</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32A3C"/>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C7D9D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32A3C"/>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32A3C"/>
                </a:solidFill>
                <a:latin typeface="Arial"/>
                <a:ea typeface="Arial"/>
                <a:cs typeface="Arial"/>
              </a:defRPr>
            </a:pPr>
          </a:p>
        </c:txPr>
        <c:crossAx val="48650112"/>
        <c:crossBetween val="between"/>
      </c:valAx>
      <c:spPr>
        <a:solidFill xmlns:a="http://schemas.openxmlformats.org/drawingml/2006/main">
          <a:srgbClr val="EEF5F6"/>
        </a:solidFill>
        <a:ln xmlns:a="http://schemas.openxmlformats.org/drawingml/2006/main" w="0">
          <a:noFill/>
        </a:ln>
      </c:spPr>
    </c:plotArea>
    <c:plotVisOnly val="1"/>
  </c:chart>
  <c:spPr>
    <a:solidFill xmlns:a="http://schemas.openxmlformats.org/drawingml/2006/main">
      <a:srgbClr val="EEF5F6"/>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ec8e131263f4efa"/>
          <a:srcRect xmlns:a="http://schemas.openxmlformats.org/drawingml/2006/main" l="2593" t="0" r="2593" b="0"/>
          <a:stretch xmlns:a="http://schemas.openxmlformats.org/drawingml/2006/main">
            <a:fillRect l="0" t="0" r="0" b="0"/>
          </a:stretch>
        </p:blipFill>
        <p:spPr>
          <a:xfrm xmlns:a="http://schemas.openxmlformats.org/drawingml/2006/main">
            <a:off x="7315200" y="0"/>
            <a:ext cx="4876800" cy="6858000"/>
          </a:xfrm>
          <a:prstGeom xmlns:a="http://schemas.openxmlformats.org/drawingml/2006/main" prst="rect">
            <a:avLst/>
          </a:prstGeom>
        </p:spPr>
      </p:pic>
      <p:sp>
        <p:nvSpPr>
          <p:cNvPr id="2" name="DeepSpec">
            <a:extLst xmlns:a="http://schemas.openxmlformats.org/drawingml/2006/main">
              <a:ext uri="{FF2B5EF4-FFF2-40B4-BE49-F238E27FC236}">
                <a16:creationId xmlns:a16="http://schemas.microsoft.com/office/drawing/2014/main" id="{34418D9C-800B-47AC-8F9E-39C58B8295F0}"/>
              </a:ext>
            </a:extLst>
          </p:cNvPr>
          <p:cNvSpPr>
            <a:spLocks xmlns:a="http://schemas.openxmlformats.org/drawingml/2006/main" noGrp="1"/>
          </p:cNvSpPr>
          <p:nvPr/>
        </p:nvSpPr>
        <p:spPr>
          <a:xfrm xmlns:a="http://schemas.openxmlformats.org/drawingml/2006/main">
            <a:off x="628650" y="733425"/>
            <a:ext cx="6667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850" b="1">
                <a:solidFill>
                  <a:srgbClr val="F4FAFB"/>
                </a:solidFill>
                <a:latin typeface="Arial"/>
                <a:ea typeface="Arial"/>
                <a:cs typeface="Arial"/>
              </a:defRPr>
            </a:pPr>
            <a:r>
              <a:rPr sz="5850" b="1">
                <a:solidFill>
                  <a:srgbClr val="F4FAFB"/>
                </a:solidFill>
                <a:latin typeface="Arial"/>
                <a:ea typeface="Arial"/>
                <a:cs typeface="Arial"/>
              </a:rPr>
              <a:t>DeepSpec</a:t>
            </a:r>
          </a:p>
        </p:txBody>
      </p:sp>
      <p:sp>
        <p:nvSpPr>
          <p:cNvPr id="3" name="Understand the part.">
            <a:extLst xmlns:a="http://schemas.openxmlformats.org/drawingml/2006/main">
              <a:ext uri="{FF2B5EF4-FFF2-40B4-BE49-F238E27FC236}">
                <a16:creationId xmlns:a16="http://schemas.microsoft.com/office/drawing/2014/main" id="{4794A8F0-187F-4F44-BB32-0B0269CD8899}"/>
              </a:ext>
            </a:extLst>
          </p:cNvPr>
          <p:cNvSpPr>
            <a:spLocks xmlns:a="http://schemas.openxmlformats.org/drawingml/2006/main" noGrp="1"/>
          </p:cNvSpPr>
          <p:nvPr/>
        </p:nvSpPr>
        <p:spPr>
          <a:xfrm xmlns:a="http://schemas.openxmlformats.org/drawingml/2006/main">
            <a:off x="628650" y="2095500"/>
            <a:ext cx="6715125"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B8E3E9"/>
                </a:solidFill>
                <a:latin typeface="Arial"/>
                <a:ea typeface="Arial"/>
                <a:cs typeface="Arial"/>
              </a:defRPr>
            </a:pPr>
            <a:r>
              <a:rPr sz="4275" b="1">
                <a:solidFill>
                  <a:srgbClr val="B8E3E9"/>
                </a:solidFill>
                <a:latin typeface="Arial"/>
                <a:ea typeface="Arial"/>
                <a:cs typeface="Arial"/>
              </a:rPr>
              <a:t>Understand the part.</a:t>
            </a:r>
          </a:p>
          <a:p xmlns:a="http://schemas.openxmlformats.org/drawingml/2006/main">
            <a:pPr>
              <a:buNone/>
              <a:defRPr sz="4275" b="1">
                <a:solidFill>
                  <a:srgbClr val="B8E3E9"/>
                </a:solidFill>
                <a:latin typeface="Arial"/>
                <a:ea typeface="Arial"/>
                <a:cs typeface="Arial"/>
              </a:defRPr>
            </a:pPr>
            <a:r>
              <a:rPr sz="4275" b="1">
                <a:solidFill>
                  <a:srgbClr val="B8E3E9"/>
                </a:solidFill>
                <a:latin typeface="Arial"/>
                <a:ea typeface="Arial"/>
                <a:cs typeface="Arial"/>
              </a:rPr>
              <a:t>Keep the evidence.</a:t>
            </a:r>
          </a:p>
        </p:txBody>
      </p:sp>
      <p:sp>
        <p:nvSpPr>
          <p:cNvPr id="4" name="Photo-assisted identification,">
            <a:extLst xmlns:a="http://schemas.openxmlformats.org/drawingml/2006/main">
              <a:ext uri="{FF2B5EF4-FFF2-40B4-BE49-F238E27FC236}">
                <a16:creationId xmlns:a16="http://schemas.microsoft.com/office/drawing/2014/main" id="{675EA212-1DBC-4044-9773-3AA3F6703504}"/>
              </a:ext>
            </a:extLst>
          </p:cNvPr>
          <p:cNvSpPr>
            <a:spLocks xmlns:a="http://schemas.openxmlformats.org/drawingml/2006/main" noGrp="1"/>
          </p:cNvSpPr>
          <p:nvPr/>
        </p:nvSpPr>
        <p:spPr>
          <a:xfrm xmlns:a="http://schemas.openxmlformats.org/drawingml/2006/main">
            <a:off x="628650" y="4295775"/>
            <a:ext cx="657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Photo-assisted identification,</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useful explanations and reviewable records</a:t>
            </a:r>
          </a:p>
        </p:txBody>
      </p:sp>
      <p:sp>
        <p:nvSpPr>
          <p:cNvPr id="5" name="Working prototype · September 2026">
            <a:extLst xmlns:a="http://schemas.openxmlformats.org/drawingml/2006/main">
              <a:ext uri="{FF2B5EF4-FFF2-40B4-BE49-F238E27FC236}">
                <a16:creationId xmlns:a16="http://schemas.microsoft.com/office/drawing/2014/main" id="{E7F7CF0B-E774-49A0-A334-50C3B8740479}"/>
              </a:ext>
            </a:extLst>
          </p:cNvPr>
          <p:cNvSpPr>
            <a:spLocks xmlns:a="http://schemas.openxmlformats.org/drawingml/2006/main" noGrp="1"/>
          </p:cNvSpPr>
          <p:nvPr/>
        </p:nvSpPr>
        <p:spPr>
          <a:xfrm xmlns:a="http://schemas.openxmlformats.org/drawingml/2006/main">
            <a:off x="628650" y="601027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9DB8C8"/>
                </a:solidFill>
                <a:latin typeface="Arial"/>
                <a:ea typeface="Arial"/>
                <a:cs typeface="Arial"/>
              </a:defRPr>
            </a:pPr>
            <a:r>
              <a:rPr sz="1650" b="0">
                <a:solidFill>
                  <a:srgbClr val="9DB8C8"/>
                </a:solidFill>
                <a:latin typeface="Arial"/>
                <a:ea typeface="Arial"/>
                <a:cs typeface="Arial"/>
              </a:rPr>
              <a:t>Private beta candidate · October 2026</a:t>
            </a:r>
          </a:p>
        </p:txBody>
      </p:sp>
      <p:sp>
        <p:nvSpPr>
          <p:cNvPr id="6" name="Illustrative artwork">
            <a:extLst xmlns:a="http://schemas.openxmlformats.org/drawingml/2006/main">
              <a:ext uri="{FF2B5EF4-FFF2-40B4-BE49-F238E27FC236}">
                <a16:creationId xmlns:a16="http://schemas.microsoft.com/office/drawing/2014/main" id="{735CBC7E-C346-4BA6-9072-ADB309BB0D7F}"/>
              </a:ext>
            </a:extLst>
          </p:cNvPr>
          <p:cNvSpPr>
            <a:spLocks xmlns:a="http://schemas.openxmlformats.org/drawingml/2006/main" noGrp="1"/>
          </p:cNvSpPr>
          <p:nvPr/>
        </p:nvSpPr>
        <p:spPr>
          <a:xfrm xmlns:a="http://schemas.openxmlformats.org/drawingml/2006/main">
            <a:off x="9286875" y="6334125"/>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Illustrative artwork</a:t>
            </a:r>
          </a:p>
        </p:txBody>
      </p:sp>
    </p:spTree>
    <p:extLst>
      <p:ext uri="{BB962C8B-B14F-4D97-AF65-F5344CB8AC3E}">
        <p14:creationId xmlns:p14="http://schemas.microsoft.com/office/powerpoint/2010/main" val="1580267440"/>
      </p:ext>
    </p:extLst>
  </p:cSld>
</p:sld>
</file>

<file path=ppt/slides/slide2.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1" name="When a part is unfamiliar">
            <a:extLst xmlns:a="http://schemas.openxmlformats.org/drawingml/2006/main">
              <a:ext uri="{FF2B5EF4-FFF2-40B4-BE49-F238E27FC236}">
                <a16:creationId xmlns:a16="http://schemas.microsoft.com/office/drawing/2014/main" id="{C21DC35A-221D-4CF3-9E45-A962E9C77302}"/>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When a part is unfamiliar</a:t>
            </a:r>
          </a:p>
        </p:txBody>
      </p:sp>
      <p:sp>
        <p:nvSpPr>
          <p:cNvPr id="2" name="02">
            <a:extLst xmlns:a="http://schemas.openxmlformats.org/drawingml/2006/main">
              <a:ext uri="{FF2B5EF4-FFF2-40B4-BE49-F238E27FC236}">
                <a16:creationId xmlns:a16="http://schemas.microsoft.com/office/drawing/2014/main" id="{CDC34E4B-9BA4-4FDD-8ABF-0B7395C1C7CB}"/>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02</a:t>
            </a:r>
          </a:p>
        </p:txBody>
      </p:sp>
      <p:sp>
        <p:nvSpPr>
          <p:cNvPr id="3" name="A photo needs an explanation and context.">
            <a:extLst xmlns:a="http://schemas.openxmlformats.org/drawingml/2006/main">
              <a:ext uri="{FF2B5EF4-FFF2-40B4-BE49-F238E27FC236}">
                <a16:creationId xmlns:a16="http://schemas.microsoft.com/office/drawing/2014/main" id="{4E3D4A8C-39D4-4E7D-A2FB-BA423FB91523}"/>
              </a:ext>
            </a:extLst>
          </p:cNvPr>
          <p:cNvSpPr>
            <a:spLocks xmlns:a="http://schemas.openxmlformats.org/drawingml/2006/main" noGrp="1"/>
          </p:cNvSpPr>
          <p:nvPr/>
        </p:nvSpPr>
        <p:spPr>
          <a:xfrm xmlns:a="http://schemas.openxmlformats.org/drawingml/2006/main">
            <a:off x="628650" y="170497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50" b="1">
                <a:solidFill>
                  <a:srgbClr val="256B7F"/>
                </a:solidFill>
                <a:latin typeface="Arial"/>
                <a:ea typeface="Arial"/>
                <a:cs typeface="Arial"/>
              </a:defRPr>
            </a:pPr>
            <a:r>
              <a:rPr sz="2850" b="1">
                <a:solidFill>
                  <a:srgbClr val="256B7F"/>
                </a:solidFill>
                <a:latin typeface="Arial"/>
                <a:ea typeface="Arial"/>
                <a:cs typeface="Arial"/>
              </a:rPr>
              <a:t>A photo needs an explanation and context.</a:t>
            </a:r>
          </a:p>
        </p:txBody>
      </p:sp>
      <p:sp>
        <p:nvSpPr>
          <p:cNvPr id="4" name="Identity">
            <a:extLst xmlns:a="http://schemas.openxmlformats.org/drawingml/2006/main">
              <a:ext uri="{FF2B5EF4-FFF2-40B4-BE49-F238E27FC236}">
                <a16:creationId xmlns:a16="http://schemas.microsoft.com/office/drawing/2014/main" id="{0233DF87-9D59-41C8-AF6C-BBBE4F419FCF}"/>
              </a:ext>
            </a:extLst>
          </p:cNvPr>
          <p:cNvSpPr>
            <a:spLocks xmlns:a="http://schemas.openxmlformats.org/drawingml/2006/main" noGrp="1"/>
          </p:cNvSpPr>
          <p:nvPr/>
        </p:nvSpPr>
        <p:spPr>
          <a:xfrm xmlns:a="http://schemas.openxmlformats.org/drawingml/2006/main">
            <a:off x="628650" y="281940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32A3C"/>
                </a:solidFill>
                <a:latin typeface="Arial"/>
                <a:ea typeface="Arial"/>
                <a:cs typeface="Arial"/>
              </a:defRPr>
            </a:pPr>
            <a:r>
              <a:rPr sz="2250" b="1">
                <a:solidFill>
                  <a:srgbClr val="132A3C"/>
                </a:solidFill>
                <a:latin typeface="Arial"/>
                <a:ea typeface="Arial"/>
                <a:cs typeface="Arial"/>
              </a:rPr>
              <a:t>Identity</a:t>
            </a:r>
          </a:p>
        </p:txBody>
      </p:sp>
      <p:sp>
        <p:nvSpPr>
          <p:cNvPr id="5" name="A label, part number or useful reference can take time to find.">
            <a:extLst xmlns:a="http://schemas.openxmlformats.org/drawingml/2006/main">
              <a:ext uri="{FF2B5EF4-FFF2-40B4-BE49-F238E27FC236}">
                <a16:creationId xmlns:a16="http://schemas.microsoft.com/office/drawing/2014/main" id="{8C512F06-89EC-4037-A42C-0641DE53E3F4}"/>
              </a:ext>
            </a:extLst>
          </p:cNvPr>
          <p:cNvSpPr>
            <a:spLocks xmlns:a="http://schemas.openxmlformats.org/drawingml/2006/main" noGrp="1"/>
          </p:cNvSpPr>
          <p:nvPr/>
        </p:nvSpPr>
        <p:spPr>
          <a:xfrm xmlns:a="http://schemas.openxmlformats.org/drawingml/2006/main">
            <a:off x="3343275" y="2790825"/>
            <a:ext cx="8105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A label, part number or useful reference can take time to find.</a:t>
            </a:r>
          </a:p>
        </p:txBody>
      </p:sp>
      <p:sp>
        <p:nvSpPr>
          <p:cNvPr id="6" name="Condition">
            <a:extLst xmlns:a="http://schemas.openxmlformats.org/drawingml/2006/main">
              <a:ext uri="{FF2B5EF4-FFF2-40B4-BE49-F238E27FC236}">
                <a16:creationId xmlns:a16="http://schemas.microsoft.com/office/drawing/2014/main" id="{BAA2432F-A093-431A-9841-CC2916F76AB7}"/>
              </a:ext>
            </a:extLst>
          </p:cNvPr>
          <p:cNvSpPr>
            <a:spLocks xmlns:a="http://schemas.openxmlformats.org/drawingml/2006/main" noGrp="1"/>
          </p:cNvSpPr>
          <p:nvPr/>
        </p:nvSpPr>
        <p:spPr>
          <a:xfrm xmlns:a="http://schemas.openxmlformats.org/drawingml/2006/main">
            <a:off x="628650" y="383857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32A3C"/>
                </a:solidFill>
                <a:latin typeface="Arial"/>
                <a:ea typeface="Arial"/>
                <a:cs typeface="Arial"/>
              </a:defRPr>
            </a:pPr>
            <a:r>
              <a:rPr sz="2250" b="1">
                <a:solidFill>
                  <a:srgbClr val="132A3C"/>
                </a:solidFill>
                <a:latin typeface="Arial"/>
                <a:ea typeface="Arial"/>
                <a:cs typeface="Arial"/>
              </a:rPr>
              <a:t>Condition</a:t>
            </a:r>
          </a:p>
        </p:txBody>
      </p:sp>
      <p:sp>
        <p:nvSpPr>
          <p:cNvPr id="7" name="A photo, a visible observation and a test result answer different">
            <a:extLst xmlns:a="http://schemas.openxmlformats.org/drawingml/2006/main">
              <a:ext uri="{FF2B5EF4-FFF2-40B4-BE49-F238E27FC236}">
                <a16:creationId xmlns:a16="http://schemas.microsoft.com/office/drawing/2014/main" id="{F3765D9A-EAC1-4914-99E5-7675E912A4B1}"/>
              </a:ext>
            </a:extLst>
          </p:cNvPr>
          <p:cNvSpPr>
            <a:spLocks xmlns:a="http://schemas.openxmlformats.org/drawingml/2006/main" noGrp="1"/>
          </p:cNvSpPr>
          <p:nvPr/>
        </p:nvSpPr>
        <p:spPr>
          <a:xfrm xmlns:a="http://schemas.openxmlformats.org/drawingml/2006/main">
            <a:off x="3343275" y="3810000"/>
            <a:ext cx="8105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A photo, a visible observation and a test result answer different questions.</a:t>
            </a:r>
          </a:p>
        </p:txBody>
      </p:sp>
      <p:sp>
        <p:nvSpPr>
          <p:cNvPr id="8" name="Documentation">
            <a:extLst xmlns:a="http://schemas.openxmlformats.org/drawingml/2006/main">
              <a:ext uri="{FF2B5EF4-FFF2-40B4-BE49-F238E27FC236}">
                <a16:creationId xmlns:a16="http://schemas.microsoft.com/office/drawing/2014/main" id="{6FEA56CF-497D-4B9B-8FFA-A2588EA6E592}"/>
              </a:ext>
            </a:extLst>
          </p:cNvPr>
          <p:cNvSpPr>
            <a:spLocks xmlns:a="http://schemas.openxmlformats.org/drawingml/2006/main" noGrp="1"/>
          </p:cNvSpPr>
          <p:nvPr/>
        </p:nvSpPr>
        <p:spPr>
          <a:xfrm xmlns:a="http://schemas.openxmlformats.org/drawingml/2006/main">
            <a:off x="628650" y="48577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32A3C"/>
                </a:solidFill>
                <a:latin typeface="Arial"/>
                <a:ea typeface="Arial"/>
                <a:cs typeface="Arial"/>
              </a:defRPr>
            </a:pPr>
            <a:r>
              <a:rPr sz="2250" b="1">
                <a:solidFill>
                  <a:srgbClr val="132A3C"/>
                </a:solidFill>
                <a:latin typeface="Arial"/>
                <a:ea typeface="Arial"/>
                <a:cs typeface="Arial"/>
              </a:rPr>
              <a:t>Documentation</a:t>
            </a:r>
          </a:p>
        </p:txBody>
      </p:sp>
      <p:sp>
        <p:nvSpPr>
          <p:cNvPr id="9" name="Notes and pictures can become scattered or need to be entered aga">
            <a:extLst xmlns:a="http://schemas.openxmlformats.org/drawingml/2006/main">
              <a:ext uri="{FF2B5EF4-FFF2-40B4-BE49-F238E27FC236}">
                <a16:creationId xmlns:a16="http://schemas.microsoft.com/office/drawing/2014/main" id="{5431757F-2E37-4B40-ABEB-1D2737042AE6}"/>
              </a:ext>
            </a:extLst>
          </p:cNvPr>
          <p:cNvSpPr>
            <a:spLocks xmlns:a="http://schemas.openxmlformats.org/drawingml/2006/main" noGrp="1"/>
          </p:cNvSpPr>
          <p:nvPr/>
        </p:nvSpPr>
        <p:spPr>
          <a:xfrm xmlns:a="http://schemas.openxmlformats.org/drawingml/2006/main">
            <a:off x="3343275" y="4829175"/>
            <a:ext cx="8105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Notes and pictures can become scattered or need to be entered again.</a:t>
            </a:r>
          </a:p>
        </p:txBody>
      </p:sp>
      <p:sp>
        <p:nvSpPr>
          <p:cNvPr id="10" name="Workflow hypotheses to check with real users.">
            <a:extLst xmlns:a="http://schemas.openxmlformats.org/drawingml/2006/main">
              <a:ext uri="{FF2B5EF4-FFF2-40B4-BE49-F238E27FC236}">
                <a16:creationId xmlns:a16="http://schemas.microsoft.com/office/drawing/2014/main" id="{089E8AE5-1BF3-4897-B4DC-389B9FD6E5F6}"/>
              </a:ext>
            </a:extLst>
          </p:cNvPr>
          <p:cNvSpPr>
            <a:spLocks xmlns:a="http://schemas.openxmlformats.org/drawingml/2006/main" noGrp="1"/>
          </p:cNvSpPr>
          <p:nvPr/>
        </p:nvSpPr>
        <p:spPr>
          <a:xfrm xmlns:a="http://schemas.openxmlformats.org/drawingml/2006/main">
            <a:off x="628650" y="61722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256B7F"/>
                </a:solidFill>
                <a:latin typeface="Arial"/>
                <a:ea typeface="Arial"/>
                <a:cs typeface="Arial"/>
              </a:defRPr>
            </a:pPr>
            <a:r>
              <a:rPr sz="1575" b="0">
                <a:solidFill>
                  <a:srgbClr val="256B7F"/>
                </a:solidFill>
                <a:latin typeface="Arial"/>
                <a:ea typeface="Arial"/>
                <a:cs typeface="Arial"/>
              </a:rPr>
              <a:t>Workflow hypotheses to check with real users.</a:t>
            </a:r>
          </a:p>
        </p:txBody>
      </p:sp>
    </p:spTree>
    <p:extLst>
      <p:ext uri="{BB962C8B-B14F-4D97-AF65-F5344CB8AC3E}">
        <p14:creationId xmlns:p14="http://schemas.microsoft.com/office/powerpoint/2010/main" val="2134330047"/>
      </p:ext>
    </p:extLst>
  </p:cSld>
</p:sld>
</file>

<file path=ppt/slides/slide3.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2" name="People DeepSpec can help">
            <a:extLst xmlns:a="http://schemas.openxmlformats.org/drawingml/2006/main">
              <a:ext uri="{FF2B5EF4-FFF2-40B4-BE49-F238E27FC236}">
                <a16:creationId xmlns:a16="http://schemas.microsoft.com/office/drawing/2014/main" id="{46CBA97B-0F4B-4FC4-A851-0CA64B697F30}"/>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4FAFB"/>
                </a:solidFill>
                <a:latin typeface="Arial"/>
                <a:ea typeface="Arial"/>
                <a:cs typeface="Arial"/>
              </a:defRPr>
            </a:pPr>
            <a:r>
              <a:rPr sz="3600" b="1">
                <a:solidFill>
                  <a:srgbClr val="F4FAFB"/>
                </a:solidFill>
                <a:latin typeface="Arial"/>
                <a:ea typeface="Arial"/>
                <a:cs typeface="Arial"/>
              </a:rPr>
              <a:t>People DeepSpec can help</a:t>
            </a:r>
          </a:p>
        </p:txBody>
      </p:sp>
      <p:sp>
        <p:nvSpPr>
          <p:cNvPr id="2" name="03">
            <a:extLst xmlns:a="http://schemas.openxmlformats.org/drawingml/2006/main">
              <a:ext uri="{FF2B5EF4-FFF2-40B4-BE49-F238E27FC236}">
                <a16:creationId xmlns:a16="http://schemas.microsoft.com/office/drawing/2014/main" id="{9B594509-D0E0-4A6B-8689-09331032803B}"/>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03</a:t>
            </a:r>
          </a:p>
        </p:txBody>
      </p:sp>
      <p:sp>
        <p:nvSpPr>
          <p:cNvPr id="3" name="01">
            <a:extLst xmlns:a="http://schemas.openxmlformats.org/drawingml/2006/main">
              <a:ext uri="{FF2B5EF4-FFF2-40B4-BE49-F238E27FC236}">
                <a16:creationId xmlns:a16="http://schemas.microsoft.com/office/drawing/2014/main" id="{E7AE2C95-9530-4881-BC3D-C9ED7A1692D8}"/>
              </a:ext>
            </a:extLst>
          </p:cNvPr>
          <p:cNvSpPr>
            <a:spLocks xmlns:a="http://schemas.openxmlformats.org/drawingml/2006/main" noGrp="1"/>
          </p:cNvSpPr>
          <p:nvPr/>
        </p:nvSpPr>
        <p:spPr>
          <a:xfrm xmlns:a="http://schemas.openxmlformats.org/drawingml/2006/main">
            <a:off x="628650" y="19050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B8E3E9"/>
                </a:solidFill>
                <a:latin typeface="Arial"/>
                <a:ea typeface="Arial"/>
                <a:cs typeface="Arial"/>
              </a:defRPr>
            </a:pPr>
            <a:r>
              <a:rPr sz="3600" b="1">
                <a:solidFill>
                  <a:srgbClr val="B8E3E9"/>
                </a:solidFill>
                <a:latin typeface="Arial"/>
                <a:ea typeface="Arial"/>
                <a:cs typeface="Arial"/>
              </a:rPr>
              <a:t>01</a:t>
            </a:r>
          </a:p>
        </p:txBody>
      </p:sp>
      <p:sp>
        <p:nvSpPr>
          <p:cNvPr id="4" name="Parts sellers">
            <a:extLst xmlns:a="http://schemas.openxmlformats.org/drawingml/2006/main">
              <a:ext uri="{FF2B5EF4-FFF2-40B4-BE49-F238E27FC236}">
                <a16:creationId xmlns:a16="http://schemas.microsoft.com/office/drawing/2014/main" id="{19EC91D7-84AB-4071-B5C8-2D3D7D32C4D9}"/>
              </a:ext>
            </a:extLst>
          </p:cNvPr>
          <p:cNvSpPr>
            <a:spLocks xmlns:a="http://schemas.openxmlformats.org/drawingml/2006/main" noGrp="1"/>
          </p:cNvSpPr>
          <p:nvPr/>
        </p:nvSpPr>
        <p:spPr>
          <a:xfrm xmlns:a="http://schemas.openxmlformats.org/drawingml/2006/main">
            <a:off x="2028825" y="1914525"/>
            <a:ext cx="866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F4FAFB"/>
                </a:solidFill>
                <a:latin typeface="Arial"/>
                <a:ea typeface="Arial"/>
                <a:cs typeface="Arial"/>
              </a:defRPr>
            </a:pPr>
            <a:r>
              <a:rPr sz="2475" b="1">
                <a:solidFill>
                  <a:srgbClr val="F4FAFB"/>
                </a:solidFill>
                <a:latin typeface="Arial"/>
                <a:ea typeface="Arial"/>
                <a:cs typeface="Arial"/>
              </a:rPr>
              <a:t>Parts sellers &amp; salvage</a:t>
            </a:r>
          </a:p>
        </p:txBody>
      </p:sp>
      <p:sp>
        <p:nvSpPr>
          <p:cNvPr id="5" name="Document incoming parts and reopen the evidence behind a listing.">
            <a:extLst xmlns:a="http://schemas.openxmlformats.org/drawingml/2006/main">
              <a:ext uri="{FF2B5EF4-FFF2-40B4-BE49-F238E27FC236}">
                <a16:creationId xmlns:a16="http://schemas.microsoft.com/office/drawing/2014/main" id="{A02126E6-3A8C-4E55-9977-DB7EF1BA0D9A}"/>
              </a:ext>
            </a:extLst>
          </p:cNvPr>
          <p:cNvSpPr>
            <a:spLocks xmlns:a="http://schemas.openxmlformats.org/drawingml/2006/main" noGrp="1"/>
          </p:cNvSpPr>
          <p:nvPr/>
        </p:nvSpPr>
        <p:spPr>
          <a:xfrm xmlns:a="http://schemas.openxmlformats.org/drawingml/2006/main">
            <a:off x="2028825" y="2409825"/>
            <a:ext cx="9086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Document uncertain inventory and keep the evidence behind an intake or listing decision.</a:t>
            </a:r>
          </a:p>
        </p:txBody>
      </p:sp>
      <p:sp>
        <p:nvSpPr>
          <p:cNvPr id="6" name="02">
            <a:extLst xmlns:a="http://schemas.openxmlformats.org/drawingml/2006/main">
              <a:ext uri="{FF2B5EF4-FFF2-40B4-BE49-F238E27FC236}">
                <a16:creationId xmlns:a16="http://schemas.microsoft.com/office/drawing/2014/main" id="{85DA9FCD-4DB7-426E-AC8D-1C8D2557D511}"/>
              </a:ext>
            </a:extLst>
          </p:cNvPr>
          <p:cNvSpPr>
            <a:spLocks xmlns:a="http://schemas.openxmlformats.org/drawingml/2006/main" noGrp="1"/>
          </p:cNvSpPr>
          <p:nvPr/>
        </p:nvSpPr>
        <p:spPr>
          <a:xfrm xmlns:a="http://schemas.openxmlformats.org/drawingml/2006/main">
            <a:off x="628650" y="325755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B8E3E9"/>
                </a:solidFill>
                <a:latin typeface="Arial"/>
                <a:ea typeface="Arial"/>
                <a:cs typeface="Arial"/>
              </a:defRPr>
            </a:pPr>
            <a:r>
              <a:rPr sz="3600" b="1">
                <a:solidFill>
                  <a:srgbClr val="B8E3E9"/>
                </a:solidFill>
                <a:latin typeface="Arial"/>
                <a:ea typeface="Arial"/>
                <a:cs typeface="Arial"/>
              </a:rPr>
              <a:t>02</a:t>
            </a:r>
          </a:p>
        </p:txBody>
      </p:sp>
      <p:sp>
        <p:nvSpPr>
          <p:cNvPr id="7" name="Auto shops">
            <a:extLst xmlns:a="http://schemas.openxmlformats.org/drawingml/2006/main">
              <a:ext uri="{FF2B5EF4-FFF2-40B4-BE49-F238E27FC236}">
                <a16:creationId xmlns:a16="http://schemas.microsoft.com/office/drawing/2014/main" id="{FB570CA3-E460-496F-A8EF-4FD5BB6A2C23}"/>
              </a:ext>
            </a:extLst>
          </p:cNvPr>
          <p:cNvSpPr>
            <a:spLocks xmlns:a="http://schemas.openxmlformats.org/drawingml/2006/main" noGrp="1"/>
          </p:cNvSpPr>
          <p:nvPr/>
        </p:nvSpPr>
        <p:spPr>
          <a:xfrm xmlns:a="http://schemas.openxmlformats.org/drawingml/2006/main">
            <a:off x="2028825" y="3267075"/>
            <a:ext cx="866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F4FAFB"/>
                </a:solidFill>
                <a:latin typeface="Arial"/>
                <a:ea typeface="Arial"/>
                <a:cs typeface="Arial"/>
              </a:defRPr>
            </a:pPr>
            <a:r>
              <a:rPr sz="2475" b="1">
                <a:solidFill>
                  <a:srgbClr val="F4FAFB"/>
                </a:solidFill>
                <a:latin typeface="Arial"/>
                <a:ea typeface="Arial"/>
                <a:cs typeface="Arial"/>
              </a:rPr>
              <a:t>Mechanics &amp; shop teams</a:t>
            </a:r>
          </a:p>
        </p:txBody>
      </p:sp>
      <p:sp>
        <p:nvSpPr>
          <p:cNvPr id="8" name="Attach scan records to a job and prepare a customer report.">
            <a:extLst xmlns:a="http://schemas.openxmlformats.org/drawingml/2006/main">
              <a:ext uri="{FF2B5EF4-FFF2-40B4-BE49-F238E27FC236}">
                <a16:creationId xmlns:a16="http://schemas.microsoft.com/office/drawing/2014/main" id="{B6641E83-0CFE-4FAD-A592-651E9F9BC632}"/>
              </a:ext>
            </a:extLst>
          </p:cNvPr>
          <p:cNvSpPr>
            <a:spLocks xmlns:a="http://schemas.openxmlformats.org/drawingml/2006/main" noGrp="1"/>
          </p:cNvSpPr>
          <p:nvPr/>
        </p:nvSpPr>
        <p:spPr>
          <a:xfrm xmlns:a="http://schemas.openxmlformats.org/drawingml/2006/main">
            <a:off x="2028825" y="3762375"/>
            <a:ext cx="9086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Use a second opinion, teach a trainee and keep evidence with the job.</a:t>
            </a:r>
          </a:p>
        </p:txBody>
      </p:sp>
      <p:sp>
        <p:nvSpPr>
          <p:cNvPr id="9" name="03">
            <a:extLst xmlns:a="http://schemas.openxmlformats.org/drawingml/2006/main">
              <a:ext uri="{FF2B5EF4-FFF2-40B4-BE49-F238E27FC236}">
                <a16:creationId xmlns:a16="http://schemas.microsoft.com/office/drawing/2014/main" id="{EEE2A61B-6206-4043-A2E3-330A6778123E}"/>
              </a:ext>
            </a:extLst>
          </p:cNvPr>
          <p:cNvSpPr>
            <a:spLocks xmlns:a="http://schemas.openxmlformats.org/drawingml/2006/main" noGrp="1"/>
          </p:cNvSpPr>
          <p:nvPr/>
        </p:nvSpPr>
        <p:spPr>
          <a:xfrm xmlns:a="http://schemas.openxmlformats.org/drawingml/2006/main">
            <a:off x="628650" y="46101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B8E3E9"/>
                </a:solidFill>
                <a:latin typeface="Arial"/>
                <a:ea typeface="Arial"/>
                <a:cs typeface="Arial"/>
              </a:defRPr>
            </a:pPr>
            <a:r>
              <a:rPr sz="3600" b="1">
                <a:solidFill>
                  <a:srgbClr val="B8E3E9"/>
                </a:solidFill>
                <a:latin typeface="Arial"/>
                <a:ea typeface="Arial"/>
                <a:cs typeface="Arial"/>
              </a:rPr>
              <a:t>03</a:t>
            </a:r>
          </a:p>
        </p:txBody>
      </p:sp>
      <p:sp>
        <p:nvSpPr>
          <p:cNvPr id="10" name="DIY owners">
            <a:extLst xmlns:a="http://schemas.openxmlformats.org/drawingml/2006/main">
              <a:ext uri="{FF2B5EF4-FFF2-40B4-BE49-F238E27FC236}">
                <a16:creationId xmlns:a16="http://schemas.microsoft.com/office/drawing/2014/main" id="{61803782-865E-4CEC-BCC1-3CF4FAD75756}"/>
              </a:ext>
            </a:extLst>
          </p:cNvPr>
          <p:cNvSpPr>
            <a:spLocks xmlns:a="http://schemas.openxmlformats.org/drawingml/2006/main" noGrp="1"/>
          </p:cNvSpPr>
          <p:nvPr/>
        </p:nvSpPr>
        <p:spPr>
          <a:xfrm xmlns:a="http://schemas.openxmlformats.org/drawingml/2006/main">
            <a:off x="2028825" y="4619625"/>
            <a:ext cx="866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F4FAFB"/>
                </a:solidFill>
                <a:latin typeface="Arial"/>
                <a:ea typeface="Arial"/>
                <a:cs typeface="Arial"/>
              </a:defRPr>
            </a:pPr>
            <a:r>
              <a:rPr sz="2475" b="1">
                <a:solidFill>
                  <a:srgbClr val="F4FAFB"/>
                </a:solidFill>
                <a:latin typeface="Arial"/>
                <a:ea typeface="Arial"/>
                <a:cs typeface="Arial"/>
              </a:rPr>
              <a:t>DIY owners &amp; learners</a:t>
            </a:r>
          </a:p>
        </p:txBody>
      </p:sp>
      <p:sp>
        <p:nvSpPr>
          <p:cNvPr id="11" name="Understand a possible part identity and keep notes for a mechanic">
            <a:extLst xmlns:a="http://schemas.openxmlformats.org/drawingml/2006/main">
              <a:ext uri="{FF2B5EF4-FFF2-40B4-BE49-F238E27FC236}">
                <a16:creationId xmlns:a16="http://schemas.microsoft.com/office/drawing/2014/main" id="{960DDF03-A2CC-4984-943E-DF3114F4DEFB}"/>
              </a:ext>
            </a:extLst>
          </p:cNvPr>
          <p:cNvSpPr>
            <a:spLocks xmlns:a="http://schemas.openxmlformats.org/drawingml/2006/main" noGrp="1"/>
          </p:cNvSpPr>
          <p:nvPr/>
        </p:nvSpPr>
        <p:spPr>
          <a:xfrm xmlns:a="http://schemas.openxmlformats.org/drawingml/2006/main">
            <a:off x="2028825" y="5114925"/>
            <a:ext cx="9086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Understand an unfamiliar visible part and learn what evidence to photograph next.</a:t>
            </a:r>
          </a:p>
        </p:txBody>
      </p:sp>
    </p:spTree>
    <p:extLst>
      <p:ext uri="{BB962C8B-B14F-4D97-AF65-F5344CB8AC3E}">
        <p14:creationId xmlns:p14="http://schemas.microsoft.com/office/powerpoint/2010/main" val="1802216852"/>
      </p:ext>
    </p:extLst>
  </p:cSld>
</p:sld>
</file>

<file path=ppt/slides/slide4.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5" name="The core DeepSpec workflow">
            <a:extLst xmlns:a="http://schemas.openxmlformats.org/drawingml/2006/main">
              <a:ext uri="{FF2B5EF4-FFF2-40B4-BE49-F238E27FC236}">
                <a16:creationId xmlns:a16="http://schemas.microsoft.com/office/drawing/2014/main" id="{FD855BDC-66D0-465E-910D-7955EEED1AA1}"/>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The core DeepSpec workflow</a:t>
            </a:r>
          </a:p>
        </p:txBody>
      </p:sp>
      <p:sp>
        <p:nvSpPr>
          <p:cNvPr id="2" name="04">
            <a:extLst xmlns:a="http://schemas.openxmlformats.org/drawingml/2006/main">
              <a:ext uri="{FF2B5EF4-FFF2-40B4-BE49-F238E27FC236}">
                <a16:creationId xmlns:a16="http://schemas.microsoft.com/office/drawing/2014/main" id="{E3EF49D6-FC5B-486A-970B-1AD0E82848BD}"/>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04</a:t>
            </a:r>
          </a:p>
        </p:txBody>
      </p:sp>
      <p:sp>
        <p:nvSpPr>
          <p:cNvPr id="3" name="01">
            <a:extLst xmlns:a="http://schemas.openxmlformats.org/drawingml/2006/main">
              <a:ext uri="{FF2B5EF4-FFF2-40B4-BE49-F238E27FC236}">
                <a16:creationId xmlns:a16="http://schemas.microsoft.com/office/drawing/2014/main" id="{068D11B3-0939-474B-9FDE-BED7D2693790}"/>
              </a:ext>
            </a:extLst>
          </p:cNvPr>
          <p:cNvSpPr>
            <a:spLocks xmlns:a="http://schemas.openxmlformats.org/drawingml/2006/main" noGrp="1"/>
          </p:cNvSpPr>
          <p:nvPr/>
        </p:nvSpPr>
        <p:spPr>
          <a:xfrm xmlns:a="http://schemas.openxmlformats.org/drawingml/2006/main">
            <a:off x="628650" y="1924050"/>
            <a:ext cx="942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1">
                <a:solidFill>
                  <a:srgbClr val="256B7F"/>
                </a:solidFill>
                <a:latin typeface="Arial"/>
                <a:ea typeface="Arial"/>
                <a:cs typeface="Arial"/>
              </a:defRPr>
            </a:pPr>
            <a:r>
              <a:rPr sz="3000" b="1">
                <a:solidFill>
                  <a:srgbClr val="256B7F"/>
                </a:solidFill>
                <a:latin typeface="Arial"/>
                <a:ea typeface="Arial"/>
                <a:cs typeface="Arial"/>
              </a:rPr>
              <a:t>01</a:t>
            </a:r>
          </a:p>
        </p:txBody>
      </p:sp>
      <p:sp>
        <p:nvSpPr>
          <p:cNvPr id="4" name="Capture">
            <a:extLst xmlns:a="http://schemas.openxmlformats.org/drawingml/2006/main">
              <a:ext uri="{FF2B5EF4-FFF2-40B4-BE49-F238E27FC236}">
                <a16:creationId xmlns:a16="http://schemas.microsoft.com/office/drawing/2014/main" id="{268F0FDF-9934-4C11-9DF0-5FAC9A593AA2}"/>
              </a:ext>
            </a:extLst>
          </p:cNvPr>
          <p:cNvSpPr>
            <a:spLocks xmlns:a="http://schemas.openxmlformats.org/drawingml/2006/main" noGrp="1"/>
          </p:cNvSpPr>
          <p:nvPr/>
        </p:nvSpPr>
        <p:spPr>
          <a:xfrm xmlns:a="http://schemas.openxmlformats.org/drawingml/2006/main">
            <a:off x="1981200" y="19240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132A3C"/>
                </a:solidFill>
                <a:latin typeface="Arial"/>
                <a:ea typeface="Arial"/>
                <a:cs typeface="Arial"/>
              </a:defRPr>
            </a:pPr>
            <a:r>
              <a:rPr sz="2475" b="1">
                <a:solidFill>
                  <a:srgbClr val="132A3C"/>
                </a:solidFill>
                <a:latin typeface="Arial"/>
                <a:ea typeface="Arial"/>
                <a:cs typeface="Arial"/>
              </a:rPr>
              <a:t>Capture</a:t>
            </a:r>
          </a:p>
        </p:txBody>
      </p:sp>
      <p:sp>
        <p:nvSpPr>
          <p:cNvPr id="5" name="Take or upload a clear photo of the part.">
            <a:extLst xmlns:a="http://schemas.openxmlformats.org/drawingml/2006/main">
              <a:ext uri="{FF2B5EF4-FFF2-40B4-BE49-F238E27FC236}">
                <a16:creationId xmlns:a16="http://schemas.microsoft.com/office/drawing/2014/main" id="{80051321-32A3-45A5-9947-D37B56AB4E9B}"/>
              </a:ext>
            </a:extLst>
          </p:cNvPr>
          <p:cNvSpPr>
            <a:spLocks xmlns:a="http://schemas.openxmlformats.org/drawingml/2006/main" noGrp="1"/>
          </p:cNvSpPr>
          <p:nvPr/>
        </p:nvSpPr>
        <p:spPr>
          <a:xfrm xmlns:a="http://schemas.openxmlformats.org/drawingml/2006/main">
            <a:off x="4762500" y="1933575"/>
            <a:ext cx="680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32A3C"/>
                </a:solidFill>
                <a:latin typeface="Arial"/>
                <a:ea typeface="Arial"/>
                <a:cs typeface="Arial"/>
              </a:defRPr>
            </a:pPr>
            <a:r>
              <a:rPr sz="2100" b="0">
                <a:solidFill>
                  <a:srgbClr val="132A3C"/>
                </a:solidFill>
                <a:latin typeface="Arial"/>
                <a:ea typeface="Arial"/>
                <a:cs typeface="Arial"/>
              </a:rPr>
              <a:t>Take or upload a clear photo of the part.</a:t>
            </a:r>
          </a:p>
        </p:txBody>
      </p:sp>
      <p:sp>
        <p:nvSpPr>
          <p:cNvPr id="6" name="02">
            <a:extLst xmlns:a="http://schemas.openxmlformats.org/drawingml/2006/main">
              <a:ext uri="{FF2B5EF4-FFF2-40B4-BE49-F238E27FC236}">
                <a16:creationId xmlns:a16="http://schemas.microsoft.com/office/drawing/2014/main" id="{67476EC1-3AEF-4C56-9522-C38A444CF472}"/>
              </a:ext>
            </a:extLst>
          </p:cNvPr>
          <p:cNvSpPr>
            <a:spLocks xmlns:a="http://schemas.openxmlformats.org/drawingml/2006/main" noGrp="1"/>
          </p:cNvSpPr>
          <p:nvPr/>
        </p:nvSpPr>
        <p:spPr>
          <a:xfrm xmlns:a="http://schemas.openxmlformats.org/drawingml/2006/main">
            <a:off x="628650" y="2943225"/>
            <a:ext cx="942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1">
                <a:solidFill>
                  <a:srgbClr val="256B7F"/>
                </a:solidFill>
                <a:latin typeface="Arial"/>
                <a:ea typeface="Arial"/>
                <a:cs typeface="Arial"/>
              </a:defRPr>
            </a:pPr>
            <a:r>
              <a:rPr sz="3000" b="1">
                <a:solidFill>
                  <a:srgbClr val="256B7F"/>
                </a:solidFill>
                <a:latin typeface="Arial"/>
                <a:ea typeface="Arial"/>
                <a:cs typeface="Arial"/>
              </a:rPr>
              <a:t>02</a:t>
            </a:r>
          </a:p>
        </p:txBody>
      </p:sp>
      <p:sp>
        <p:nvSpPr>
          <p:cNvPr id="7" name="Review">
            <a:extLst xmlns:a="http://schemas.openxmlformats.org/drawingml/2006/main">
              <a:ext uri="{FF2B5EF4-FFF2-40B4-BE49-F238E27FC236}">
                <a16:creationId xmlns:a16="http://schemas.microsoft.com/office/drawing/2014/main" id="{9E95911D-38E6-426E-947B-C06035455B67}"/>
              </a:ext>
            </a:extLst>
          </p:cNvPr>
          <p:cNvSpPr>
            <a:spLocks xmlns:a="http://schemas.openxmlformats.org/drawingml/2006/main" noGrp="1"/>
          </p:cNvSpPr>
          <p:nvPr/>
        </p:nvSpPr>
        <p:spPr>
          <a:xfrm xmlns:a="http://schemas.openxmlformats.org/drawingml/2006/main">
            <a:off x="1981200" y="2943225"/>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132A3C"/>
                </a:solidFill>
                <a:latin typeface="Arial"/>
                <a:ea typeface="Arial"/>
                <a:cs typeface="Arial"/>
              </a:defRPr>
            </a:pPr>
            <a:r>
              <a:rPr sz="2475" b="1">
                <a:solidFill>
                  <a:srgbClr val="132A3C"/>
                </a:solidFill>
                <a:latin typeface="Arial"/>
                <a:ea typeface="Arial"/>
                <a:cs typeface="Arial"/>
              </a:rPr>
              <a:t>Review</a:t>
            </a:r>
          </a:p>
        </p:txBody>
      </p:sp>
      <p:sp>
        <p:nvSpPr>
          <p:cNvPr id="8" name="Read the AI suggestion and ask follow-up questions.">
            <a:extLst xmlns:a="http://schemas.openxmlformats.org/drawingml/2006/main">
              <a:ext uri="{FF2B5EF4-FFF2-40B4-BE49-F238E27FC236}">
                <a16:creationId xmlns:a16="http://schemas.microsoft.com/office/drawing/2014/main" id="{C18C72CD-2FD6-40B5-BECC-0342772EF369}"/>
              </a:ext>
            </a:extLst>
          </p:cNvPr>
          <p:cNvSpPr>
            <a:spLocks xmlns:a="http://schemas.openxmlformats.org/drawingml/2006/main" noGrp="1"/>
          </p:cNvSpPr>
          <p:nvPr/>
        </p:nvSpPr>
        <p:spPr>
          <a:xfrm xmlns:a="http://schemas.openxmlformats.org/drawingml/2006/main">
            <a:off x="4762500" y="2952750"/>
            <a:ext cx="680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32A3C"/>
                </a:solidFill>
                <a:latin typeface="Arial"/>
                <a:ea typeface="Arial"/>
                <a:cs typeface="Arial"/>
              </a:defRPr>
            </a:pPr>
            <a:r>
              <a:rPr sz="2100" b="0">
                <a:solidFill>
                  <a:srgbClr val="132A3C"/>
                </a:solidFill>
                <a:latin typeface="Arial"/>
                <a:ea typeface="Arial"/>
                <a:cs typeface="Arial"/>
              </a:rPr>
              <a:t>Read the AI suggestion and ask follow-up questions.</a:t>
            </a:r>
          </a:p>
        </p:txBody>
      </p:sp>
      <p:sp>
        <p:nvSpPr>
          <p:cNvPr id="9" name="03">
            <a:extLst xmlns:a="http://schemas.openxmlformats.org/drawingml/2006/main">
              <a:ext uri="{FF2B5EF4-FFF2-40B4-BE49-F238E27FC236}">
                <a16:creationId xmlns:a16="http://schemas.microsoft.com/office/drawing/2014/main" id="{163E0AB9-102F-40CC-B9C7-4BE12CFF5E58}"/>
              </a:ext>
            </a:extLst>
          </p:cNvPr>
          <p:cNvSpPr>
            <a:spLocks xmlns:a="http://schemas.openxmlformats.org/drawingml/2006/main" noGrp="1"/>
          </p:cNvSpPr>
          <p:nvPr/>
        </p:nvSpPr>
        <p:spPr>
          <a:xfrm xmlns:a="http://schemas.openxmlformats.org/drawingml/2006/main">
            <a:off x="628650" y="3962400"/>
            <a:ext cx="942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1">
                <a:solidFill>
                  <a:srgbClr val="256B7F"/>
                </a:solidFill>
                <a:latin typeface="Arial"/>
                <a:ea typeface="Arial"/>
                <a:cs typeface="Arial"/>
              </a:defRPr>
            </a:pPr>
            <a:r>
              <a:rPr sz="3000" b="1">
                <a:solidFill>
                  <a:srgbClr val="256B7F"/>
                </a:solidFill>
                <a:latin typeface="Arial"/>
                <a:ea typeface="Arial"/>
                <a:cs typeface="Arial"/>
              </a:rPr>
              <a:t>03</a:t>
            </a:r>
          </a:p>
        </p:txBody>
      </p:sp>
      <p:sp>
        <p:nvSpPr>
          <p:cNvPr id="10" name="Inspect">
            <a:extLst xmlns:a="http://schemas.openxmlformats.org/drawingml/2006/main">
              <a:ext uri="{FF2B5EF4-FFF2-40B4-BE49-F238E27FC236}">
                <a16:creationId xmlns:a16="http://schemas.microsoft.com/office/drawing/2014/main" id="{2915F053-EFD1-4B7F-A3DC-BE863539A1BF}"/>
              </a:ext>
            </a:extLst>
          </p:cNvPr>
          <p:cNvSpPr>
            <a:spLocks xmlns:a="http://schemas.openxmlformats.org/drawingml/2006/main" noGrp="1"/>
          </p:cNvSpPr>
          <p:nvPr/>
        </p:nvSpPr>
        <p:spPr>
          <a:xfrm xmlns:a="http://schemas.openxmlformats.org/drawingml/2006/main">
            <a:off x="1981200" y="396240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132A3C"/>
                </a:solidFill>
                <a:latin typeface="Arial"/>
                <a:ea typeface="Arial"/>
                <a:cs typeface="Arial"/>
              </a:defRPr>
            </a:pPr>
            <a:r>
              <a:rPr sz="2475" b="1">
                <a:solidFill>
                  <a:srgbClr val="132A3C"/>
                </a:solidFill>
                <a:latin typeface="Arial"/>
                <a:ea typeface="Arial"/>
                <a:cs typeface="Arial"/>
              </a:rPr>
              <a:t>Inspect</a:t>
            </a:r>
          </a:p>
        </p:txBody>
      </p:sp>
      <p:sp>
        <p:nvSpPr>
          <p:cNvPr id="11" name="Correct the answer or add human inspection evidence.">
            <a:extLst xmlns:a="http://schemas.openxmlformats.org/drawingml/2006/main">
              <a:ext uri="{FF2B5EF4-FFF2-40B4-BE49-F238E27FC236}">
                <a16:creationId xmlns:a16="http://schemas.microsoft.com/office/drawing/2014/main" id="{1BE8F361-03BD-4495-9758-9D7966DF447D}"/>
              </a:ext>
            </a:extLst>
          </p:cNvPr>
          <p:cNvSpPr>
            <a:spLocks xmlns:a="http://schemas.openxmlformats.org/drawingml/2006/main" noGrp="1"/>
          </p:cNvSpPr>
          <p:nvPr/>
        </p:nvSpPr>
        <p:spPr>
          <a:xfrm xmlns:a="http://schemas.openxmlformats.org/drawingml/2006/main">
            <a:off x="4762500" y="3971925"/>
            <a:ext cx="680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32A3C"/>
                </a:solidFill>
                <a:latin typeface="Arial"/>
                <a:ea typeface="Arial"/>
                <a:cs typeface="Arial"/>
              </a:defRPr>
            </a:pPr>
            <a:r>
              <a:rPr sz="2100" b="0">
                <a:solidFill>
                  <a:srgbClr val="132A3C"/>
                </a:solidFill>
                <a:latin typeface="Arial"/>
                <a:ea typeface="Arial"/>
                <a:cs typeface="Arial"/>
              </a:rPr>
              <a:t>Correct the answer or add human inspection evidence.</a:t>
            </a:r>
          </a:p>
        </p:txBody>
      </p:sp>
      <p:sp>
        <p:nvSpPr>
          <p:cNvPr id="12" name="04">
            <a:extLst xmlns:a="http://schemas.openxmlformats.org/drawingml/2006/main">
              <a:ext uri="{FF2B5EF4-FFF2-40B4-BE49-F238E27FC236}">
                <a16:creationId xmlns:a16="http://schemas.microsoft.com/office/drawing/2014/main" id="{EF18300B-4F16-4234-86F2-C7F50C544A00}"/>
              </a:ext>
            </a:extLst>
          </p:cNvPr>
          <p:cNvSpPr>
            <a:spLocks xmlns:a="http://schemas.openxmlformats.org/drawingml/2006/main" noGrp="1"/>
          </p:cNvSpPr>
          <p:nvPr/>
        </p:nvSpPr>
        <p:spPr>
          <a:xfrm xmlns:a="http://schemas.openxmlformats.org/drawingml/2006/main">
            <a:off x="628650" y="4981575"/>
            <a:ext cx="942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1">
                <a:solidFill>
                  <a:srgbClr val="256B7F"/>
                </a:solidFill>
                <a:latin typeface="Arial"/>
                <a:ea typeface="Arial"/>
                <a:cs typeface="Arial"/>
              </a:defRPr>
            </a:pPr>
            <a:r>
              <a:rPr sz="3000" b="1">
                <a:solidFill>
                  <a:srgbClr val="256B7F"/>
                </a:solidFill>
                <a:latin typeface="Arial"/>
                <a:ea typeface="Arial"/>
                <a:cs typeface="Arial"/>
              </a:rPr>
              <a:t>04</a:t>
            </a:r>
          </a:p>
        </p:txBody>
      </p:sp>
      <p:sp>
        <p:nvSpPr>
          <p:cNvPr id="13" name="Keep">
            <a:extLst xmlns:a="http://schemas.openxmlformats.org/drawingml/2006/main">
              <a:ext uri="{FF2B5EF4-FFF2-40B4-BE49-F238E27FC236}">
                <a16:creationId xmlns:a16="http://schemas.microsoft.com/office/drawing/2014/main" id="{EF8D34C2-A940-4BB5-B0E4-C5788E6724D0}"/>
              </a:ext>
            </a:extLst>
          </p:cNvPr>
          <p:cNvSpPr>
            <a:spLocks xmlns:a="http://schemas.openxmlformats.org/drawingml/2006/main" noGrp="1"/>
          </p:cNvSpPr>
          <p:nvPr/>
        </p:nvSpPr>
        <p:spPr>
          <a:xfrm xmlns:a="http://schemas.openxmlformats.org/drawingml/2006/main">
            <a:off x="1981200" y="4981575"/>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1">
                <a:solidFill>
                  <a:srgbClr val="132A3C"/>
                </a:solidFill>
                <a:latin typeface="Arial"/>
                <a:ea typeface="Arial"/>
                <a:cs typeface="Arial"/>
              </a:defRPr>
            </a:pPr>
            <a:r>
              <a:rPr sz="2475" b="1">
                <a:solidFill>
                  <a:srgbClr val="132A3C"/>
                </a:solidFill>
                <a:latin typeface="Arial"/>
                <a:ea typeface="Arial"/>
                <a:cs typeface="Arial"/>
              </a:rPr>
              <a:t>Keep</a:t>
            </a:r>
          </a:p>
        </p:txBody>
      </p:sp>
      <p:sp>
        <p:nvSpPr>
          <p:cNvPr id="14" name="Save, reopen and export the record when needed.">
            <a:extLst xmlns:a="http://schemas.openxmlformats.org/drawingml/2006/main">
              <a:ext uri="{FF2B5EF4-FFF2-40B4-BE49-F238E27FC236}">
                <a16:creationId xmlns:a16="http://schemas.microsoft.com/office/drawing/2014/main" id="{1706A22B-2493-4C7D-9902-5209B679314A}"/>
              </a:ext>
            </a:extLst>
          </p:cNvPr>
          <p:cNvSpPr>
            <a:spLocks xmlns:a="http://schemas.openxmlformats.org/drawingml/2006/main" noGrp="1"/>
          </p:cNvSpPr>
          <p:nvPr/>
        </p:nvSpPr>
        <p:spPr>
          <a:xfrm xmlns:a="http://schemas.openxmlformats.org/drawingml/2006/main">
            <a:off x="4762500" y="4991100"/>
            <a:ext cx="680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32A3C"/>
                </a:solidFill>
                <a:latin typeface="Arial"/>
                <a:ea typeface="Arial"/>
                <a:cs typeface="Arial"/>
              </a:defRPr>
            </a:pPr>
            <a:r>
              <a:rPr sz="2100" b="0">
                <a:solidFill>
                  <a:srgbClr val="132A3C"/>
                </a:solidFill>
                <a:latin typeface="Arial"/>
                <a:ea typeface="Arial"/>
                <a:cs typeface="Arial"/>
              </a:rPr>
              <a:t>Save, reopen and export the record when needed.</a:t>
            </a:r>
          </a:p>
        </p:txBody>
      </p:sp>
    </p:spTree>
    <p:extLst>
      <p:ext uri="{BB962C8B-B14F-4D97-AF65-F5344CB8AC3E}">
        <p14:creationId xmlns:p14="http://schemas.microsoft.com/office/powerpoint/2010/main" val="675608183"/>
      </p:ext>
    </p:extLst>
  </p:cSld>
</p:sld>
</file>

<file path=ppt/slides/slide5.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9" name="Photo capture and the AR experience">
            <a:extLst xmlns:a="http://schemas.openxmlformats.org/drawingml/2006/main">
              <a:ext uri="{FF2B5EF4-FFF2-40B4-BE49-F238E27FC236}">
                <a16:creationId xmlns:a16="http://schemas.microsoft.com/office/drawing/2014/main" id="{3B5BD3AE-ED64-4528-B00F-43B3CED65C10}"/>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4FAFB"/>
                </a:solidFill>
                <a:latin typeface="Arial"/>
                <a:ea typeface="Arial"/>
                <a:cs typeface="Arial"/>
              </a:defRPr>
            </a:pPr>
            <a:r>
              <a:rPr sz="3600" b="1">
                <a:solidFill>
                  <a:srgbClr val="F4FAFB"/>
                </a:solidFill>
                <a:latin typeface="Arial"/>
                <a:ea typeface="Arial"/>
                <a:cs typeface="Arial"/>
              </a:rPr>
              <a:t>Photo capture and the AR experience</a:t>
            </a:r>
          </a:p>
        </p:txBody>
      </p:sp>
      <p:sp>
        <p:nvSpPr>
          <p:cNvPr id="2" name="05">
            <a:extLst xmlns:a="http://schemas.openxmlformats.org/drawingml/2006/main">
              <a:ext uri="{FF2B5EF4-FFF2-40B4-BE49-F238E27FC236}">
                <a16:creationId xmlns:a16="http://schemas.microsoft.com/office/drawing/2014/main" id="{751BEE66-743E-4CE7-8DF1-0AA84A2157F5}"/>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05</a:t>
            </a:r>
          </a:p>
        </p:txBody>
      </p:sp>
      <p:sp>
        <p:nvSpPr>
          <p:cNvPr id="3" name="Current camera workflow">
            <a:extLst xmlns:a="http://schemas.openxmlformats.org/drawingml/2006/main">
              <a:ext uri="{FF2B5EF4-FFF2-40B4-BE49-F238E27FC236}">
                <a16:creationId xmlns:a16="http://schemas.microsoft.com/office/drawing/2014/main" id="{D96F326A-7954-4C1A-8BFD-A342A3332EBA}"/>
              </a:ext>
            </a:extLst>
          </p:cNvPr>
          <p:cNvSpPr>
            <a:spLocks xmlns:a="http://schemas.openxmlformats.org/drawingml/2006/main" noGrp="1"/>
          </p:cNvSpPr>
          <p:nvPr/>
        </p:nvSpPr>
        <p:spPr>
          <a:xfrm xmlns:a="http://schemas.openxmlformats.org/drawingml/2006/main">
            <a:off x="628650" y="1847850"/>
            <a:ext cx="552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B8E3E9"/>
                </a:solidFill>
                <a:latin typeface="Arial"/>
                <a:ea typeface="Arial"/>
                <a:cs typeface="Arial"/>
              </a:defRPr>
            </a:pPr>
            <a:r>
              <a:rPr sz="2550" b="1">
                <a:solidFill>
                  <a:srgbClr val="B8E3E9"/>
                </a:solidFill>
                <a:latin typeface="Arial"/>
                <a:ea typeface="Arial"/>
                <a:cs typeface="Arial"/>
              </a:rPr>
              <a:t>Current camera workflow</a:t>
            </a:r>
          </a:p>
        </p:txBody>
      </p:sp>
      <p:sp>
        <p:nvSpPr>
          <p:cNvPr id="4" name="Camera or image upload">
            <a:extLst xmlns:a="http://schemas.openxmlformats.org/drawingml/2006/main">
              <a:ext uri="{FF2B5EF4-FFF2-40B4-BE49-F238E27FC236}">
                <a16:creationId xmlns:a16="http://schemas.microsoft.com/office/drawing/2014/main" id="{AC1B9C27-A361-4B75-BA81-6CB2C415C55A}"/>
              </a:ext>
            </a:extLst>
          </p:cNvPr>
          <p:cNvSpPr>
            <a:spLocks xmlns:a="http://schemas.openxmlformats.org/drawingml/2006/main" noGrp="1"/>
          </p:cNvSpPr>
          <p:nvPr/>
        </p:nvSpPr>
        <p:spPr>
          <a:xfrm xmlns:a="http://schemas.openxmlformats.org/drawingml/2006/main">
            <a:off x="628650" y="2647950"/>
            <a:ext cx="56388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Camera or image upload</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Quality guidance and focus area</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Identification overlay and result card</a:t>
            </a:r>
          </a:p>
        </p:txBody>
      </p:sp>
      <p:sp>
        <p:nvSpPr>
          <p:cNvPr id="5" name="V1 polish target">
            <a:extLst xmlns:a="http://schemas.openxmlformats.org/drawingml/2006/main">
              <a:ext uri="{FF2B5EF4-FFF2-40B4-BE49-F238E27FC236}">
                <a16:creationId xmlns:a16="http://schemas.microsoft.com/office/drawing/2014/main" id="{268D3693-DA95-41B3-AF68-2ACF128AD334}"/>
              </a:ext>
            </a:extLst>
          </p:cNvPr>
          <p:cNvSpPr>
            <a:spLocks xmlns:a="http://schemas.openxmlformats.org/drawingml/2006/main" noGrp="1"/>
          </p:cNvSpPr>
          <p:nvPr/>
        </p:nvSpPr>
        <p:spPr>
          <a:xfrm xmlns:a="http://schemas.openxmlformats.org/drawingml/2006/main">
            <a:off x="7096125" y="1847850"/>
            <a:ext cx="4410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B8E3E9"/>
                </a:solidFill>
                <a:latin typeface="Arial"/>
                <a:ea typeface="Arial"/>
                <a:cs typeface="Arial"/>
              </a:defRPr>
            </a:pPr>
            <a:r>
              <a:rPr sz="2550" b="1">
                <a:solidFill>
                  <a:srgbClr val="B8E3E9"/>
                </a:solidFill>
                <a:latin typeface="Arial"/>
                <a:ea typeface="Arial"/>
                <a:cs typeface="Arial"/>
              </a:rPr>
              <a:t>V1 polish target</a:t>
            </a:r>
          </a:p>
        </p:txBody>
      </p:sp>
      <p:sp>
        <p:nvSpPr>
          <p:cNvPr id="6" name="A stable highlight on the part">
            <a:extLst xmlns:a="http://schemas.openxmlformats.org/drawingml/2006/main">
              <a:ext uri="{FF2B5EF4-FFF2-40B4-BE49-F238E27FC236}">
                <a16:creationId xmlns:a16="http://schemas.microsoft.com/office/drawing/2014/main" id="{479DE777-F9CA-4D9D-94C0-C5A5B264A1A0}"/>
              </a:ext>
            </a:extLst>
          </p:cNvPr>
          <p:cNvSpPr>
            <a:spLocks xmlns:a="http://schemas.openxmlformats.org/drawingml/2006/main" noGrp="1"/>
          </p:cNvSpPr>
          <p:nvPr/>
        </p:nvSpPr>
        <p:spPr>
          <a:xfrm xmlns:a="http://schemas.openxmlformats.org/drawingml/2006/main">
            <a:off x="7096125" y="2647950"/>
            <a:ext cx="4410075"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A stable highlight on the part</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Readable labels and transitions</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Clear fallback to a photo scan</a:t>
            </a:r>
          </a:p>
        </p:txBody>
      </p:sp>
      <p:sp>
        <p:nvSpPr>
          <p:cNvPr id="7" name="Good AR should help the user see the part and understand what to ">
            <a:extLst xmlns:a="http://schemas.openxmlformats.org/drawingml/2006/main">
              <a:ext uri="{FF2B5EF4-FFF2-40B4-BE49-F238E27FC236}">
                <a16:creationId xmlns:a16="http://schemas.microsoft.com/office/drawing/2014/main" id="{D499AC62-3919-4C3D-BBFD-8E87FD883799}"/>
              </a:ext>
            </a:extLst>
          </p:cNvPr>
          <p:cNvSpPr>
            <a:spLocks xmlns:a="http://schemas.openxmlformats.org/drawingml/2006/main" noGrp="1"/>
          </p:cNvSpPr>
          <p:nvPr/>
        </p:nvSpPr>
        <p:spPr>
          <a:xfrm xmlns:a="http://schemas.openxmlformats.org/drawingml/2006/main">
            <a:off x="628650" y="50673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9DB8C8"/>
                </a:solidFill>
                <a:latin typeface="Arial"/>
                <a:ea typeface="Arial"/>
                <a:cs typeface="Arial"/>
              </a:defRPr>
            </a:pPr>
            <a:r>
              <a:rPr sz="2325" b="0">
                <a:solidFill>
                  <a:srgbClr val="9DB8C8"/>
                </a:solidFill>
                <a:latin typeface="Arial"/>
                <a:ea typeface="Arial"/>
                <a:cs typeface="Arial"/>
              </a:rPr>
              <a:t>Good AR should help the user see the part and understand what to do next.</a:t>
            </a:r>
          </a:p>
        </p:txBody>
      </p:sp>
      <p:sp>
        <p:nvSpPr>
          <p:cNvPr id="8" name="Mobile tracking quality needs real-device testing. Current cutout">
            <a:extLst xmlns:a="http://schemas.openxmlformats.org/drawingml/2006/main">
              <a:ext uri="{FF2B5EF4-FFF2-40B4-BE49-F238E27FC236}">
                <a16:creationId xmlns:a16="http://schemas.microsoft.com/office/drawing/2014/main" id="{10D958A3-FE48-4CBC-9B15-FB495C199481}"/>
              </a:ext>
            </a:extLst>
          </p:cNvPr>
          <p:cNvSpPr>
            <a:spLocks xmlns:a="http://schemas.openxmlformats.org/drawingml/2006/main" noGrp="1"/>
          </p:cNvSpPr>
          <p:nvPr/>
        </p:nvSpPr>
        <p:spPr>
          <a:xfrm xmlns:a="http://schemas.openxmlformats.org/drawingml/2006/main">
            <a:off x="628650" y="62674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9DB8C8"/>
                </a:solidFill>
                <a:latin typeface="Arial"/>
                <a:ea typeface="Arial"/>
                <a:cs typeface="Arial"/>
              </a:defRPr>
            </a:pPr>
            <a:r>
              <a:rPr sz="1500" b="0">
                <a:solidFill>
                  <a:srgbClr val="9DB8C8"/>
                </a:solidFill>
                <a:latin typeface="Arial"/>
                <a:ea typeface="Arial"/>
                <a:cs typeface="Arial"/>
              </a:rPr>
              <a:t>Mobile tracking quality needs real-device testing. Current cutouts are 2D.</a:t>
            </a:r>
          </a:p>
        </p:txBody>
      </p:sp>
    </p:spTree>
    <p:extLst>
      <p:ext uri="{BB962C8B-B14F-4D97-AF65-F5344CB8AC3E}">
        <p14:creationId xmlns:p14="http://schemas.microsoft.com/office/powerpoint/2010/main" val="83569551"/>
      </p:ext>
    </p:extLst>
  </p:cSld>
</p:sld>
</file>

<file path=ppt/slides/slide6.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8" name="AI result and follow-up chat">
            <a:extLst xmlns:a="http://schemas.openxmlformats.org/drawingml/2006/main">
              <a:ext uri="{FF2B5EF4-FFF2-40B4-BE49-F238E27FC236}">
                <a16:creationId xmlns:a16="http://schemas.microsoft.com/office/drawing/2014/main" id="{BF991C0B-8A82-46EE-A006-09527726A7F7}"/>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AI result with focused follow-ups</a:t>
            </a:r>
          </a:p>
        </p:txBody>
      </p:sp>
      <p:sp>
        <p:nvSpPr>
          <p:cNvPr id="2" name="06">
            <a:extLst xmlns:a="http://schemas.openxmlformats.org/drawingml/2006/main">
              <a:ext uri="{FF2B5EF4-FFF2-40B4-BE49-F238E27FC236}">
                <a16:creationId xmlns:a16="http://schemas.microsoft.com/office/drawing/2014/main" id="{9167619A-E503-45D0-8237-17B5000D4BEA}"/>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06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fde144e1485437f"/>
          <a:stretch xmlns:a="http://schemas.openxmlformats.org/drawingml/2006/main"/>
        </p:blipFill>
        <p:spPr>
          <a:xfrm xmlns:a="http://schemas.openxmlformats.org/drawingml/2006/main" flipH="0" flipV="0">
            <a:off x="4543425" y="1692473"/>
            <a:ext cx="7019925" cy="4387453"/>
          </a:xfrm>
          <a:prstGeom xmlns:a="http://schemas.openxmlformats.org/drawingml/2006/main" prst="rect">
            <a:avLst/>
          </a:prstGeom>
        </p:spPr>
      </p:pic>
      <p:sp>
        <p:nvSpPr>
          <p:cNvPr id="4" name="A starting point">
            <a:extLst xmlns:a="http://schemas.openxmlformats.org/drawingml/2006/main">
              <a:ext uri="{FF2B5EF4-FFF2-40B4-BE49-F238E27FC236}">
                <a16:creationId xmlns:a16="http://schemas.microsoft.com/office/drawing/2014/main" id="{27923B16-B38F-48E7-B3A9-DFDE4DA9B5E1}"/>
              </a:ext>
            </a:extLst>
          </p:cNvPr>
          <p:cNvSpPr>
            <a:spLocks xmlns:a="http://schemas.openxmlformats.org/drawingml/2006/main" noGrp="1"/>
          </p:cNvSpPr>
          <p:nvPr/>
        </p:nvSpPr>
        <p:spPr>
          <a:xfrm xmlns:a="http://schemas.openxmlformats.org/drawingml/2006/main">
            <a:off x="628650" y="1752600"/>
            <a:ext cx="35337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256B7F"/>
                </a:solidFill>
                <a:latin typeface="Arial"/>
                <a:ea typeface="Arial"/>
                <a:cs typeface="Arial"/>
              </a:defRPr>
            </a:pPr>
            <a:r>
              <a:rPr sz="2550" b="1">
                <a:solidFill>
                  <a:srgbClr val="256B7F"/>
                </a:solidFill>
                <a:latin typeface="Arial"/>
                <a:ea typeface="Arial"/>
                <a:cs typeface="Arial"/>
              </a:rPr>
              <a:t>A clear starting point</a:t>
            </a:r>
          </a:p>
          <a:p xmlns:a="http://schemas.openxmlformats.org/drawingml/2006/main">
            <a:pPr>
              <a:buNone/>
              <a:defRPr sz="2550" b="1">
                <a:solidFill>
                  <a:srgbClr val="256B7F"/>
                </a:solidFill>
                <a:latin typeface="Arial"/>
                <a:ea typeface="Arial"/>
                <a:cs typeface="Arial"/>
              </a:defRPr>
            </a:pPr>
            <a:r>
              <a:rPr sz="2550" b="1">
                <a:solidFill>
                  <a:srgbClr val="256B7F"/>
                </a:solidFill>
                <a:latin typeface="Arial"/>
                <a:ea typeface="Arial"/>
                <a:cs typeface="Arial"/>
              </a:rPr>
              <a:t>for the review</a:t>
            </a:r>
          </a:p>
        </p:txBody>
      </p:sp>
      <p:sp>
        <p:nvSpPr>
          <p:cNvPr id="5" name="Suggested identity">
            <a:extLst xmlns:a="http://schemas.openxmlformats.org/drawingml/2006/main">
              <a:ext uri="{FF2B5EF4-FFF2-40B4-BE49-F238E27FC236}">
                <a16:creationId xmlns:a16="http://schemas.microsoft.com/office/drawing/2014/main" id="{D6CC22FD-9BE2-4BCE-A444-823A8A0FC8F5}"/>
              </a:ext>
            </a:extLst>
          </p:cNvPr>
          <p:cNvSpPr>
            <a:spLocks xmlns:a="http://schemas.openxmlformats.org/drawingml/2006/main" noGrp="1"/>
          </p:cNvSpPr>
          <p:nvPr/>
        </p:nvSpPr>
        <p:spPr>
          <a:xfrm xmlns:a="http://schemas.openxmlformats.org/drawingml/2006/main">
            <a:off x="628650" y="3228975"/>
            <a:ext cx="353377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Suggested identity</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Visible clues</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9–25 sentence follow-ups</a:t>
            </a:r>
          </a:p>
        </p:txBody>
      </p:sp>
      <p:sp>
        <p:nvSpPr>
          <p:cNvPr id="6" name="Follow-up chat keeps">
            <a:extLst xmlns:a="http://schemas.openxmlformats.org/drawingml/2006/main">
              <a:ext uri="{FF2B5EF4-FFF2-40B4-BE49-F238E27FC236}">
                <a16:creationId xmlns:a16="http://schemas.microsoft.com/office/drawing/2014/main" id="{5A386114-C356-46CD-AD50-1521306F31F1}"/>
              </a:ext>
            </a:extLst>
          </p:cNvPr>
          <p:cNvSpPr>
            <a:spLocks xmlns:a="http://schemas.openxmlformats.org/drawingml/2006/main" noGrp="1"/>
          </p:cNvSpPr>
          <p:nvPr/>
        </p:nvSpPr>
        <p:spPr>
          <a:xfrm xmlns:a="http://schemas.openxmlformats.org/drawingml/2006/main">
            <a:off x="628650" y="5114925"/>
            <a:ext cx="3562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32A3C"/>
                </a:solidFill>
                <a:latin typeface="Arial"/>
                <a:ea typeface="Arial"/>
                <a:cs typeface="Arial"/>
              </a:defRPr>
            </a:pPr>
            <a:r>
              <a:rPr sz="2100" b="0">
                <a:solidFill>
                  <a:srgbClr val="132A3C"/>
                </a:solidFill>
                <a:latin typeface="Arial"/>
                <a:ea typeface="Arial"/>
                <a:cs typeface="Arial"/>
              </a:rPr>
              <a:t>Follow-up stays with</a:t>
            </a:r>
          </a:p>
          <a:p xmlns:a="http://schemas.openxmlformats.org/drawingml/2006/main">
            <a:pPr>
              <a:buNone/>
              <a:defRPr sz="2100" b="0">
                <a:solidFill>
                  <a:srgbClr val="132A3C"/>
                </a:solidFill>
                <a:latin typeface="Arial"/>
                <a:ea typeface="Arial"/>
                <a:cs typeface="Arial"/>
              </a:defRPr>
            </a:pPr>
            <a:r>
              <a:rPr sz="2100" b="0">
                <a:solidFill>
                  <a:srgbClr val="132A3C"/>
                </a:solidFill>
                <a:latin typeface="Arial"/>
                <a:ea typeface="Arial"/>
                <a:cs typeface="Arial"/>
              </a:rPr>
              <a:t>the saved scan.</a:t>
            </a:r>
          </a:p>
        </p:txBody>
      </p:sp>
      <p:sp>
        <p:nvSpPr>
          <p:cNvPr id="7" name="Actual app QA capture. A photo does not establish function or saf">
            <a:extLst xmlns:a="http://schemas.openxmlformats.org/drawingml/2006/main">
              <a:ext uri="{FF2B5EF4-FFF2-40B4-BE49-F238E27FC236}">
                <a16:creationId xmlns:a16="http://schemas.microsoft.com/office/drawing/2014/main" id="{8FF99F54-0A7A-4D6B-AD67-9E05FCEB3C35}"/>
              </a:ext>
            </a:extLst>
          </p:cNvPr>
          <p:cNvSpPr>
            <a:spLocks xmlns:a="http://schemas.openxmlformats.org/drawingml/2006/main" noGrp="1"/>
          </p:cNvSpPr>
          <p:nvPr/>
        </p:nvSpPr>
        <p:spPr>
          <a:xfrm xmlns:a="http://schemas.openxmlformats.org/drawingml/2006/main">
            <a:off x="628650" y="62674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256B7F"/>
                </a:solidFill>
                <a:latin typeface="Arial"/>
                <a:ea typeface="Arial"/>
                <a:cs typeface="Arial"/>
              </a:defRPr>
            </a:pPr>
            <a:r>
              <a:rPr sz="1500" b="0">
                <a:solidFill>
                  <a:srgbClr val="256B7F"/>
                </a:solidFill>
                <a:latin typeface="Arial"/>
                <a:ea typeface="Arial"/>
                <a:cs typeface="Arial"/>
              </a:rPr>
              <a:t>Current app capture. Answer depth adapts; a photo does not establish function or safety.</a:t>
            </a:r>
          </a:p>
        </p:txBody>
      </p:sp>
    </p:spTree>
    <p:extLst>
      <p:ext uri="{BB962C8B-B14F-4D97-AF65-F5344CB8AC3E}">
        <p14:creationId xmlns:p14="http://schemas.microsoft.com/office/powerpoint/2010/main" val="469020270"/>
      </p:ext>
    </p:extLst>
  </p:cSld>
</p:sld>
</file>

<file path=ppt/slides/slide7.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1" name="Human checks stay separate">
            <a:extLst xmlns:a="http://schemas.openxmlformats.org/drawingml/2006/main">
              <a:ext uri="{FF2B5EF4-FFF2-40B4-BE49-F238E27FC236}">
                <a16:creationId xmlns:a16="http://schemas.microsoft.com/office/drawing/2014/main" id="{6DD7DE13-7B29-4F93-933D-06008CC5E97E}"/>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4FAFB"/>
                </a:solidFill>
                <a:latin typeface="Arial"/>
                <a:ea typeface="Arial"/>
                <a:cs typeface="Arial"/>
              </a:defRPr>
            </a:pPr>
            <a:r>
              <a:rPr sz="3600" b="1">
                <a:solidFill>
                  <a:srgbClr val="F4FAFB"/>
                </a:solidFill>
                <a:latin typeface="Arial"/>
                <a:ea typeface="Arial"/>
                <a:cs typeface="Arial"/>
              </a:rPr>
              <a:t>Human checks stay separate</a:t>
            </a:r>
          </a:p>
        </p:txBody>
      </p:sp>
      <p:sp>
        <p:nvSpPr>
          <p:cNvPr id="2" name="07">
            <a:extLst xmlns:a="http://schemas.openxmlformats.org/drawingml/2006/main">
              <a:ext uri="{FF2B5EF4-FFF2-40B4-BE49-F238E27FC236}">
                <a16:creationId xmlns:a16="http://schemas.microsoft.com/office/drawing/2014/main" id="{3CC11423-B111-4B76-9EB4-6AFB3C4CD5A6}"/>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07</a:t>
            </a:r>
          </a:p>
        </p:txBody>
      </p:sp>
      <p:sp>
        <p:nvSpPr>
          <p:cNvPr id="3" name="Identity">
            <a:extLst xmlns:a="http://schemas.openxmlformats.org/drawingml/2006/main">
              <a:ext uri="{FF2B5EF4-FFF2-40B4-BE49-F238E27FC236}">
                <a16:creationId xmlns:a16="http://schemas.microsoft.com/office/drawing/2014/main" id="{6F837871-E56B-4937-83F0-AD129D7C7268}"/>
              </a:ext>
            </a:extLst>
          </p:cNvPr>
          <p:cNvSpPr>
            <a:spLocks xmlns:a="http://schemas.openxmlformats.org/drawingml/2006/main" noGrp="1"/>
          </p:cNvSpPr>
          <p:nvPr/>
        </p:nvSpPr>
        <p:spPr>
          <a:xfrm xmlns:a="http://schemas.openxmlformats.org/drawingml/2006/main">
            <a:off x="628650" y="1971675"/>
            <a:ext cx="33909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B8E3E9"/>
                </a:solidFill>
                <a:latin typeface="Arial"/>
                <a:ea typeface="Arial"/>
                <a:cs typeface="Arial"/>
              </a:defRPr>
            </a:pPr>
            <a:r>
              <a:rPr sz="2550" b="1">
                <a:solidFill>
                  <a:srgbClr val="B8E3E9"/>
                </a:solidFill>
                <a:latin typeface="Arial"/>
                <a:ea typeface="Arial"/>
                <a:cs typeface="Arial"/>
              </a:rPr>
              <a:t>Identity</a:t>
            </a:r>
          </a:p>
        </p:txBody>
      </p:sp>
      <p:sp>
        <p:nvSpPr>
          <p:cNvPr id="4" name="What part did you confirm?">
            <a:extLst xmlns:a="http://schemas.openxmlformats.org/drawingml/2006/main">
              <a:ext uri="{FF2B5EF4-FFF2-40B4-BE49-F238E27FC236}">
                <a16:creationId xmlns:a16="http://schemas.microsoft.com/office/drawing/2014/main" id="{81F885E3-185D-4EAE-ABE2-8F722D30EDE0}"/>
              </a:ext>
            </a:extLst>
          </p:cNvPr>
          <p:cNvSpPr>
            <a:spLocks xmlns:a="http://schemas.openxmlformats.org/drawingml/2006/main" noGrp="1"/>
          </p:cNvSpPr>
          <p:nvPr/>
        </p:nvSpPr>
        <p:spPr>
          <a:xfrm xmlns:a="http://schemas.openxmlformats.org/drawingml/2006/main">
            <a:off x="628650" y="314325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What part did you confirm?</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Which label or reference supports it?</a:t>
            </a:r>
          </a:p>
        </p:txBody>
      </p:sp>
      <p:sp>
        <p:nvSpPr>
          <p:cNvPr id="5" name="Visible condition">
            <a:extLst xmlns:a="http://schemas.openxmlformats.org/drawingml/2006/main">
              <a:ext uri="{FF2B5EF4-FFF2-40B4-BE49-F238E27FC236}">
                <a16:creationId xmlns:a16="http://schemas.microsoft.com/office/drawing/2014/main" id="{DA0A68DB-64AA-45E4-B64F-192C65CD4557}"/>
              </a:ext>
            </a:extLst>
          </p:cNvPr>
          <p:cNvSpPr>
            <a:spLocks xmlns:a="http://schemas.openxmlformats.org/drawingml/2006/main" noGrp="1"/>
          </p:cNvSpPr>
          <p:nvPr/>
        </p:nvSpPr>
        <p:spPr>
          <a:xfrm xmlns:a="http://schemas.openxmlformats.org/drawingml/2006/main">
            <a:off x="4381500" y="1971675"/>
            <a:ext cx="33909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B8E3E9"/>
                </a:solidFill>
                <a:latin typeface="Arial"/>
                <a:ea typeface="Arial"/>
                <a:cs typeface="Arial"/>
              </a:defRPr>
            </a:pPr>
            <a:r>
              <a:rPr sz="2550" b="1">
                <a:solidFill>
                  <a:srgbClr val="B8E3E9"/>
                </a:solidFill>
                <a:latin typeface="Arial"/>
                <a:ea typeface="Arial"/>
                <a:cs typeface="Arial"/>
              </a:rPr>
              <a:t>Visible condition</a:t>
            </a:r>
          </a:p>
        </p:txBody>
      </p:sp>
      <p:sp>
        <p:nvSpPr>
          <p:cNvPr id="6" name="What could you observe?">
            <a:extLst xmlns:a="http://schemas.openxmlformats.org/drawingml/2006/main">
              <a:ext uri="{FF2B5EF4-FFF2-40B4-BE49-F238E27FC236}">
                <a16:creationId xmlns:a16="http://schemas.microsoft.com/office/drawing/2014/main" id="{13E6ADBA-D4ED-4461-A9C5-D36C10E9F9C3}"/>
              </a:ext>
            </a:extLst>
          </p:cNvPr>
          <p:cNvSpPr>
            <a:spLocks xmlns:a="http://schemas.openxmlformats.org/drawingml/2006/main" noGrp="1"/>
          </p:cNvSpPr>
          <p:nvPr/>
        </p:nvSpPr>
        <p:spPr>
          <a:xfrm xmlns:a="http://schemas.openxmlformats.org/drawingml/2006/main">
            <a:off x="4381500" y="314325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What could you observe?</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What damage or uncertainty remains?</a:t>
            </a:r>
          </a:p>
        </p:txBody>
      </p:sp>
      <p:sp>
        <p:nvSpPr>
          <p:cNvPr id="7" name="Function">
            <a:extLst xmlns:a="http://schemas.openxmlformats.org/drawingml/2006/main">
              <a:ext uri="{FF2B5EF4-FFF2-40B4-BE49-F238E27FC236}">
                <a16:creationId xmlns:a16="http://schemas.microsoft.com/office/drawing/2014/main" id="{BD85B4E6-C645-4339-A92B-C6ED53D6CDEC}"/>
              </a:ext>
            </a:extLst>
          </p:cNvPr>
          <p:cNvSpPr>
            <a:spLocks xmlns:a="http://schemas.openxmlformats.org/drawingml/2006/main" noGrp="1"/>
          </p:cNvSpPr>
          <p:nvPr/>
        </p:nvSpPr>
        <p:spPr>
          <a:xfrm xmlns:a="http://schemas.openxmlformats.org/drawingml/2006/main">
            <a:off x="8134350" y="1971675"/>
            <a:ext cx="33909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B8E3E9"/>
                </a:solidFill>
                <a:latin typeface="Arial"/>
                <a:ea typeface="Arial"/>
                <a:cs typeface="Arial"/>
              </a:defRPr>
            </a:pPr>
            <a:r>
              <a:rPr sz="2550" b="1">
                <a:solidFill>
                  <a:srgbClr val="B8E3E9"/>
                </a:solidFill>
                <a:latin typeface="Arial"/>
                <a:ea typeface="Arial"/>
                <a:cs typeface="Arial"/>
              </a:rPr>
              <a:t>Function</a:t>
            </a:r>
          </a:p>
        </p:txBody>
      </p:sp>
      <p:sp>
        <p:nvSpPr>
          <p:cNvPr id="8" name="What test did you perform?">
            <a:extLst xmlns:a="http://schemas.openxmlformats.org/drawingml/2006/main">
              <a:ext uri="{FF2B5EF4-FFF2-40B4-BE49-F238E27FC236}">
                <a16:creationId xmlns:a16="http://schemas.microsoft.com/office/drawing/2014/main" id="{C1ABF3EE-222C-4910-931D-FB0A3C4E3D7C}"/>
              </a:ext>
            </a:extLst>
          </p:cNvPr>
          <p:cNvSpPr>
            <a:spLocks xmlns:a="http://schemas.openxmlformats.org/drawingml/2006/main" noGrp="1"/>
          </p:cNvSpPr>
          <p:nvPr/>
        </p:nvSpPr>
        <p:spPr>
          <a:xfrm xmlns:a="http://schemas.openxmlformats.org/drawingml/2006/main">
            <a:off x="8134350" y="314325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What test did you perform?</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What happened during the test?</a:t>
            </a:r>
          </a:p>
        </p:txBody>
      </p:sp>
      <p:sp>
        <p:nvSpPr>
          <p:cNvPr id="9" name="Inspector name and time travel with the saved inspection.">
            <a:extLst xmlns:a="http://schemas.openxmlformats.org/drawingml/2006/main">
              <a:ext uri="{FF2B5EF4-FFF2-40B4-BE49-F238E27FC236}">
                <a16:creationId xmlns:a16="http://schemas.microsoft.com/office/drawing/2014/main" id="{755E382F-FF33-4E56-B1B5-41AD6EF75561}"/>
              </a:ext>
            </a:extLst>
          </p:cNvPr>
          <p:cNvSpPr>
            <a:spLocks xmlns:a="http://schemas.openxmlformats.org/drawingml/2006/main" noGrp="1"/>
          </p:cNvSpPr>
          <p:nvPr/>
        </p:nvSpPr>
        <p:spPr>
          <a:xfrm xmlns:a="http://schemas.openxmlformats.org/drawingml/2006/main">
            <a:off x="628650" y="54102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Inspector name and time travel with the saved inspection.</a:t>
            </a:r>
          </a:p>
        </p:txBody>
      </p:sp>
      <p:sp>
        <p:nvSpPr>
          <p:cNvPr id="10" name="No visible damage is different from a passed functional test.">
            <a:extLst xmlns:a="http://schemas.openxmlformats.org/drawingml/2006/main">
              <a:ext uri="{FF2B5EF4-FFF2-40B4-BE49-F238E27FC236}">
                <a16:creationId xmlns:a16="http://schemas.microsoft.com/office/drawing/2014/main" id="{EC91E097-170D-4881-90CA-A812D5BD617B}"/>
              </a:ext>
            </a:extLst>
          </p:cNvPr>
          <p:cNvSpPr>
            <a:spLocks xmlns:a="http://schemas.openxmlformats.org/drawingml/2006/main" noGrp="1"/>
          </p:cNvSpPr>
          <p:nvPr/>
        </p:nvSpPr>
        <p:spPr>
          <a:xfrm xmlns:a="http://schemas.openxmlformats.org/drawingml/2006/main">
            <a:off x="628650" y="623887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9DB8C8"/>
                </a:solidFill>
                <a:latin typeface="Arial"/>
                <a:ea typeface="Arial"/>
                <a:cs typeface="Arial"/>
              </a:defRPr>
            </a:pPr>
            <a:r>
              <a:rPr sz="1575" b="0">
                <a:solidFill>
                  <a:srgbClr val="9DB8C8"/>
                </a:solidFill>
                <a:latin typeface="Arial"/>
                <a:ea typeface="Arial"/>
                <a:cs typeface="Arial"/>
              </a:rPr>
              <a:t>No visible damage is different from a passed functional test.</a:t>
            </a:r>
          </a:p>
        </p:txBody>
      </p:sp>
    </p:spTree>
    <p:extLst>
      <p:ext uri="{BB962C8B-B14F-4D97-AF65-F5344CB8AC3E}">
        <p14:creationId xmlns:p14="http://schemas.microsoft.com/office/powerpoint/2010/main" val="1438079892"/>
      </p:ext>
    </p:extLst>
  </p:cSld>
</p:sld>
</file>

<file path=ppt/slides/slide8.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8" name="An interruption need not lose the notes">
            <a:extLst xmlns:a="http://schemas.openxmlformats.org/drawingml/2006/main">
              <a:ext uri="{FF2B5EF4-FFF2-40B4-BE49-F238E27FC236}">
                <a16:creationId xmlns:a16="http://schemas.microsoft.com/office/drawing/2014/main" id="{F486308D-76FB-4ED9-9D6E-8E46B0D57A8D}"/>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An interruption need not lose the notes</a:t>
            </a:r>
          </a:p>
        </p:txBody>
      </p:sp>
      <p:sp>
        <p:nvSpPr>
          <p:cNvPr id="2" name="08">
            <a:extLst xmlns:a="http://schemas.openxmlformats.org/drawingml/2006/main">
              <a:ext uri="{FF2B5EF4-FFF2-40B4-BE49-F238E27FC236}">
                <a16:creationId xmlns:a16="http://schemas.microsoft.com/office/drawing/2014/main" id="{1EF11963-7A5F-46AC-B27C-B8A98211DE91}"/>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08</a:t>
            </a:r>
          </a:p>
        </p:txBody>
      </p:sp>
      <p:sp>
        <p:nvSpPr>
          <p:cNvPr id="3" name="Draft recovery on this device">
            <a:extLst xmlns:a="http://schemas.openxmlformats.org/drawingml/2006/main">
              <a:ext uri="{FF2B5EF4-FFF2-40B4-BE49-F238E27FC236}">
                <a16:creationId xmlns:a16="http://schemas.microsoft.com/office/drawing/2014/main" id="{9541F611-B8A8-487F-8811-AFDC02B408BA}"/>
              </a:ext>
            </a:extLst>
          </p:cNvPr>
          <p:cNvSpPr>
            <a:spLocks xmlns:a="http://schemas.openxmlformats.org/drawingml/2006/main" noGrp="1"/>
          </p:cNvSpPr>
          <p:nvPr/>
        </p:nvSpPr>
        <p:spPr>
          <a:xfrm xmlns:a="http://schemas.openxmlformats.org/drawingml/2006/main">
            <a:off x="628650" y="1762125"/>
            <a:ext cx="64484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1">
                <a:solidFill>
                  <a:srgbClr val="256B7F"/>
                </a:solidFill>
                <a:latin typeface="Arial"/>
                <a:ea typeface="Arial"/>
                <a:cs typeface="Arial"/>
              </a:defRPr>
            </a:pPr>
            <a:r>
              <a:rPr sz="2700" b="1">
                <a:solidFill>
                  <a:srgbClr val="256B7F"/>
                </a:solidFill>
                <a:latin typeface="Arial"/>
                <a:ea typeface="Arial"/>
                <a:cs typeface="Arial"/>
              </a:rPr>
              <a:t>Draft recovery on this device</a:t>
            </a:r>
          </a:p>
        </p:txBody>
      </p:sp>
      <p:sp>
        <p:nvSpPr>
          <p:cNvPr id="4" name="Edits preserve an unfinished draft.">
            <a:extLst xmlns:a="http://schemas.openxmlformats.org/drawingml/2006/main">
              <a:ext uri="{FF2B5EF4-FFF2-40B4-BE49-F238E27FC236}">
                <a16:creationId xmlns:a16="http://schemas.microsoft.com/office/drawing/2014/main" id="{7CEF7E66-04B0-4AAA-B4E2-0541F00B0342}"/>
              </a:ext>
            </a:extLst>
          </p:cNvPr>
          <p:cNvSpPr>
            <a:spLocks xmlns:a="http://schemas.openxmlformats.org/drawingml/2006/main" noGrp="1"/>
          </p:cNvSpPr>
          <p:nvPr/>
        </p:nvSpPr>
        <p:spPr>
          <a:xfrm xmlns:a="http://schemas.openxmlformats.org/drawingml/2006/main">
            <a:off x="628650" y="2647950"/>
            <a:ext cx="64960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Edits preserve an unfinished draft.</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After reopening, choose restore or discard.</a:t>
            </a:r>
          </a:p>
        </p:txBody>
      </p:sp>
      <p:sp>
        <p:nvSpPr>
          <p:cNvPr id="5" name="A newer saved inspection blocks">
            <a:extLst xmlns:a="http://schemas.openxmlformats.org/drawingml/2006/main">
              <a:ext uri="{FF2B5EF4-FFF2-40B4-BE49-F238E27FC236}">
                <a16:creationId xmlns:a16="http://schemas.microsoft.com/office/drawing/2014/main" id="{7A1A42C5-5FD5-4686-9CB2-89D5103A25BA}"/>
              </a:ext>
            </a:extLst>
          </p:cNvPr>
          <p:cNvSpPr>
            <a:spLocks xmlns:a="http://schemas.openxmlformats.org/drawingml/2006/main" noGrp="1"/>
          </p:cNvSpPr>
          <p:nvPr/>
        </p:nvSpPr>
        <p:spPr>
          <a:xfrm xmlns:a="http://schemas.openxmlformats.org/drawingml/2006/main">
            <a:off x="628650" y="4114800"/>
            <a:ext cx="6477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A newer saved inspection blocks</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restoring an older draft over it.</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A download keeps the notes for comparison.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65eddad17e340b0"/>
          <a:srcRect xmlns:a="http://schemas.openxmlformats.org/drawingml/2006/main" l="0" t="0" r="0" b="56717"/>
          <a:stretch xmlns:a="http://schemas.openxmlformats.org/drawingml/2006/main">
            <a:fillRect l="0" t="0" r="0" b="0"/>
          </a:stretch>
        </p:blipFill>
        <p:spPr>
          <a:xfrm xmlns:a="http://schemas.openxmlformats.org/drawingml/2006/main">
            <a:off x="7839075" y="1743075"/>
            <a:ext cx="3476625" cy="4200525"/>
          </a:xfrm>
          <a:prstGeom xmlns:a="http://schemas.openxmlformats.org/drawingml/2006/main" prst="rect">
            <a:avLst/>
          </a:prstGeom>
        </p:spPr>
      </p:pic>
      <p:sp>
        <p:nvSpPr>
          <p:cNvPr id="7" name="QA fixture. Browser storage can fail or be cleared. Drafts are no">
            <a:extLst xmlns:a="http://schemas.openxmlformats.org/drawingml/2006/main">
              <a:ext uri="{FF2B5EF4-FFF2-40B4-BE49-F238E27FC236}">
                <a16:creationId xmlns:a16="http://schemas.microsoft.com/office/drawing/2014/main" id="{CB829C35-6490-454A-9B8C-D5C1B03C087F}"/>
              </a:ext>
            </a:extLst>
          </p:cNvPr>
          <p:cNvSpPr>
            <a:spLocks xmlns:a="http://schemas.openxmlformats.org/drawingml/2006/main" noGrp="1"/>
          </p:cNvSpPr>
          <p:nvPr/>
        </p:nvSpPr>
        <p:spPr>
          <a:xfrm xmlns:a="http://schemas.openxmlformats.org/drawingml/2006/main">
            <a:off x="628650" y="6257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256B7F"/>
                </a:solidFill>
                <a:latin typeface="Arial"/>
                <a:ea typeface="Arial"/>
                <a:cs typeface="Arial"/>
              </a:defRPr>
            </a:pPr>
            <a:r>
              <a:rPr sz="1425" b="0">
                <a:solidFill>
                  <a:srgbClr val="256B7F"/>
                </a:solidFill>
                <a:latin typeface="Arial"/>
                <a:ea typeface="Arial"/>
                <a:cs typeface="Arial"/>
              </a:rPr>
              <a:t>QA fixture. Browser storage can fail or be cleared. Drafts are not cloud backups.</a:t>
            </a:r>
          </a:p>
        </p:txBody>
      </p:sp>
    </p:spTree>
    <p:extLst>
      <p:ext uri="{BB962C8B-B14F-4D97-AF65-F5344CB8AC3E}">
        <p14:creationId xmlns:p14="http://schemas.microsoft.com/office/powerpoint/2010/main" val="1703894614"/>
      </p:ext>
    </p:extLst>
  </p:cSld>
</p:sld>
</file>

<file path=ppt/slides/slide9.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8" name="A library that keeps the evidence close">
            <a:extLst xmlns:a="http://schemas.openxmlformats.org/drawingml/2006/main">
              <a:ext uri="{FF2B5EF4-FFF2-40B4-BE49-F238E27FC236}">
                <a16:creationId xmlns:a16="http://schemas.microsoft.com/office/drawing/2014/main" id="{68EAA987-E53E-46CC-88AA-42253C7B26AE}"/>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4FAFB"/>
                </a:solidFill>
                <a:latin typeface="Arial"/>
                <a:ea typeface="Arial"/>
                <a:cs typeface="Arial"/>
              </a:defRPr>
            </a:pPr>
            <a:r>
              <a:rPr sz="3600" b="1">
                <a:solidFill>
                  <a:srgbClr val="F4FAFB"/>
                </a:solidFill>
                <a:latin typeface="Arial"/>
                <a:ea typeface="Arial"/>
                <a:cs typeface="Arial"/>
              </a:rPr>
              <a:t>A library that keeps the evidence close</a:t>
            </a:r>
          </a:p>
        </p:txBody>
      </p:sp>
      <p:sp>
        <p:nvSpPr>
          <p:cNvPr id="2" name="09">
            <a:extLst xmlns:a="http://schemas.openxmlformats.org/drawingml/2006/main">
              <a:ext uri="{FF2B5EF4-FFF2-40B4-BE49-F238E27FC236}">
                <a16:creationId xmlns:a16="http://schemas.microsoft.com/office/drawing/2014/main" id="{2ECB0F66-5EEE-43C4-A991-D3DC2C5D48C5}"/>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09</a:t>
            </a:r>
          </a:p>
        </p:txBody>
      </p:sp>
      <p:sp>
        <p:nvSpPr>
          <p:cNvPr id="3" name="Find the part again">
            <a:extLst xmlns:a="http://schemas.openxmlformats.org/drawingml/2006/main">
              <a:ext uri="{FF2B5EF4-FFF2-40B4-BE49-F238E27FC236}">
                <a16:creationId xmlns:a16="http://schemas.microsoft.com/office/drawing/2014/main" id="{DBF85D73-660C-4BF5-9466-425C0F1BA4F2}"/>
              </a:ext>
            </a:extLst>
          </p:cNvPr>
          <p:cNvSpPr>
            <a:spLocks xmlns:a="http://schemas.openxmlformats.org/drawingml/2006/main" noGrp="1"/>
          </p:cNvSpPr>
          <p:nvPr/>
        </p:nvSpPr>
        <p:spPr>
          <a:xfrm xmlns:a="http://schemas.openxmlformats.org/drawingml/2006/main">
            <a:off x="628650" y="1847850"/>
            <a:ext cx="604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75" b="1">
                <a:solidFill>
                  <a:srgbClr val="B8E3E9"/>
                </a:solidFill>
                <a:latin typeface="Arial"/>
                <a:ea typeface="Arial"/>
                <a:cs typeface="Arial"/>
              </a:defRPr>
            </a:pPr>
            <a:r>
              <a:rPr sz="2775" b="1">
                <a:solidFill>
                  <a:srgbClr val="B8E3E9"/>
                </a:solidFill>
                <a:latin typeface="Arial"/>
                <a:ea typeface="Arial"/>
                <a:cs typeface="Arial"/>
              </a:rPr>
              <a:t>Find the part again</a:t>
            </a:r>
          </a:p>
        </p:txBody>
      </p:sp>
      <p:sp>
        <p:nvSpPr>
          <p:cNvPr id="4" name="Search saved records.">
            <a:extLst xmlns:a="http://schemas.openxmlformats.org/drawingml/2006/main">
              <a:ext uri="{FF2B5EF4-FFF2-40B4-BE49-F238E27FC236}">
                <a16:creationId xmlns:a16="http://schemas.microsoft.com/office/drawing/2014/main" id="{A0D5F578-D820-4918-BBBF-1BA9DD20DF3A}"/>
              </a:ext>
            </a:extLst>
          </p:cNvPr>
          <p:cNvSpPr>
            <a:spLocks xmlns:a="http://schemas.openxmlformats.org/drawingml/2006/main" noGrp="1"/>
          </p:cNvSpPr>
          <p:nvPr/>
        </p:nvSpPr>
        <p:spPr>
          <a:xfrm xmlns:a="http://schemas.openxmlformats.org/drawingml/2006/main">
            <a:off x="628650" y="2724150"/>
            <a:ext cx="6238875"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Search saved records.</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Filter review states and unresolved identities.</a:t>
            </a:r>
          </a:p>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Reopen an inspection or export a report.</a:t>
            </a:r>
          </a:p>
        </p:txBody>
      </p:sp>
      <p:sp>
        <p:nvSpPr>
          <p:cNvPr id="5" name="Device and cloud status stay visible">
            <a:extLst xmlns:a="http://schemas.openxmlformats.org/drawingml/2006/main">
              <a:ext uri="{FF2B5EF4-FFF2-40B4-BE49-F238E27FC236}">
                <a16:creationId xmlns:a16="http://schemas.microsoft.com/office/drawing/2014/main" id="{5067DEAD-CD16-4F40-97A3-FDCA6C0A500C}"/>
              </a:ext>
            </a:extLst>
          </p:cNvPr>
          <p:cNvSpPr>
            <a:spLocks xmlns:a="http://schemas.openxmlformats.org/drawingml/2006/main" noGrp="1"/>
          </p:cNvSpPr>
          <p:nvPr/>
        </p:nvSpPr>
        <p:spPr>
          <a:xfrm xmlns:a="http://schemas.openxmlformats.org/drawingml/2006/main">
            <a:off x="628650" y="5038725"/>
            <a:ext cx="6191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Device and cloud status stay visible</a:t>
            </a:r>
          </a:p>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so an upload failure is not mistaken</a:t>
            </a:r>
          </a:p>
          <a:p xmlns:a="http://schemas.openxmlformats.org/drawingml/2006/main">
            <a:pPr>
              <a:buNone/>
              <a:defRPr sz="2100" b="0">
                <a:solidFill>
                  <a:srgbClr val="9DB8C8"/>
                </a:solidFill>
                <a:latin typeface="Arial"/>
                <a:ea typeface="Arial"/>
                <a:cs typeface="Arial"/>
              </a:defRPr>
            </a:pPr>
            <a:r>
              <a:rPr sz="2100" b="0">
                <a:solidFill>
                  <a:srgbClr val="9DB8C8"/>
                </a:solidFill>
                <a:latin typeface="Arial"/>
                <a:ea typeface="Arial"/>
                <a:cs typeface="Arial"/>
              </a:rPr>
              <a:t>for a successful cloud save.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d91279f31a84b41"/>
          <a:srcRect xmlns:a="http://schemas.openxmlformats.org/drawingml/2006/main" l="25000" t="25500" r="25000" b="8030"/>
          <a:stretch xmlns:a="http://schemas.openxmlformats.org/drawingml/2006/main">
            <a:fillRect l="0" t="0" r="0" b="0"/>
          </a:stretch>
        </p:blipFill>
        <p:spPr>
          <a:xfrm xmlns:a="http://schemas.openxmlformats.org/drawingml/2006/main">
            <a:off x="7486650" y="1724025"/>
            <a:ext cx="4029075" cy="4162425"/>
          </a:xfrm>
          <a:prstGeom xmlns:a="http://schemas.openxmlformats.org/drawingml/2006/main" prst="rect">
            <a:avLst/>
          </a:prstGeom>
        </p:spPr>
      </p:pic>
      <p:sp>
        <p:nvSpPr>
          <p:cNvPr id="7" name="Actual app screen with fictional QA records.">
            <a:extLst xmlns:a="http://schemas.openxmlformats.org/drawingml/2006/main">
              <a:ext uri="{FF2B5EF4-FFF2-40B4-BE49-F238E27FC236}">
                <a16:creationId xmlns:a16="http://schemas.microsoft.com/office/drawing/2014/main" id="{AEF11AF1-755C-4C3C-92F0-8435226F6063}"/>
              </a:ext>
            </a:extLst>
          </p:cNvPr>
          <p:cNvSpPr>
            <a:spLocks xmlns:a="http://schemas.openxmlformats.org/drawingml/2006/main" noGrp="1"/>
          </p:cNvSpPr>
          <p:nvPr/>
        </p:nvSpPr>
        <p:spPr>
          <a:xfrm xmlns:a="http://schemas.openxmlformats.org/drawingml/2006/main">
            <a:off x="7486650" y="6000750"/>
            <a:ext cx="4048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9DB8C8"/>
                </a:solidFill>
                <a:latin typeface="Arial"/>
                <a:ea typeface="Arial"/>
                <a:cs typeface="Arial"/>
              </a:defRPr>
            </a:pPr>
            <a:r>
              <a:rPr sz="1350" b="0">
                <a:solidFill>
                  <a:srgbClr val="9DB8C8"/>
                </a:solidFill>
                <a:latin typeface="Arial"/>
                <a:ea typeface="Arial"/>
                <a:cs typeface="Arial"/>
              </a:rPr>
              <a:t>Actual app screen with fictional QA records.</a:t>
            </a:r>
          </a:p>
        </p:txBody>
      </p:sp>
    </p:spTree>
    <p:extLst>
      <p:ext uri="{BB962C8B-B14F-4D97-AF65-F5344CB8AC3E}">
        <p14:creationId xmlns:p14="http://schemas.microsoft.com/office/powerpoint/2010/main" val="1895045760"/>
      </p:ext>
    </p:extLst>
  </p:cSld>
</p:sld>
</file>

<file path=ppt/slides/slide10.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9" name="Shop jobs and customer reports">
            <a:extLst xmlns:a="http://schemas.openxmlformats.org/drawingml/2006/main">
              <a:ext uri="{FF2B5EF4-FFF2-40B4-BE49-F238E27FC236}">
                <a16:creationId xmlns:a16="http://schemas.microsoft.com/office/drawing/2014/main" id="{BB5FF832-17D2-4CD7-A992-501479BCBC9D}"/>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Shop jobs and customer reports</a:t>
            </a:r>
          </a:p>
        </p:txBody>
      </p:sp>
      <p:sp>
        <p:nvSpPr>
          <p:cNvPr id="2" name="10">
            <a:extLst xmlns:a="http://schemas.openxmlformats.org/drawingml/2006/main">
              <a:ext uri="{FF2B5EF4-FFF2-40B4-BE49-F238E27FC236}">
                <a16:creationId xmlns:a16="http://schemas.microsoft.com/office/drawing/2014/main" id="{4716F323-B13F-47EB-99A7-03458B99AEEC}"/>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10</a:t>
            </a:r>
          </a:p>
        </p:txBody>
      </p:sp>
      <p:sp>
        <p:nvSpPr>
          <p:cNvPr id="3" name="A scan can belong to a job">
            <a:extLst xmlns:a="http://schemas.openxmlformats.org/drawingml/2006/main">
              <a:ext uri="{FF2B5EF4-FFF2-40B4-BE49-F238E27FC236}">
                <a16:creationId xmlns:a16="http://schemas.microsoft.com/office/drawing/2014/main" id="{E39778FF-4210-489B-8E53-D94FED26D6FA}"/>
              </a:ext>
            </a:extLst>
          </p:cNvPr>
          <p:cNvSpPr>
            <a:spLocks xmlns:a="http://schemas.openxmlformats.org/drawingml/2006/main" noGrp="1"/>
          </p:cNvSpPr>
          <p:nvPr/>
        </p:nvSpPr>
        <p:spPr>
          <a:xfrm xmlns:a="http://schemas.openxmlformats.org/drawingml/2006/main">
            <a:off x="628650" y="1800225"/>
            <a:ext cx="1093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256B7F"/>
                </a:solidFill>
                <a:latin typeface="Arial"/>
                <a:ea typeface="Arial"/>
                <a:cs typeface="Arial"/>
              </a:defRPr>
            </a:pPr>
            <a:r>
              <a:rPr sz="3225" b="1">
                <a:solidFill>
                  <a:srgbClr val="256B7F"/>
                </a:solidFill>
                <a:latin typeface="Arial"/>
                <a:ea typeface="Arial"/>
                <a:cs typeface="Arial"/>
              </a:rPr>
              <a:t>A scan can belong to a job</a:t>
            </a:r>
          </a:p>
        </p:txBody>
      </p:sp>
      <p:sp>
        <p:nvSpPr>
          <p:cNvPr id="4" name="Job context">
            <a:extLst xmlns:a="http://schemas.openxmlformats.org/drawingml/2006/main">
              <a:ext uri="{FF2B5EF4-FFF2-40B4-BE49-F238E27FC236}">
                <a16:creationId xmlns:a16="http://schemas.microsoft.com/office/drawing/2014/main" id="{9A120871-816A-4A42-BEB8-55954EDFB4EF}"/>
              </a:ext>
            </a:extLst>
          </p:cNvPr>
          <p:cNvSpPr>
            <a:spLocks xmlns:a="http://schemas.openxmlformats.org/drawingml/2006/main" noGrp="1"/>
          </p:cNvSpPr>
          <p:nvPr/>
        </p:nvSpPr>
        <p:spPr>
          <a:xfrm xmlns:a="http://schemas.openxmlformats.org/drawingml/2006/main">
            <a:off x="628650" y="30956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32A3C"/>
                </a:solidFill>
                <a:latin typeface="Arial"/>
                <a:ea typeface="Arial"/>
                <a:cs typeface="Arial"/>
              </a:defRPr>
            </a:pPr>
            <a:r>
              <a:rPr sz="2550" b="1">
                <a:solidFill>
                  <a:srgbClr val="132A3C"/>
                </a:solidFill>
                <a:latin typeface="Arial"/>
                <a:ea typeface="Arial"/>
                <a:cs typeface="Arial"/>
              </a:rPr>
              <a:t>Job context</a:t>
            </a:r>
          </a:p>
        </p:txBody>
      </p:sp>
      <p:sp>
        <p:nvSpPr>
          <p:cNvPr id="5" name="Keep a local job record and attach">
            <a:extLst xmlns:a="http://schemas.openxmlformats.org/drawingml/2006/main">
              <a:ext uri="{FF2B5EF4-FFF2-40B4-BE49-F238E27FC236}">
                <a16:creationId xmlns:a16="http://schemas.microsoft.com/office/drawing/2014/main" id="{4CD07E0F-C07D-4085-8D85-07B213E7CB58}"/>
              </a:ext>
            </a:extLst>
          </p:cNvPr>
          <p:cNvSpPr>
            <a:spLocks xmlns:a="http://schemas.openxmlformats.org/drawingml/2006/main" noGrp="1"/>
          </p:cNvSpPr>
          <p:nvPr/>
        </p:nvSpPr>
        <p:spPr>
          <a:xfrm xmlns:a="http://schemas.openxmlformats.org/drawingml/2006/main">
            <a:off x="628650" y="3819525"/>
            <a:ext cx="49434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Keep a local job record and attach</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relevant scans for the same repair.</a:t>
            </a:r>
          </a:p>
        </p:txBody>
      </p:sp>
      <p:sp>
        <p:nvSpPr>
          <p:cNvPr id="6" name="Customer explanation">
            <a:extLst xmlns:a="http://schemas.openxmlformats.org/drawingml/2006/main">
              <a:ext uri="{FF2B5EF4-FFF2-40B4-BE49-F238E27FC236}">
                <a16:creationId xmlns:a16="http://schemas.microsoft.com/office/drawing/2014/main" id="{18AEE41F-3606-404A-98CE-7195137AF1E3}"/>
              </a:ext>
            </a:extLst>
          </p:cNvPr>
          <p:cNvSpPr>
            <a:spLocks xmlns:a="http://schemas.openxmlformats.org/drawingml/2006/main" noGrp="1"/>
          </p:cNvSpPr>
          <p:nvPr/>
        </p:nvSpPr>
        <p:spPr>
          <a:xfrm xmlns:a="http://schemas.openxmlformats.org/drawingml/2006/main">
            <a:off x="6581775" y="3095625"/>
            <a:ext cx="49434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32A3C"/>
                </a:solidFill>
                <a:latin typeface="Arial"/>
                <a:ea typeface="Arial"/>
                <a:cs typeface="Arial"/>
              </a:defRPr>
            </a:pPr>
            <a:r>
              <a:rPr sz="2550" b="1">
                <a:solidFill>
                  <a:srgbClr val="132A3C"/>
                </a:solidFill>
                <a:latin typeface="Arial"/>
                <a:ea typeface="Arial"/>
                <a:cs typeface="Arial"/>
              </a:rPr>
              <a:t>Customer explanation</a:t>
            </a:r>
          </a:p>
        </p:txBody>
      </p:sp>
      <p:sp>
        <p:nvSpPr>
          <p:cNvPr id="7" name="Prepare a report of the recorded">
            <a:extLst xmlns:a="http://schemas.openxmlformats.org/drawingml/2006/main">
              <a:ext uri="{FF2B5EF4-FFF2-40B4-BE49-F238E27FC236}">
                <a16:creationId xmlns:a16="http://schemas.microsoft.com/office/drawing/2014/main" id="{03AC880C-CB46-4F3B-A465-6244271F661E}"/>
              </a:ext>
            </a:extLst>
          </p:cNvPr>
          <p:cNvSpPr>
            <a:spLocks xmlns:a="http://schemas.openxmlformats.org/drawingml/2006/main" noGrp="1"/>
          </p:cNvSpPr>
          <p:nvPr/>
        </p:nvSpPr>
        <p:spPr>
          <a:xfrm xmlns:a="http://schemas.openxmlformats.org/drawingml/2006/main">
            <a:off x="6581775" y="3819525"/>
            <a:ext cx="49434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Prepare a report of the recorded</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findings for a conversation</a:t>
            </a:r>
          </a:p>
          <a:p xmlns:a="http://schemas.openxmlformats.org/drawingml/2006/main">
            <a:pPr>
              <a:buNone/>
              <a:defRPr sz="2175" b="0">
                <a:solidFill>
                  <a:srgbClr val="132A3C"/>
                </a:solidFill>
                <a:latin typeface="Arial"/>
                <a:ea typeface="Arial"/>
                <a:cs typeface="Arial"/>
              </a:defRPr>
            </a:pPr>
            <a:r>
              <a:rPr sz="2175" b="0">
                <a:solidFill>
                  <a:srgbClr val="132A3C"/>
                </a:solidFill>
                <a:latin typeface="Arial"/>
                <a:ea typeface="Arial"/>
                <a:cs typeface="Arial"/>
              </a:rPr>
              <a:t>with the customer.</a:t>
            </a:r>
          </a:p>
        </p:txBody>
      </p:sp>
      <p:sp>
        <p:nvSpPr>
          <p:cNvPr id="8" name="Current scope: account-scoped jobs on this device. Shared live sh">
            <a:extLst xmlns:a="http://schemas.openxmlformats.org/drawingml/2006/main">
              <a:ext uri="{FF2B5EF4-FFF2-40B4-BE49-F238E27FC236}">
                <a16:creationId xmlns:a16="http://schemas.microsoft.com/office/drawing/2014/main" id="{5F2D66A7-4CA7-4960-95D6-FCD59A14968B}"/>
              </a:ext>
            </a:extLst>
          </p:cNvPr>
          <p:cNvSpPr>
            <a:spLocks xmlns:a="http://schemas.openxmlformats.org/drawingml/2006/main" noGrp="1"/>
          </p:cNvSpPr>
          <p:nvPr/>
        </p:nvSpPr>
        <p:spPr>
          <a:xfrm xmlns:a="http://schemas.openxmlformats.org/drawingml/2006/main">
            <a:off x="628650" y="60674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256B7F"/>
                </a:solidFill>
                <a:latin typeface="Arial"/>
                <a:ea typeface="Arial"/>
                <a:cs typeface="Arial"/>
              </a:defRPr>
            </a:pPr>
            <a:r>
              <a:rPr sz="1725" b="0">
                <a:solidFill>
                  <a:srgbClr val="256B7F"/>
                </a:solidFill>
                <a:latin typeface="Arial"/>
                <a:ea typeface="Arial"/>
                <a:cs typeface="Arial"/>
              </a:rPr>
              <a:t>Current scope: account-scoped jobs on this device. Shared live shop work is future work.</a:t>
            </a:r>
          </a:p>
        </p:txBody>
      </p:sp>
    </p:spTree>
    <p:extLst>
      <p:ext uri="{BB962C8B-B14F-4D97-AF65-F5344CB8AC3E}">
        <p14:creationId xmlns:p14="http://schemas.microsoft.com/office/powerpoint/2010/main" val="448379679"/>
      </p:ext>
    </p:extLst>
  </p:cSld>
</p:sld>
</file>

<file path=ppt/slides/slide11.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1" name="Accounts, storage and control">
            <a:extLst xmlns:a="http://schemas.openxmlformats.org/drawingml/2006/main">
              <a:ext uri="{FF2B5EF4-FFF2-40B4-BE49-F238E27FC236}">
                <a16:creationId xmlns:a16="http://schemas.microsoft.com/office/drawing/2014/main" id="{D5750E00-4AF5-4EFC-B017-069B1F70BDC8}"/>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4FAFB"/>
                </a:solidFill>
                <a:latin typeface="Arial"/>
                <a:ea typeface="Arial"/>
                <a:cs typeface="Arial"/>
              </a:defRPr>
            </a:pPr>
            <a:r>
              <a:rPr sz="3600" b="1">
                <a:solidFill>
                  <a:srgbClr val="F4FAFB"/>
                </a:solidFill>
                <a:latin typeface="Arial"/>
                <a:ea typeface="Arial"/>
                <a:cs typeface="Arial"/>
              </a:rPr>
              <a:t>Accounts, storage and control</a:t>
            </a:r>
          </a:p>
        </p:txBody>
      </p:sp>
      <p:sp>
        <p:nvSpPr>
          <p:cNvPr id="2" name="11">
            <a:extLst xmlns:a="http://schemas.openxmlformats.org/drawingml/2006/main">
              <a:ext uri="{FF2B5EF4-FFF2-40B4-BE49-F238E27FC236}">
                <a16:creationId xmlns:a16="http://schemas.microsoft.com/office/drawing/2014/main" id="{FFC438F2-BBAD-4CE4-9731-C75046603EDF}"/>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11</a:t>
            </a:r>
          </a:p>
        </p:txBody>
      </p:sp>
      <p:sp>
        <p:nvSpPr>
          <p:cNvPr id="3" name="Account">
            <a:extLst xmlns:a="http://schemas.openxmlformats.org/drawingml/2006/main">
              <a:ext uri="{FF2B5EF4-FFF2-40B4-BE49-F238E27FC236}">
                <a16:creationId xmlns:a16="http://schemas.microsoft.com/office/drawing/2014/main" id="{3B2EF60C-BDCD-4242-A99E-1EED2728E254}"/>
              </a:ext>
            </a:extLst>
          </p:cNvPr>
          <p:cNvSpPr>
            <a:spLocks xmlns:a="http://schemas.openxmlformats.org/drawingml/2006/main" noGrp="1"/>
          </p:cNvSpPr>
          <p:nvPr/>
        </p:nvSpPr>
        <p:spPr>
          <a:xfrm xmlns:a="http://schemas.openxmlformats.org/drawingml/2006/main">
            <a:off x="628650" y="1857375"/>
            <a:ext cx="2181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B8E3E9"/>
                </a:solidFill>
                <a:latin typeface="Arial"/>
                <a:ea typeface="Arial"/>
                <a:cs typeface="Arial"/>
              </a:defRPr>
            </a:pPr>
            <a:r>
              <a:rPr sz="2400" b="1">
                <a:solidFill>
                  <a:srgbClr val="B8E3E9"/>
                </a:solidFill>
                <a:latin typeface="Arial"/>
                <a:ea typeface="Arial"/>
                <a:cs typeface="Arial"/>
              </a:rPr>
              <a:t>Account</a:t>
            </a:r>
          </a:p>
        </p:txBody>
      </p:sp>
      <p:sp>
        <p:nvSpPr>
          <p:cNvPr id="4" name="Device records and drafts are scoped to the active account.">
            <a:extLst xmlns:a="http://schemas.openxmlformats.org/drawingml/2006/main">
              <a:ext uri="{FF2B5EF4-FFF2-40B4-BE49-F238E27FC236}">
                <a16:creationId xmlns:a16="http://schemas.microsoft.com/office/drawing/2014/main" id="{8BFBEAEF-8C62-4ABA-91F5-5840C681015B}"/>
              </a:ext>
            </a:extLst>
          </p:cNvPr>
          <p:cNvSpPr>
            <a:spLocks xmlns:a="http://schemas.openxmlformats.org/drawingml/2006/main" noGrp="1"/>
          </p:cNvSpPr>
          <p:nvPr/>
        </p:nvSpPr>
        <p:spPr>
          <a:xfrm xmlns:a="http://schemas.openxmlformats.org/drawingml/2006/main">
            <a:off x="3276600" y="1866900"/>
            <a:ext cx="8220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Device records and drafts are scoped to the active account.</a:t>
            </a:r>
          </a:p>
        </p:txBody>
      </p:sp>
      <p:sp>
        <p:nvSpPr>
          <p:cNvPr id="5" name="Device">
            <a:extLst xmlns:a="http://schemas.openxmlformats.org/drawingml/2006/main">
              <a:ext uri="{FF2B5EF4-FFF2-40B4-BE49-F238E27FC236}">
                <a16:creationId xmlns:a16="http://schemas.microsoft.com/office/drawing/2014/main" id="{CAFBB1B7-3B23-4E46-BB7D-2B2F27AA0A62}"/>
              </a:ext>
            </a:extLst>
          </p:cNvPr>
          <p:cNvSpPr>
            <a:spLocks xmlns:a="http://schemas.openxmlformats.org/drawingml/2006/main" noGrp="1"/>
          </p:cNvSpPr>
          <p:nvPr/>
        </p:nvSpPr>
        <p:spPr>
          <a:xfrm xmlns:a="http://schemas.openxmlformats.org/drawingml/2006/main">
            <a:off x="628650" y="2895600"/>
            <a:ext cx="2181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B8E3E9"/>
                </a:solidFill>
                <a:latin typeface="Arial"/>
                <a:ea typeface="Arial"/>
                <a:cs typeface="Arial"/>
              </a:defRPr>
            </a:pPr>
            <a:r>
              <a:rPr sz="2400" b="1">
                <a:solidFill>
                  <a:srgbClr val="B8E3E9"/>
                </a:solidFill>
                <a:latin typeface="Arial"/>
                <a:ea typeface="Arial"/>
                <a:cs typeface="Arial"/>
              </a:rPr>
              <a:t>Device</a:t>
            </a:r>
          </a:p>
        </p:txBody>
      </p:sp>
      <p:sp>
        <p:nvSpPr>
          <p:cNvPr id="6" name="A saved local record remains distinct from a confirmed cloud uplo">
            <a:extLst xmlns:a="http://schemas.openxmlformats.org/drawingml/2006/main">
              <a:ext uri="{FF2B5EF4-FFF2-40B4-BE49-F238E27FC236}">
                <a16:creationId xmlns:a16="http://schemas.microsoft.com/office/drawing/2014/main" id="{FD7751C5-D2DA-4369-ABFF-7343B3E87465}"/>
              </a:ext>
            </a:extLst>
          </p:cNvPr>
          <p:cNvSpPr>
            <a:spLocks xmlns:a="http://schemas.openxmlformats.org/drawingml/2006/main" noGrp="1"/>
          </p:cNvSpPr>
          <p:nvPr/>
        </p:nvSpPr>
        <p:spPr>
          <a:xfrm xmlns:a="http://schemas.openxmlformats.org/drawingml/2006/main">
            <a:off x="3276600" y="2905125"/>
            <a:ext cx="8220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A saved local record remains distinct from a confirmed cloud upload.</a:t>
            </a:r>
          </a:p>
        </p:txBody>
      </p:sp>
      <p:sp>
        <p:nvSpPr>
          <p:cNvPr id="7" name="Cloud">
            <a:extLst xmlns:a="http://schemas.openxmlformats.org/drawingml/2006/main">
              <a:ext uri="{FF2B5EF4-FFF2-40B4-BE49-F238E27FC236}">
                <a16:creationId xmlns:a16="http://schemas.microsoft.com/office/drawing/2014/main" id="{CA029880-ADDB-4DA9-BF94-12460B701C9E}"/>
              </a:ext>
            </a:extLst>
          </p:cNvPr>
          <p:cNvSpPr>
            <a:spLocks xmlns:a="http://schemas.openxmlformats.org/drawingml/2006/main" noGrp="1"/>
          </p:cNvSpPr>
          <p:nvPr/>
        </p:nvSpPr>
        <p:spPr>
          <a:xfrm xmlns:a="http://schemas.openxmlformats.org/drawingml/2006/main">
            <a:off x="628650" y="3933825"/>
            <a:ext cx="2181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B8E3E9"/>
                </a:solidFill>
                <a:latin typeface="Arial"/>
                <a:ea typeface="Arial"/>
                <a:cs typeface="Arial"/>
              </a:defRPr>
            </a:pPr>
            <a:r>
              <a:rPr sz="2400" b="1">
                <a:solidFill>
                  <a:srgbClr val="B8E3E9"/>
                </a:solidFill>
                <a:latin typeface="Arial"/>
                <a:ea typeface="Arial"/>
                <a:cs typeface="Arial"/>
              </a:rPr>
              <a:t>Cloud</a:t>
            </a:r>
          </a:p>
        </p:txBody>
      </p:sp>
      <p:sp>
        <p:nvSpPr>
          <p:cNvPr id="8" name="Sync and recovery depend on configuration, connectivity and verif">
            <a:extLst xmlns:a="http://schemas.openxmlformats.org/drawingml/2006/main">
              <a:ext uri="{FF2B5EF4-FFF2-40B4-BE49-F238E27FC236}">
                <a16:creationId xmlns:a16="http://schemas.microsoft.com/office/drawing/2014/main" id="{17E5DF8C-A864-4916-8A27-948BFB2C4142}"/>
              </a:ext>
            </a:extLst>
          </p:cNvPr>
          <p:cNvSpPr>
            <a:spLocks xmlns:a="http://schemas.openxmlformats.org/drawingml/2006/main" noGrp="1"/>
          </p:cNvSpPr>
          <p:nvPr/>
        </p:nvSpPr>
        <p:spPr>
          <a:xfrm xmlns:a="http://schemas.openxmlformats.org/drawingml/2006/main">
            <a:off x="3276600" y="3943350"/>
            <a:ext cx="8220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Sync and recovery depend on configuration, connectivity and verified persistence.</a:t>
            </a:r>
          </a:p>
        </p:txBody>
      </p:sp>
      <p:sp>
        <p:nvSpPr>
          <p:cNvPr id="9" name="Photos">
            <a:extLst xmlns:a="http://schemas.openxmlformats.org/drawingml/2006/main">
              <a:ext uri="{FF2B5EF4-FFF2-40B4-BE49-F238E27FC236}">
                <a16:creationId xmlns:a16="http://schemas.microsoft.com/office/drawing/2014/main" id="{F489FE8F-6FE0-4E40-99E0-AD1B892A8F47}"/>
              </a:ext>
            </a:extLst>
          </p:cNvPr>
          <p:cNvSpPr>
            <a:spLocks xmlns:a="http://schemas.openxmlformats.org/drawingml/2006/main" noGrp="1"/>
          </p:cNvSpPr>
          <p:nvPr/>
        </p:nvSpPr>
        <p:spPr>
          <a:xfrm xmlns:a="http://schemas.openxmlformats.org/drawingml/2006/main">
            <a:off x="628650" y="4972050"/>
            <a:ext cx="2181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B8E3E9"/>
                </a:solidFill>
                <a:latin typeface="Arial"/>
                <a:ea typeface="Arial"/>
                <a:cs typeface="Arial"/>
              </a:defRPr>
            </a:pPr>
            <a:r>
              <a:rPr sz="2400" b="1">
                <a:solidFill>
                  <a:srgbClr val="B8E3E9"/>
                </a:solidFill>
                <a:latin typeface="Arial"/>
                <a:ea typeface="Arial"/>
                <a:cs typeface="Arial"/>
              </a:rPr>
              <a:t>Photos</a:t>
            </a:r>
          </a:p>
        </p:txBody>
      </p:sp>
      <p:sp>
        <p:nvSpPr>
          <p:cNvPr id="10" name="Storing a photo does not give permission to train a model on it.">
            <a:extLst xmlns:a="http://schemas.openxmlformats.org/drawingml/2006/main">
              <a:ext uri="{FF2B5EF4-FFF2-40B4-BE49-F238E27FC236}">
                <a16:creationId xmlns:a16="http://schemas.microsoft.com/office/drawing/2014/main" id="{C0A67CED-92AB-4701-9485-6621E8BC2071}"/>
              </a:ext>
            </a:extLst>
          </p:cNvPr>
          <p:cNvSpPr>
            <a:spLocks xmlns:a="http://schemas.openxmlformats.org/drawingml/2006/main" noGrp="1"/>
          </p:cNvSpPr>
          <p:nvPr/>
        </p:nvSpPr>
        <p:spPr>
          <a:xfrm xmlns:a="http://schemas.openxmlformats.org/drawingml/2006/main">
            <a:off x="3276600" y="4981575"/>
            <a:ext cx="8220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F4FAFB"/>
                </a:solidFill>
                <a:latin typeface="Arial"/>
                <a:ea typeface="Arial"/>
                <a:cs typeface="Arial"/>
              </a:defRPr>
            </a:pPr>
            <a:r>
              <a:rPr sz="2175" b="0">
                <a:solidFill>
                  <a:srgbClr val="F4FAFB"/>
                </a:solidFill>
                <a:latin typeface="Arial"/>
                <a:ea typeface="Arial"/>
                <a:cs typeface="Arial"/>
              </a:rPr>
              <a:t>Storing a photo does not give permission to train a model on it.</a:t>
            </a:r>
          </a:p>
        </p:txBody>
      </p:sp>
    </p:spTree>
    <p:extLst>
      <p:ext uri="{BB962C8B-B14F-4D97-AF65-F5344CB8AC3E}">
        <p14:creationId xmlns:p14="http://schemas.microsoft.com/office/powerpoint/2010/main" val="1555185261"/>
      </p:ext>
    </p:extLst>
  </p:cSld>
</p:sld>
</file>

<file path=ppt/slides/slide12.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0" name="What time savings could be worth">
            <a:extLst xmlns:a="http://schemas.openxmlformats.org/drawingml/2006/main">
              <a:ext uri="{FF2B5EF4-FFF2-40B4-BE49-F238E27FC236}">
                <a16:creationId xmlns:a16="http://schemas.microsoft.com/office/drawing/2014/main" id="{96E67811-0252-4044-B034-BDA88A098C89}"/>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What time savings could be worth</a:t>
            </a:r>
          </a:p>
        </p:txBody>
      </p:sp>
      <p:sp>
        <p:nvSpPr>
          <p:cNvPr id="2" name="12">
            <a:extLst xmlns:a="http://schemas.openxmlformats.org/drawingml/2006/main">
              <a:ext uri="{FF2B5EF4-FFF2-40B4-BE49-F238E27FC236}">
                <a16:creationId xmlns:a16="http://schemas.microsoft.com/office/drawing/2014/main" id="{AE756647-AD0C-4600-9E6F-7FF24D5B69AF}"/>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12</a:t>
            </a:r>
          </a:p>
        </p:txBody>
      </p:sp>
      <p:sp>
        <p:nvSpPr>
          <p:cNvPr id="3" name="Hypothetical workflow, including normal tests">
            <a:extLst xmlns:a="http://schemas.openxmlformats.org/drawingml/2006/main">
              <a:ext uri="{FF2B5EF4-FFF2-40B4-BE49-F238E27FC236}">
                <a16:creationId xmlns:a16="http://schemas.microsoft.com/office/drawing/2014/main" id="{10E8185A-1197-4573-B691-416C1BCB8A69}"/>
              </a:ext>
            </a:extLst>
          </p:cNvPr>
          <p:cNvSpPr>
            <a:spLocks xmlns:a="http://schemas.openxmlformats.org/drawingml/2006/main" noGrp="1"/>
          </p:cNvSpPr>
          <p:nvPr/>
        </p:nvSpPr>
        <p:spPr>
          <a:xfrm xmlns:a="http://schemas.openxmlformats.org/drawingml/2006/main">
            <a:off x="62865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256B7F"/>
                </a:solidFill>
                <a:latin typeface="Arial"/>
                <a:ea typeface="Arial"/>
                <a:cs typeface="Arial"/>
              </a:defRPr>
            </a:pPr>
            <a:r>
              <a:rPr sz="2025" b="1">
                <a:solidFill>
                  <a:srgbClr val="256B7F"/>
                </a:solidFill>
                <a:latin typeface="Arial"/>
                <a:ea typeface="Arial"/>
                <a:cs typeface="Arial"/>
              </a:rPr>
              <a:t>Hypothetical workflow, including normal tests</a:t>
            </a:r>
          </a:p>
        </p:txBody>
      </p:sp>
      <p:graphicFrame>
        <p:nvGraphicFramePr>
          <p:cNvPr id="15" name="Chart"/>
          <p:cNvGraphicFramePr/>
          <p:nvPr/>
        </p:nvGraphicFramePr>
        <p:xfrm>
          <a:off xmlns:a="http://schemas.openxmlformats.org/drawingml/2006/main" x="571500" y="2190750"/>
          <a:ext xmlns:a="http://schemas.openxmlformats.org/drawingml/2006/main" cx="5905500" cy="3486150"/>
        </p:xfrm>
        <a:graphic xmlns:a="http://schemas.openxmlformats.org/drawingml/2006/main">
          <a:graphicData uri="http://schemas.openxmlformats.org/drawingml/2006/chart">
            <c:chart xmlns:r="http://schemas.openxmlformats.org/officeDocument/2006/relationships" xmlns:c="http://schemas.openxmlformats.org/drawingml/2006/chart" r:id="Raad06a52f2fa471f"/>
          </a:graphicData>
        </a:graphic>
      </p:graphicFrame>
      <p:sp>
        <p:nvSpPr>
          <p:cNvPr id="5" name="16.5 hours">
            <a:extLst xmlns:a="http://schemas.openxmlformats.org/drawingml/2006/main">
              <a:ext uri="{FF2B5EF4-FFF2-40B4-BE49-F238E27FC236}">
                <a16:creationId xmlns:a16="http://schemas.microsoft.com/office/drawing/2014/main" id="{B64A9D38-71DA-4796-AF7E-E2B98B312BC4}"/>
              </a:ext>
            </a:extLst>
          </p:cNvPr>
          <p:cNvSpPr>
            <a:spLocks xmlns:a="http://schemas.openxmlformats.org/drawingml/2006/main" noGrp="1"/>
          </p:cNvSpPr>
          <p:nvPr/>
        </p:nvSpPr>
        <p:spPr>
          <a:xfrm xmlns:a="http://schemas.openxmlformats.org/drawingml/2006/main">
            <a:off x="7324725" y="2381250"/>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975" b="1">
                <a:solidFill>
                  <a:srgbClr val="256B7F"/>
                </a:solidFill>
                <a:latin typeface="Arial"/>
                <a:ea typeface="Arial"/>
                <a:cs typeface="Arial"/>
              </a:defRPr>
            </a:pPr>
            <a:r>
              <a:rPr sz="3975" b="1">
                <a:solidFill>
                  <a:srgbClr val="256B7F"/>
                </a:solidFill>
                <a:latin typeface="Arial"/>
                <a:ea typeface="Arial"/>
                <a:cs typeface="Arial"/>
              </a:rPr>
              <a:t>16.5 hours</a:t>
            </a:r>
          </a:p>
        </p:txBody>
      </p:sp>
      <p:sp>
        <p:nvSpPr>
          <p:cNvPr id="6" name="Modeled monthly time difference">
            <a:extLst xmlns:a="http://schemas.openxmlformats.org/drawingml/2006/main">
              <a:ext uri="{FF2B5EF4-FFF2-40B4-BE49-F238E27FC236}">
                <a16:creationId xmlns:a16="http://schemas.microsoft.com/office/drawing/2014/main" id="{E0869094-06B1-44D2-8DFA-3AF0974A7A12}"/>
              </a:ext>
            </a:extLst>
          </p:cNvPr>
          <p:cNvSpPr>
            <a:spLocks xmlns:a="http://schemas.openxmlformats.org/drawingml/2006/main" noGrp="1"/>
          </p:cNvSpPr>
          <p:nvPr/>
        </p:nvSpPr>
        <p:spPr>
          <a:xfrm xmlns:a="http://schemas.openxmlformats.org/drawingml/2006/main">
            <a:off x="7343775" y="3238500"/>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32A3C"/>
                </a:solidFill>
                <a:latin typeface="Arial"/>
                <a:ea typeface="Arial"/>
                <a:cs typeface="Arial"/>
              </a:defRPr>
            </a:pPr>
            <a:r>
              <a:rPr sz="1875" b="0">
                <a:solidFill>
                  <a:srgbClr val="132A3C"/>
                </a:solidFill>
                <a:latin typeface="Arial"/>
                <a:ea typeface="Arial"/>
                <a:cs typeface="Arial"/>
              </a:rPr>
              <a:t>Modeled monthly time difference</a:t>
            </a:r>
          </a:p>
        </p:txBody>
      </p:sp>
      <p:sp>
        <p:nvSpPr>
          <p:cNvPr id="7" name="$495 / month">
            <a:extLst xmlns:a="http://schemas.openxmlformats.org/drawingml/2006/main">
              <a:ext uri="{FF2B5EF4-FFF2-40B4-BE49-F238E27FC236}">
                <a16:creationId xmlns:a16="http://schemas.microsoft.com/office/drawing/2014/main" id="{E94F8770-08D9-4B9C-A32C-CF32C4BC0FEB}"/>
              </a:ext>
            </a:extLst>
          </p:cNvPr>
          <p:cNvSpPr>
            <a:spLocks xmlns:a="http://schemas.openxmlformats.org/drawingml/2006/main" noGrp="1"/>
          </p:cNvSpPr>
          <p:nvPr/>
        </p:nvSpPr>
        <p:spPr>
          <a:xfrm xmlns:a="http://schemas.openxmlformats.org/drawingml/2006/main">
            <a:off x="7324725" y="4219575"/>
            <a:ext cx="4238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32A3C"/>
                </a:solidFill>
                <a:latin typeface="Arial"/>
                <a:ea typeface="Arial"/>
                <a:cs typeface="Arial"/>
              </a:defRPr>
            </a:pPr>
            <a:r>
              <a:rPr sz="3450" b="1">
                <a:solidFill>
                  <a:srgbClr val="132A3C"/>
                </a:solidFill>
                <a:latin typeface="Arial"/>
                <a:ea typeface="Arial"/>
                <a:cs typeface="Arial"/>
              </a:rPr>
              <a:t>$495 / month</a:t>
            </a:r>
          </a:p>
        </p:txBody>
      </p:sp>
      <p:sp>
        <p:nvSpPr>
          <p:cNvPr id="8" name="Gross labor capacity at $30/hour">
            <a:extLst xmlns:a="http://schemas.openxmlformats.org/drawingml/2006/main">
              <a:ext uri="{FF2B5EF4-FFF2-40B4-BE49-F238E27FC236}">
                <a16:creationId xmlns:a16="http://schemas.microsoft.com/office/drawing/2014/main" id="{4E080B1B-1C80-4CD2-8875-19EDC1766C2D}"/>
              </a:ext>
            </a:extLst>
          </p:cNvPr>
          <p:cNvSpPr>
            <a:spLocks xmlns:a="http://schemas.openxmlformats.org/drawingml/2006/main" noGrp="1"/>
          </p:cNvSpPr>
          <p:nvPr/>
        </p:nvSpPr>
        <p:spPr>
          <a:xfrm xmlns:a="http://schemas.openxmlformats.org/drawingml/2006/main">
            <a:off x="7343775" y="495300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32A3C"/>
                </a:solidFill>
                <a:latin typeface="Arial"/>
                <a:ea typeface="Arial"/>
                <a:cs typeface="Arial"/>
              </a:defRPr>
            </a:pPr>
            <a:r>
              <a:rPr sz="1875" b="0">
                <a:solidFill>
                  <a:srgbClr val="132A3C"/>
                </a:solidFill>
                <a:latin typeface="Arial"/>
                <a:ea typeface="Arial"/>
                <a:cs typeface="Arial"/>
              </a:rPr>
              <a:t>Gross labor capacity at $30/hour</a:t>
            </a:r>
          </a:p>
        </p:txBody>
      </p:sp>
      <p:sp>
        <p:nvSpPr>
          <p:cNvPr id="9" name="30 parts/day × 22 days/month. Before setup, support and software ">
            <a:extLst xmlns:a="http://schemas.openxmlformats.org/drawingml/2006/main">
              <a:ext uri="{FF2B5EF4-FFF2-40B4-BE49-F238E27FC236}">
                <a16:creationId xmlns:a16="http://schemas.microsoft.com/office/drawing/2014/main" id="{456AAD76-C1F9-40EE-A3F9-4808F3DB39F8}"/>
              </a:ext>
            </a:extLst>
          </p:cNvPr>
          <p:cNvSpPr>
            <a:spLocks xmlns:a="http://schemas.openxmlformats.org/drawingml/2006/main" noGrp="1"/>
          </p:cNvSpPr>
          <p:nvPr/>
        </p:nvSpPr>
        <p:spPr>
          <a:xfrm xmlns:a="http://schemas.openxmlformats.org/drawingml/2006/main">
            <a:off x="628650" y="5924550"/>
            <a:ext cx="10544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256B7F"/>
                </a:solidFill>
                <a:latin typeface="Arial"/>
                <a:ea typeface="Arial"/>
                <a:cs typeface="Arial"/>
              </a:defRPr>
            </a:pPr>
            <a:r>
              <a:rPr sz="1575" b="0">
                <a:solidFill>
                  <a:srgbClr val="256B7F"/>
                </a:solidFill>
                <a:latin typeface="Arial"/>
                <a:ea typeface="Arial"/>
                <a:cs typeface="Arial"/>
              </a:rPr>
              <a:t>30 parts/day × 22 days/month. Before setup, support and software costs. No observed savings or revenue.</a:t>
            </a:r>
          </a:p>
        </p:txBody>
      </p:sp>
    </p:spTree>
    <p:extLst>
      <p:ext uri="{BB962C8B-B14F-4D97-AF65-F5344CB8AC3E}">
        <p14:creationId xmlns:p14="http://schemas.microsoft.com/office/powerpoint/2010/main" val="1576724023"/>
      </p:ext>
    </p:extLst>
  </p:cSld>
</p:sld>
</file>

<file path=ppt/slides/slide13.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5" name="Who might pay, and for what">
            <a:extLst xmlns:a="http://schemas.openxmlformats.org/drawingml/2006/main">
              <a:ext uri="{FF2B5EF4-FFF2-40B4-BE49-F238E27FC236}">
                <a16:creationId xmlns:a16="http://schemas.microsoft.com/office/drawing/2014/main" id="{B1FED0FF-6531-4C53-BCDF-C0ACA3618F5C}"/>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Who might pay, and for what</a:t>
            </a:r>
          </a:p>
        </p:txBody>
      </p:sp>
      <p:sp>
        <p:nvSpPr>
          <p:cNvPr id="2" name="13">
            <a:extLst xmlns:a="http://schemas.openxmlformats.org/drawingml/2006/main">
              <a:ext uri="{FF2B5EF4-FFF2-40B4-BE49-F238E27FC236}">
                <a16:creationId xmlns:a16="http://schemas.microsoft.com/office/drawing/2014/main" id="{380267AF-68CB-4B48-A420-E71639D8939D}"/>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13</a:t>
            </a:r>
          </a:p>
        </p:txBody>
      </p:sp>
      <p:graphicFrame>
        <p:nvGraphicFramePr>
          <p:cNvPr id="9" name=""/>
          <p:cNvGraphicFramePr/>
          <p:nvPr/>
        </p:nvGraphicFramePr>
        <p:xfrm>
          <a:off xmlns:a="http://schemas.openxmlformats.org/drawingml/2006/main" x="628650" y="1933575"/>
          <a:ext xmlns:a="http://schemas.openxmlformats.org/drawingml/2006/main" cx="10934700" cy="3267075"/>
        </p:xfrm>
        <a:graphic xmlns:a="http://schemas.openxmlformats.org/drawingml/2006/main">
          <a:graphicData uri="http://schemas.openxmlformats.org/drawingml/2006/table">
            <a:tbl>
              <a:tblPr firstRow="1" bandRow="0"/>
              <a:tblGrid>
                <a:gridCol w="2476500"/>
                <a:gridCol w="4191000"/>
                <a:gridCol w="4267200"/>
              </a:tblGrid>
              <a:tr h="571500">
                <a:tc>
                  <a:txBody>
                    <a:bodyPr wrap="square">
                      <a:noAutofit/>
                    </a:bodyPr>
                    <a:lstStyle/>
                    <a:p>
                      <a:r>
                        <a:rPr sz="1725" b="1">
                          <a:solidFill>
                            <a:srgbClr val="F4FAFB"/>
                          </a:solidFill>
                          <a:latin typeface="Arial"/>
                          <a:ea typeface="Arial"/>
                          <a:cs typeface="Arial"/>
                        </a:rPr>
                        <a:t>Possible buyer</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Useful outcome</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Pricing idea to test</a:t>
                      </a:r>
                    </a:p>
                  </a:txBody>
                  <a:tcPr marL="152400" marR="152400" marT="123825" marB="123825" anchor="ctr">
                    <a:solidFill>
                      <a:srgbClr val="091725"/>
                    </a:solidFill>
                  </a:tcPr>
                </a:tc>
              </a:tr>
              <a:tr h="898525">
                <a:tc>
                  <a:txBody>
                    <a:bodyPr wrap="square">
                      <a:noAutofit/>
                    </a:bodyPr>
                    <a:lstStyle/>
                    <a:p>
                      <a:r>
                        <a:rPr sz="1875" b="0">
                          <a:solidFill>
                            <a:srgbClr val="132A3C"/>
                          </a:solidFill>
                          <a:latin typeface="Arial"/>
                          <a:ea typeface="Arial"/>
                          <a:cs typeface="Arial"/>
                        </a:rPr>
                        <a:t>Parts seller</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Repeatable intake records</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Monthly seller account</a:t>
                      </a:r>
                    </a:p>
                  </a:txBody>
                  <a:tcPr marL="152400" marR="152400" marT="123825" marB="123825" anchor="ctr">
                    <a:solidFill>
                      <a:srgbClr val="EEF5F6"/>
                    </a:solidFill>
                  </a:tcPr>
                </a:tc>
              </a:tr>
              <a:tr h="898525">
                <a:tc>
                  <a:txBody>
                    <a:bodyPr wrap="square">
                      <a:noAutofit/>
                    </a:bodyPr>
                    <a:lstStyle/>
                    <a:p>
                      <a:r>
                        <a:rPr sz="1875" b="0">
                          <a:solidFill>
                            <a:srgbClr val="132A3C"/>
                          </a:solidFill>
                          <a:latin typeface="Arial"/>
                          <a:ea typeface="Arial"/>
                          <a:cs typeface="Arial"/>
                        </a:rPr>
                        <a:t>Auto shop</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Jobs and customer reports</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Monthly operator or shop plan</a:t>
                      </a:r>
                    </a:p>
                  </a:txBody>
                  <a:tcPr marL="152400" marR="152400" marT="123825" marB="123825" anchor="ctr">
                    <a:solidFill>
                      <a:srgbClr val="EEF5F6"/>
                    </a:solidFill>
                  </a:tcPr>
                </a:tc>
              </a:tr>
              <a:tr h="898525">
                <a:tc>
                  <a:txBody>
                    <a:bodyPr wrap="square">
                      <a:noAutofit/>
                    </a:bodyPr>
                    <a:lstStyle/>
                    <a:p>
                      <a:r>
                        <a:rPr sz="1875" b="0">
                          <a:solidFill>
                            <a:srgbClr val="132A3C"/>
                          </a:solidFill>
                          <a:latin typeface="Arial"/>
                          <a:ea typeface="Arial"/>
                          <a:cs typeface="Arial"/>
                        </a:rPr>
                        <a:t>DIY owner</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Occasional guidance and records</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Free entry or paid scan allowance</a:t>
                      </a:r>
                    </a:p>
                  </a:txBody>
                  <a:tcPr marL="152400" marR="152400" marT="123825" marB="123825" anchor="ctr">
                    <a:solidFill>
                      <a:srgbClr val="EEF5F6"/>
                    </a:solidFill>
                  </a:tcPr>
                </a:tc>
              </a:tr>
            </a:tbl>
          </a:graphicData>
        </a:graphic>
      </p:graphicFrame>
      <p:sp>
        <p:nvSpPr>
          <p:cNvPr id="4" name="Willingness to pay is unvalidated. A useful workflow and repeated">
            <a:extLst xmlns:a="http://schemas.openxmlformats.org/drawingml/2006/main">
              <a:ext uri="{FF2B5EF4-FFF2-40B4-BE49-F238E27FC236}">
                <a16:creationId xmlns:a16="http://schemas.microsoft.com/office/drawing/2014/main" id="{8E9FC83E-4D69-43A9-AFB5-5F868D081EBD}"/>
              </a:ext>
            </a:extLst>
          </p:cNvPr>
          <p:cNvSpPr>
            <a:spLocks xmlns:a="http://schemas.openxmlformats.org/drawingml/2006/main" noGrp="1"/>
          </p:cNvSpPr>
          <p:nvPr/>
        </p:nvSpPr>
        <p:spPr>
          <a:xfrm xmlns:a="http://schemas.openxmlformats.org/drawingml/2006/main">
            <a:off x="628650" y="5610225"/>
            <a:ext cx="10439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256B7F"/>
                </a:solidFill>
                <a:latin typeface="Arial"/>
                <a:ea typeface="Arial"/>
                <a:cs typeface="Arial"/>
              </a:defRPr>
            </a:pPr>
            <a:r>
              <a:rPr sz="2025" b="0">
                <a:solidFill>
                  <a:srgbClr val="256B7F"/>
                </a:solidFill>
                <a:latin typeface="Arial"/>
                <a:ea typeface="Arial"/>
                <a:cs typeface="Arial"/>
              </a:rPr>
              <a:t>Willingness to pay is unvalidated. A useful workflow and repeated use must come first.</a:t>
            </a:r>
          </a:p>
        </p:txBody>
      </p:sp>
    </p:spTree>
    <p:extLst>
      <p:ext uri="{BB962C8B-B14F-4D97-AF65-F5344CB8AC3E}">
        <p14:creationId xmlns:p14="http://schemas.microsoft.com/office/powerpoint/2010/main" val="1965225191"/>
      </p:ext>
    </p:extLst>
  </p:cSld>
</p:sld>
</file>

<file path=ppt/slides/slide14.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5" name="Evidence behind the current build">
            <a:extLst xmlns:a="http://schemas.openxmlformats.org/drawingml/2006/main">
              <a:ext uri="{FF2B5EF4-FFF2-40B4-BE49-F238E27FC236}">
                <a16:creationId xmlns:a16="http://schemas.microsoft.com/office/drawing/2014/main" id="{F5D4D375-27E7-48B8-8F22-A7CC80D93A72}"/>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Evidence behind the beta build</a:t>
            </a:r>
          </a:p>
        </p:txBody>
      </p:sp>
      <p:sp>
        <p:nvSpPr>
          <p:cNvPr id="2" name="14">
            <a:extLst xmlns:a="http://schemas.openxmlformats.org/drawingml/2006/main">
              <a:ext uri="{FF2B5EF4-FFF2-40B4-BE49-F238E27FC236}">
                <a16:creationId xmlns:a16="http://schemas.microsoft.com/office/drawing/2014/main" id="{FAAE4D8B-E48A-44B9-8D82-C82BEEF42E56}"/>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14</a:t>
            </a:r>
          </a:p>
        </p:txBody>
      </p:sp>
      <p:graphicFrame>
        <p:nvGraphicFramePr>
          <p:cNvPr id="9" name=""/>
          <p:cNvGraphicFramePr/>
          <p:nvPr/>
        </p:nvGraphicFramePr>
        <p:xfrm>
          <a:off xmlns:a="http://schemas.openxmlformats.org/drawingml/2006/main" x="628650" y="1885950"/>
          <a:ext xmlns:a="http://schemas.openxmlformats.org/drawingml/2006/main" cx="10934700" cy="3648075"/>
        </p:xfrm>
        <a:graphic xmlns:a="http://schemas.openxmlformats.org/drawingml/2006/main">
          <a:graphicData uri="http://schemas.openxmlformats.org/drawingml/2006/table">
            <a:tbl>
              <a:tblPr firstRow="1" bandRow="0"/>
              <a:tblGrid>
                <a:gridCol w="3095625"/>
                <a:gridCol w="3571875"/>
                <a:gridCol w="4267200"/>
              </a:tblGrid>
              <a:tr h="571500">
                <a:tc>
                  <a:txBody>
                    <a:bodyPr wrap="square">
                      <a:noAutofit/>
                    </a:bodyPr>
                    <a:lstStyle/>
                    <a:p>
                      <a:r>
                        <a:rPr sz="1725" b="1">
                          <a:solidFill>
                            <a:srgbClr val="F4FAFB"/>
                          </a:solidFill>
                          <a:latin typeface="Arial"/>
                          <a:ea typeface="Arial"/>
                          <a:cs typeface="Arial"/>
                        </a:rPr>
                        <a:t>What was checked</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Evidence</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What it establishes</a:t>
                      </a:r>
                    </a:p>
                  </a:txBody>
                  <a:tcPr marL="152400" marR="152400" marT="123825" marB="123825" anchor="ctr">
                    <a:solidFill>
                      <a:srgbClr val="091725"/>
                    </a:solidFill>
                  </a:tcPr>
                </a:tc>
              </a:tr>
              <a:tr h="769144">
                <a:tc>
                  <a:txBody>
                    <a:bodyPr wrap="square">
                      <a:noAutofit/>
                    </a:bodyPr>
                    <a:lstStyle/>
                    <a:p>
                      <a:r>
                        <a:rPr sz="1725" b="0">
                          <a:solidFill>
                            <a:srgbClr val="132A3C"/>
                          </a:solidFill>
                          <a:latin typeface="Arial"/>
                          <a:ea typeface="Arial"/>
                          <a:cs typeface="Arial"/>
                        </a:rPr>
                        <a:t>Automated app checks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Focused tests, lint and build pass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Current branch behavior and packaging</a:t>
                      </a:r>
                    </a:p>
                  </a:txBody>
                  <a:tcPr marL="152400" marR="152400" marT="123825" marB="123825" anchor="ctr">
                    <a:solidFill>
                      <a:srgbClr val="EEF5F6"/>
                    </a:solidFill>
                  </a:tcPr>
                </a:tc>
              </a:tr>
              <a:tr h="769144">
                <a:tc>
                  <a:txBody>
                    <a:bodyPr wrap="square">
                      <a:noAutofit/>
                    </a:bodyPr>
                    <a:lstStyle/>
                    <a:p>
                      <a:r>
                        <a:rPr sz="1725" b="0">
                          <a:solidFill>
                            <a:srgbClr val="132A3C"/>
                          </a:solidFill>
                          <a:latin typeface="Arial"/>
                          <a:ea typeface="Arial"/>
                          <a:cs typeface="Arial"/>
                        </a:rPr>
                        <a:t>Public tester flow</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Responsive page and durable forms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Recruitment, checklist and feedback</a:t>
                      </a:r>
                    </a:p>
                  </a:txBody>
                  <a:tcPr marL="152400" marR="152400" marT="123825" marB="123825" anchor="ctr">
                    <a:solidFill>
                      <a:srgbClr val="EEF5F6"/>
                    </a:solidFill>
                  </a:tcPr>
                </a:tc>
              </a:tr>
              <a:tr h="769144">
                <a:tc>
                  <a:txBody>
                    <a:bodyPr wrap="square">
                      <a:noAutofit/>
                    </a:bodyPr>
                    <a:lstStyle/>
                    <a:p>
                      <a:r>
                        <a:rPr sz="1725" b="0">
                          <a:solidFill>
                            <a:srgbClr val="132A3C"/>
                          </a:solidFill>
                          <a:latin typeface="Arial"/>
                          <a:ea typeface="Arial"/>
                          <a:cs typeface="Arial"/>
                        </a:rPr>
                        <a:t>Result review</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Right, wrong and unresolved states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Usable labels for failures and doubt</a:t>
                      </a:r>
                    </a:p>
                  </a:txBody>
                  <a:tcPr marL="152400" marR="152400" marT="123825" marB="123825" anchor="ctr">
                    <a:solidFill>
                      <a:srgbClr val="EEF5F6"/>
                    </a:solidFill>
                  </a:tcPr>
                </a:tc>
              </a:tr>
              <a:tr h="769144">
                <a:tc>
                  <a:txBody>
                    <a:bodyPr wrap="square">
                      <a:noAutofit/>
                    </a:bodyPr>
                    <a:lstStyle/>
                    <a:p>
                      <a:r>
                        <a:rPr sz="1725" b="0">
                          <a:solidFill>
                            <a:srgbClr val="132A3C"/>
                          </a:solidFill>
                          <a:latin typeface="Arial"/>
                          <a:ea typeface="Arial"/>
                          <a:cs typeface="Arial"/>
                        </a:rPr>
                        <a:t>Live cloud schema</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Ratings and inspection persistence</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Private account-scoped review records</a:t>
                      </a:r>
                    </a:p>
                  </a:txBody>
                  <a:tcPr marL="152400" marR="152400" marT="123825" marB="123825" anchor="ctr">
                    <a:solidFill>
                      <a:srgbClr val="EEF5F6"/>
                    </a:solidFill>
                  </a:tcPr>
                </a:tc>
              </a:tr>
            </a:tbl>
          </a:graphicData>
        </a:graphic>
      </p:graphicFrame>
      <p:sp>
        <p:nvSpPr>
          <p:cNvPr id="4" name="Engineering evidence as of September 26, 2026. Seller time saving">
            <a:extLst xmlns:a="http://schemas.openxmlformats.org/drawingml/2006/main">
              <a:ext uri="{FF2B5EF4-FFF2-40B4-BE49-F238E27FC236}">
                <a16:creationId xmlns:a16="http://schemas.microsoft.com/office/drawing/2014/main" id="{D87CAD7B-5BB5-4EBD-A921-5E9EC18965B8}"/>
              </a:ext>
            </a:extLst>
          </p:cNvPr>
          <p:cNvSpPr>
            <a:spLocks xmlns:a="http://schemas.openxmlformats.org/drawingml/2006/main" noGrp="1"/>
          </p:cNvSpPr>
          <p:nvPr/>
        </p:nvSpPr>
        <p:spPr>
          <a:xfrm xmlns:a="http://schemas.openxmlformats.org/drawingml/2006/main">
            <a:off x="628650" y="59055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b="0">
                <a:solidFill>
                  <a:srgbClr val="256B7F"/>
                </a:solidFill>
                <a:latin typeface="Arial"/>
                <a:ea typeface="Arial"/>
                <a:cs typeface="Arial"/>
              </a:defRPr>
            </a:pPr>
            <a:r>
              <a:rPr sz="1575" b="0">
                <a:solidFill>
                  <a:srgbClr val="256B7F"/>
                </a:solidFill>
                <a:latin typeface="Arial"/>
                <a:ea typeface="Arial"/>
                <a:cs typeface="Arial"/>
              </a:rPr>
              <a:t>Engineering evidence as of October 1, 2026. Real-user usefulness and identification accuracy remain unmeasured.</a:t>
            </a:r>
          </a:p>
        </p:txBody>
      </p:sp>
    </p:spTree>
    <p:extLst>
      <p:ext uri="{BB962C8B-B14F-4D97-AF65-F5344CB8AC3E}">
        <p14:creationId xmlns:p14="http://schemas.microsoft.com/office/powerpoint/2010/main" val="1435762681"/>
      </p:ext>
    </p:extLst>
  </p:cSld>
</p:sld>
</file>

<file path=ppt/slides/slide15.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5" name="A focused V1, with room for V2">
            <a:extLst xmlns:a="http://schemas.openxmlformats.org/drawingml/2006/main">
              <a:ext uri="{FF2B5EF4-FFF2-40B4-BE49-F238E27FC236}">
                <a16:creationId xmlns:a16="http://schemas.microsoft.com/office/drawing/2014/main" id="{A32FC702-D037-489B-A852-A11A519FB70B}"/>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V1 is now a private-beta candidate</a:t>
            </a:r>
          </a:p>
        </p:txBody>
      </p:sp>
      <p:sp>
        <p:nvSpPr>
          <p:cNvPr id="2" name="15">
            <a:extLst xmlns:a="http://schemas.openxmlformats.org/drawingml/2006/main">
              <a:ext uri="{FF2B5EF4-FFF2-40B4-BE49-F238E27FC236}">
                <a16:creationId xmlns:a16="http://schemas.microsoft.com/office/drawing/2014/main" id="{D3AE264E-C02C-4455-B2A7-D9D0D1873E33}"/>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15</a:t>
            </a:r>
          </a:p>
        </p:txBody>
      </p:sp>
      <p:graphicFrame>
        <p:nvGraphicFramePr>
          <p:cNvPr id="9" name=""/>
          <p:cNvGraphicFramePr/>
          <p:nvPr/>
        </p:nvGraphicFramePr>
        <p:xfrm>
          <a:off xmlns:a="http://schemas.openxmlformats.org/drawingml/2006/main" x="628650" y="1905000"/>
          <a:ext xmlns:a="http://schemas.openxmlformats.org/drawingml/2006/main" cx="10934700" cy="3686175"/>
        </p:xfrm>
        <a:graphic xmlns:a="http://schemas.openxmlformats.org/drawingml/2006/main">
          <a:graphicData uri="http://schemas.openxmlformats.org/drawingml/2006/table">
            <a:tbl>
              <a:tblPr firstRow="1" bandRow="0"/>
              <a:tblGrid>
                <a:gridCol w="2381250"/>
                <a:gridCol w="4572000"/>
                <a:gridCol w="3981450"/>
              </a:tblGrid>
              <a:tr h="571500">
                <a:tc>
                  <a:txBody>
                    <a:bodyPr wrap="square">
                      <a:noAutofit/>
                    </a:bodyPr>
                    <a:lstStyle/>
                    <a:p>
                      <a:r>
                        <a:rPr sz="1725" b="1">
                          <a:solidFill>
                            <a:srgbClr val="F4FAFB"/>
                          </a:solidFill>
                          <a:latin typeface="Arial"/>
                          <a:ea typeface="Arial"/>
                          <a:cs typeface="Arial"/>
                        </a:rPr>
                        <a:t>Status</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Capability</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Boundary</a:t>
                      </a:r>
                    </a:p>
                  </a:txBody>
                  <a:tcPr marL="152400" marR="152400" marT="123825" marB="123825" anchor="ctr">
                    <a:solidFill>
                      <a:srgbClr val="091725"/>
                    </a:solidFill>
                  </a:tcPr>
                </a:tc>
              </a:tr>
              <a:tr h="778669">
                <a:tc>
                  <a:txBody>
                    <a:bodyPr wrap="square">
                      <a:noAutofit/>
                    </a:bodyPr>
                    <a:lstStyle/>
                    <a:p>
                      <a:r>
                        <a:rPr sz="1725" b="0">
                          <a:solidFill>
                            <a:srgbClr val="132A3C"/>
                          </a:solidFill>
                          <a:latin typeface="Arial"/>
                          <a:ea typeface="Arial"/>
                          <a:cs typeface="Arial"/>
                        </a:rPr>
                        <a:t>Current core</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Photo analysis, contextual follow-up and human review</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AI suggestions still need review</a:t>
                      </a:r>
                    </a:p>
                  </a:txBody>
                  <a:tcPr marL="152400" marR="152400" marT="123825" marB="123825" anchor="ctr">
                    <a:solidFill>
                      <a:srgbClr val="EEF5F6"/>
                    </a:solidFill>
                  </a:tcPr>
                </a:tc>
              </a:tr>
              <a:tr h="778669">
                <a:tc>
                  <a:txBody>
                    <a:bodyPr wrap="square">
                      <a:noAutofit/>
                    </a:bodyPr>
                    <a:lstStyle/>
                    <a:p>
                      <a:r>
                        <a:rPr sz="1725" b="0">
                          <a:solidFill>
                            <a:srgbClr val="132A3C"/>
                          </a:solidFill>
                          <a:latin typeface="Arial"/>
                          <a:ea typeface="Arial"/>
                          <a:cs typeface="Arial"/>
                        </a:rPr>
                        <a:t>Current records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Library, recovery, exports and cloud sync</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Real-device durability still needs proof</a:t>
                      </a:r>
                    </a:p>
                  </a:txBody>
                  <a:tcPr marL="152400" marR="152400" marT="123825" marB="123825" anchor="ctr">
                    <a:solidFill>
                      <a:srgbClr val="EEF5F6"/>
                    </a:solidFill>
                  </a:tcPr>
                </a:tc>
              </a:tr>
              <a:tr h="778669">
                <a:tc>
                  <a:txBody>
                    <a:bodyPr wrap="square">
                      <a:noAutofit/>
                    </a:bodyPr>
                    <a:lstStyle/>
                    <a:p>
                      <a:r>
                        <a:rPr sz="1725" b="0">
                          <a:solidFill>
                            <a:srgbClr val="132A3C"/>
                          </a:solidFill>
                          <a:latin typeface="Arial"/>
                          <a:ea typeface="Arial"/>
                          <a:cs typeface="Arial"/>
                        </a:rPr>
                        <a:t>Current beta</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Tester program and three-state feedback</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Reward and usefulness are hypotheses</a:t>
                      </a:r>
                    </a:p>
                  </a:txBody>
                  <a:tcPr marL="152400" marR="152400" marT="123825" marB="123825" anchor="ctr">
                    <a:solidFill>
                      <a:srgbClr val="EEF5F6"/>
                    </a:solidFill>
                  </a:tcPr>
                </a:tc>
              </a:tr>
              <a:tr h="778669">
                <a:tc>
                  <a:txBody>
                    <a:bodyPr wrap="square">
                      <a:noAutofit/>
                    </a:bodyPr>
                    <a:lstStyle/>
                    <a:p>
                      <a:r>
                        <a:rPr sz="1725" b="0">
                          <a:solidFill>
                            <a:srgbClr val="132A3C"/>
                          </a:solidFill>
                          <a:latin typeface="Arial"/>
                          <a:ea typeface="Arial"/>
                          <a:cs typeface="Arial"/>
                        </a:rPr>
                        <a:t>Release gates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Provider evaluation, phones, monitoring and access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Must pass before public launch</a:t>
                      </a:r>
                    </a:p>
                  </a:txBody>
                  <a:tcPr marL="152400" marR="152400" marT="123825" marB="123825" anchor="ctr">
                    <a:solidFill>
                      <a:srgbClr val="EEF5F6"/>
                    </a:solidFill>
                  </a:tcPr>
                </a:tc>
              </a:tr>
            </a:tbl>
          </a:graphicData>
        </a:graphic>
      </p:graphicFrame>
      <p:sp>
        <p:nvSpPr>
          <p:cNvPr id="4" name="3D reconstruction and ambitious new integrations can wait beyond ">
            <a:extLst xmlns:a="http://schemas.openxmlformats.org/drawingml/2006/main">
              <a:ext uri="{FF2B5EF4-FFF2-40B4-BE49-F238E27FC236}">
                <a16:creationId xmlns:a16="http://schemas.microsoft.com/office/drawing/2014/main" id="{87200459-FECC-41F2-8C2A-86D51DC7F097}"/>
              </a:ext>
            </a:extLst>
          </p:cNvPr>
          <p:cNvSpPr>
            <a:spLocks xmlns:a="http://schemas.openxmlformats.org/drawingml/2006/main" noGrp="1"/>
          </p:cNvSpPr>
          <p:nvPr/>
        </p:nvSpPr>
        <p:spPr>
          <a:xfrm xmlns:a="http://schemas.openxmlformats.org/drawingml/2006/main">
            <a:off x="628650" y="596265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256B7F"/>
                </a:solidFill>
                <a:latin typeface="Arial"/>
                <a:ea typeface="Arial"/>
                <a:cs typeface="Arial"/>
              </a:defRPr>
            </a:pPr>
            <a:r>
              <a:rPr sz="2025" b="0">
                <a:solidFill>
                  <a:srgbClr val="256B7F"/>
                </a:solidFill>
                <a:latin typeface="Arial"/>
                <a:ea typeface="Arial"/>
                <a:cs typeface="Arial"/>
              </a:rPr>
              <a:t>Custom training, 3D reconstruction and shared-shop expansion stay beyond V1.</a:t>
            </a:r>
          </a:p>
        </p:txBody>
      </p:sp>
    </p:spTree>
    <p:extLst>
      <p:ext uri="{BB962C8B-B14F-4D97-AF65-F5344CB8AC3E}">
        <p14:creationId xmlns:p14="http://schemas.microsoft.com/office/powerpoint/2010/main" val="789218847"/>
      </p:ext>
    </p:extLst>
  </p:cSld>
</p:sld>
</file>

<file path=ppt/slides/slide16.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6" name="A one-month route to real users">
            <a:extLst xmlns:a="http://schemas.openxmlformats.org/drawingml/2006/main">
              <a:ext uri="{FF2B5EF4-FFF2-40B4-BE49-F238E27FC236}">
                <a16:creationId xmlns:a16="http://schemas.microsoft.com/office/drawing/2014/main" id="{0BF6E30B-2927-4AC8-9F33-694EB95F0DF4}"/>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F4FAFB"/>
                </a:solidFill>
                <a:latin typeface="Arial"/>
                <a:ea typeface="Arial"/>
                <a:cs typeface="Arial"/>
              </a:defRPr>
            </a:pPr>
            <a:r>
              <a:rPr sz="3600" b="1">
                <a:solidFill>
                  <a:srgbClr val="F4FAFB"/>
                </a:solidFill>
                <a:latin typeface="Arial"/>
                <a:ea typeface="Arial"/>
                <a:cs typeface="Arial"/>
              </a:rPr>
              <a:t>A four-stage route to V1 evidence</a:t>
            </a:r>
          </a:p>
        </p:txBody>
      </p:sp>
      <p:sp>
        <p:nvSpPr>
          <p:cNvPr id="2" name="16">
            <a:extLst xmlns:a="http://schemas.openxmlformats.org/drawingml/2006/main">
              <a:ext uri="{FF2B5EF4-FFF2-40B4-BE49-F238E27FC236}">
                <a16:creationId xmlns:a16="http://schemas.microsoft.com/office/drawing/2014/main" id="{8B822A3D-A3D5-42B0-A46D-A68706A556D3}"/>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9DB8C8"/>
                </a:solidFill>
                <a:latin typeface="Arial"/>
                <a:ea typeface="Arial"/>
                <a:cs typeface="Arial"/>
              </a:defRPr>
            </a:pPr>
            <a:r>
              <a:rPr sz="1275" b="0">
                <a:solidFill>
                  <a:srgbClr val="9DB8C8"/>
                </a:solidFill>
                <a:latin typeface="Arial"/>
                <a:ea typeface="Arial"/>
                <a:cs typeface="Arial"/>
              </a:rPr>
              <a:t>16</a:t>
            </a:r>
          </a:p>
        </p:txBody>
      </p:sp>
      <p:sp>
        <p:nvSpPr>
          <p:cNvPr id="3" name="Week 1">
            <a:extLst xmlns:a="http://schemas.openxmlformats.org/drawingml/2006/main">
              <a:ext uri="{FF2B5EF4-FFF2-40B4-BE49-F238E27FC236}">
                <a16:creationId xmlns:a16="http://schemas.microsoft.com/office/drawing/2014/main" id="{25F5D212-A0C6-47A6-AA6B-17D2BAC9BA30}"/>
              </a:ext>
            </a:extLst>
          </p:cNvPr>
          <p:cNvSpPr>
            <a:spLocks xmlns:a="http://schemas.openxmlformats.org/drawingml/2006/main" noGrp="1"/>
          </p:cNvSpPr>
          <p:nvPr/>
        </p:nvSpPr>
        <p:spPr>
          <a:xfrm xmlns:a="http://schemas.openxmlformats.org/drawingml/2006/main">
            <a:off x="628650" y="1828800"/>
            <a:ext cx="1724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B8E3E9"/>
                </a:solidFill>
                <a:latin typeface="Arial"/>
                <a:ea typeface="Arial"/>
                <a:cs typeface="Arial"/>
              </a:defRPr>
            </a:pPr>
            <a:r>
              <a:rPr sz="2175" b="1">
                <a:solidFill>
                  <a:srgbClr val="B8E3E9"/>
                </a:solidFill>
                <a:latin typeface="Arial"/>
                <a:ea typeface="Arial"/>
                <a:cs typeface="Arial"/>
              </a:rPr>
              <a:t>Now</a:t>
            </a:r>
          </a:p>
        </p:txBody>
      </p:sp>
      <p:sp>
        <p:nvSpPr>
          <p:cNvPr id="4" name="Foundation">
            <a:extLst xmlns:a="http://schemas.openxmlformats.org/drawingml/2006/main">
              <a:ext uri="{FF2B5EF4-FFF2-40B4-BE49-F238E27FC236}">
                <a16:creationId xmlns:a16="http://schemas.microsoft.com/office/drawing/2014/main" id="{4FAA9663-FEC6-4B0A-95DB-8996F02B189C}"/>
              </a:ext>
            </a:extLst>
          </p:cNvPr>
          <p:cNvSpPr>
            <a:spLocks xmlns:a="http://schemas.openxmlformats.org/drawingml/2006/main" noGrp="1"/>
          </p:cNvSpPr>
          <p:nvPr/>
        </p:nvSpPr>
        <p:spPr>
          <a:xfrm xmlns:a="http://schemas.openxmlformats.org/drawingml/2006/main">
            <a:off x="2571750" y="1819275"/>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F4FAFB"/>
                </a:solidFill>
                <a:latin typeface="Arial"/>
                <a:ea typeface="Arial"/>
                <a:cs typeface="Arial"/>
              </a:defRPr>
            </a:pPr>
            <a:r>
              <a:rPr sz="2400" b="1">
                <a:solidFill>
                  <a:srgbClr val="F4FAFB"/>
                </a:solidFill>
                <a:latin typeface="Arial"/>
                <a:ea typeface="Arial"/>
                <a:cs typeface="Arial"/>
              </a:rPr>
              <a:t>Beta foundation</a:t>
            </a:r>
          </a:p>
        </p:txBody>
      </p:sp>
      <p:sp>
        <p:nvSpPr>
          <p:cNvPr id="5" name="Verify accounts, persistence, consent and feedback.">
            <a:extLst xmlns:a="http://schemas.openxmlformats.org/drawingml/2006/main">
              <a:ext uri="{FF2B5EF4-FFF2-40B4-BE49-F238E27FC236}">
                <a16:creationId xmlns:a16="http://schemas.microsoft.com/office/drawing/2014/main" id="{1EA3265C-9CF0-4DA9-9111-235C6D8A576D}"/>
              </a:ext>
            </a:extLst>
          </p:cNvPr>
          <p:cNvSpPr>
            <a:spLocks xmlns:a="http://schemas.openxmlformats.org/drawingml/2006/main" noGrp="1"/>
          </p:cNvSpPr>
          <p:nvPr/>
        </p:nvSpPr>
        <p:spPr>
          <a:xfrm xmlns:a="http://schemas.openxmlformats.org/drawingml/2006/main">
            <a:off x="2571750" y="2295525"/>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9DB8C8"/>
                </a:solidFill>
                <a:latin typeface="Arial"/>
                <a:ea typeface="Arial"/>
                <a:cs typeface="Arial"/>
              </a:defRPr>
            </a:pPr>
            <a:r>
              <a:rPr sz="1875" b="0">
                <a:solidFill>
                  <a:srgbClr val="9DB8C8"/>
                </a:solidFill>
                <a:latin typeface="Arial"/>
                <a:ea typeface="Arial"/>
                <a:cs typeface="Arial"/>
              </a:rPr>
              <a:t>Accounts, saved records, consent, follow-ups and the tester page are built.</a:t>
            </a:r>
          </a:p>
        </p:txBody>
      </p:sp>
      <p:sp>
        <p:nvSpPr>
          <p:cNvPr id="6" name="Week 2">
            <a:extLst xmlns:a="http://schemas.openxmlformats.org/drawingml/2006/main">
              <a:ext uri="{FF2B5EF4-FFF2-40B4-BE49-F238E27FC236}">
                <a16:creationId xmlns:a16="http://schemas.microsoft.com/office/drawing/2014/main" id="{755C5E07-740A-40FE-9DA8-97F82170BE46}"/>
              </a:ext>
            </a:extLst>
          </p:cNvPr>
          <p:cNvSpPr>
            <a:spLocks xmlns:a="http://schemas.openxmlformats.org/drawingml/2006/main" noGrp="1"/>
          </p:cNvSpPr>
          <p:nvPr/>
        </p:nvSpPr>
        <p:spPr>
          <a:xfrm xmlns:a="http://schemas.openxmlformats.org/drawingml/2006/main">
            <a:off x="628650" y="2867025"/>
            <a:ext cx="1724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B8E3E9"/>
                </a:solidFill>
                <a:latin typeface="Arial"/>
                <a:ea typeface="Arial"/>
                <a:cs typeface="Arial"/>
              </a:defRPr>
            </a:pPr>
            <a:r>
              <a:rPr sz="2175" b="1">
                <a:solidFill>
                  <a:srgbClr val="B8E3E9"/>
                </a:solidFill>
                <a:latin typeface="Arial"/>
                <a:ea typeface="Arial"/>
                <a:cs typeface="Arial"/>
              </a:rPr>
              <a:t>Next</a:t>
            </a:r>
          </a:p>
        </p:txBody>
      </p:sp>
      <p:sp>
        <p:nvSpPr>
          <p:cNvPr id="7" name="Scanning and AR">
            <a:extLst xmlns:a="http://schemas.openxmlformats.org/drawingml/2006/main">
              <a:ext uri="{FF2B5EF4-FFF2-40B4-BE49-F238E27FC236}">
                <a16:creationId xmlns:a16="http://schemas.microsoft.com/office/drawing/2014/main" id="{40C9B595-37DB-4DD7-B256-2F9FEB6EF955}"/>
              </a:ext>
            </a:extLst>
          </p:cNvPr>
          <p:cNvSpPr>
            <a:spLocks xmlns:a="http://schemas.openxmlformats.org/drawingml/2006/main" noGrp="1"/>
          </p:cNvSpPr>
          <p:nvPr/>
        </p:nvSpPr>
        <p:spPr>
          <a:xfrm xmlns:a="http://schemas.openxmlformats.org/drawingml/2006/main">
            <a:off x="2571750" y="2857500"/>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F4FAFB"/>
                </a:solidFill>
                <a:latin typeface="Arial"/>
                <a:ea typeface="Arial"/>
                <a:cs typeface="Arial"/>
              </a:defRPr>
            </a:pPr>
            <a:r>
              <a:rPr sz="2400" b="1">
                <a:solidFill>
                  <a:srgbClr val="F4FAFB"/>
                </a:solidFill>
                <a:latin typeface="Arial"/>
                <a:ea typeface="Arial"/>
                <a:cs typeface="Arial"/>
              </a:rPr>
              <a:t>Device and model proof</a:t>
            </a:r>
          </a:p>
        </p:txBody>
      </p:sp>
      <p:sp>
        <p:nvSpPr>
          <p:cNvPr id="8" name="Test difficult images, overlays and mobile failure states.">
            <a:extLst xmlns:a="http://schemas.openxmlformats.org/drawingml/2006/main">
              <a:ext uri="{FF2B5EF4-FFF2-40B4-BE49-F238E27FC236}">
                <a16:creationId xmlns:a16="http://schemas.microsoft.com/office/drawing/2014/main" id="{46B57C42-648C-4E5E-B0F2-4F0DBB808586}"/>
              </a:ext>
            </a:extLst>
          </p:cNvPr>
          <p:cNvSpPr>
            <a:spLocks xmlns:a="http://schemas.openxmlformats.org/drawingml/2006/main" noGrp="1"/>
          </p:cNvSpPr>
          <p:nvPr/>
        </p:nvSpPr>
        <p:spPr>
          <a:xfrm xmlns:a="http://schemas.openxmlformats.org/drawingml/2006/main">
            <a:off x="2571750" y="3333750"/>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9DB8C8"/>
                </a:solidFill>
                <a:latin typeface="Arial"/>
                <a:ea typeface="Arial"/>
                <a:cs typeface="Arial"/>
              </a:defRPr>
            </a:pPr>
            <a:r>
              <a:rPr sz="1875" b="0">
                <a:solidFill>
                  <a:srgbClr val="9DB8C8"/>
                </a:solidFill>
                <a:latin typeface="Arial"/>
                <a:ea typeface="Arial"/>
                <a:cs typeface="Arial"/>
              </a:rPr>
              <a:t>Test hard images on iOS and Android, then run the labeled provider evaluation.</a:t>
            </a:r>
          </a:p>
        </p:txBody>
      </p:sp>
      <p:sp>
        <p:nvSpPr>
          <p:cNvPr id="9" name="Week 3">
            <a:extLst xmlns:a="http://schemas.openxmlformats.org/drawingml/2006/main">
              <a:ext uri="{FF2B5EF4-FFF2-40B4-BE49-F238E27FC236}">
                <a16:creationId xmlns:a16="http://schemas.microsoft.com/office/drawing/2014/main" id="{C7800D2B-A7A7-404C-B87F-B12E10904461}"/>
              </a:ext>
            </a:extLst>
          </p:cNvPr>
          <p:cNvSpPr>
            <a:spLocks xmlns:a="http://schemas.openxmlformats.org/drawingml/2006/main" noGrp="1"/>
          </p:cNvSpPr>
          <p:nvPr/>
        </p:nvSpPr>
        <p:spPr>
          <a:xfrm xmlns:a="http://schemas.openxmlformats.org/drawingml/2006/main">
            <a:off x="628650" y="3905250"/>
            <a:ext cx="1724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B8E3E9"/>
                </a:solidFill>
                <a:latin typeface="Arial"/>
                <a:ea typeface="Arial"/>
                <a:cs typeface="Arial"/>
              </a:defRPr>
            </a:pPr>
            <a:r>
              <a:rPr sz="2175" b="1">
                <a:solidFill>
                  <a:srgbClr val="B8E3E9"/>
                </a:solidFill>
                <a:latin typeface="Arial"/>
                <a:ea typeface="Arial"/>
                <a:cs typeface="Arial"/>
              </a:rPr>
              <a:t>Pilot</a:t>
            </a:r>
          </a:p>
        </p:txBody>
      </p:sp>
      <p:sp>
        <p:nvSpPr>
          <p:cNvPr id="10" name="5–15 trusted users">
            <a:extLst xmlns:a="http://schemas.openxmlformats.org/drawingml/2006/main">
              <a:ext uri="{FF2B5EF4-FFF2-40B4-BE49-F238E27FC236}">
                <a16:creationId xmlns:a16="http://schemas.microsoft.com/office/drawing/2014/main" id="{55E96D48-3288-45E6-8552-8CF979C4C216}"/>
              </a:ext>
            </a:extLst>
          </p:cNvPr>
          <p:cNvSpPr>
            <a:spLocks xmlns:a="http://schemas.openxmlformats.org/drawingml/2006/main" noGrp="1"/>
          </p:cNvSpPr>
          <p:nvPr/>
        </p:nvSpPr>
        <p:spPr>
          <a:xfrm xmlns:a="http://schemas.openxmlformats.org/drawingml/2006/main">
            <a:off x="2571750" y="3895725"/>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F4FAFB"/>
                </a:solidFill>
                <a:latin typeface="Arial"/>
                <a:ea typeface="Arial"/>
                <a:cs typeface="Arial"/>
              </a:defRPr>
            </a:pPr>
            <a:r>
              <a:rPr sz="2400" b="1">
                <a:solidFill>
                  <a:srgbClr val="F4FAFB"/>
                </a:solidFill>
                <a:latin typeface="Arial"/>
                <a:ea typeface="Arial"/>
                <a:cs typeface="Arial"/>
              </a:rPr>
              <a:t>5–15 founding testers</a:t>
            </a:r>
          </a:p>
        </p:txBody>
      </p:sp>
      <p:sp>
        <p:nvSpPr>
          <p:cNvPr id="11" name="Observe usefulness, wrong results and recurring confusion.">
            <a:extLst xmlns:a="http://schemas.openxmlformats.org/drawingml/2006/main">
              <a:ext uri="{FF2B5EF4-FFF2-40B4-BE49-F238E27FC236}">
                <a16:creationId xmlns:a16="http://schemas.microsoft.com/office/drawing/2014/main" id="{63F2F1E4-7DCB-400F-B17A-F572634004F6}"/>
              </a:ext>
            </a:extLst>
          </p:cNvPr>
          <p:cNvSpPr>
            <a:spLocks xmlns:a="http://schemas.openxmlformats.org/drawingml/2006/main" noGrp="1"/>
          </p:cNvSpPr>
          <p:nvPr/>
        </p:nvSpPr>
        <p:spPr>
          <a:xfrm xmlns:a="http://schemas.openxmlformats.org/drawingml/2006/main">
            <a:off x="2571750" y="4371975"/>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9DB8C8"/>
                </a:solidFill>
                <a:latin typeface="Arial"/>
                <a:ea typeface="Arial"/>
                <a:cs typeface="Arial"/>
              </a:defRPr>
            </a:pPr>
            <a:r>
              <a:rPr sz="1875" b="0">
                <a:solidFill>
                  <a:srgbClr val="9DB8C8"/>
                </a:solidFill>
                <a:latin typeface="Arial"/>
                <a:ea typeface="Arial"/>
                <a:cs typeface="Arial"/>
              </a:rPr>
              <a:t>Each scans 10 real parts, judges every result and sends three useful notes.</a:t>
            </a:r>
          </a:p>
        </p:txBody>
      </p:sp>
      <p:sp>
        <p:nvSpPr>
          <p:cNvPr id="12" name="Week 4">
            <a:extLst xmlns:a="http://schemas.openxmlformats.org/drawingml/2006/main">
              <a:ext uri="{FF2B5EF4-FFF2-40B4-BE49-F238E27FC236}">
                <a16:creationId xmlns:a16="http://schemas.microsoft.com/office/drawing/2014/main" id="{BB96B729-32EE-4650-8991-F20640732A32}"/>
              </a:ext>
            </a:extLst>
          </p:cNvPr>
          <p:cNvSpPr>
            <a:spLocks xmlns:a="http://schemas.openxmlformats.org/drawingml/2006/main" noGrp="1"/>
          </p:cNvSpPr>
          <p:nvPr/>
        </p:nvSpPr>
        <p:spPr>
          <a:xfrm xmlns:a="http://schemas.openxmlformats.org/drawingml/2006/main">
            <a:off x="628650" y="4943475"/>
            <a:ext cx="1724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B8E3E9"/>
                </a:solidFill>
                <a:latin typeface="Arial"/>
                <a:ea typeface="Arial"/>
                <a:cs typeface="Arial"/>
              </a:defRPr>
            </a:pPr>
            <a:r>
              <a:rPr sz="2175" b="1">
                <a:solidFill>
                  <a:srgbClr val="B8E3E9"/>
                </a:solidFill>
                <a:latin typeface="Arial"/>
                <a:ea typeface="Arial"/>
                <a:cs typeface="Arial"/>
              </a:rPr>
              <a:t>Decision</a:t>
            </a:r>
          </a:p>
        </p:txBody>
      </p:sp>
      <p:sp>
        <p:nvSpPr>
          <p:cNvPr id="13" name="Launch candidate">
            <a:extLst xmlns:a="http://schemas.openxmlformats.org/drawingml/2006/main">
              <a:ext uri="{FF2B5EF4-FFF2-40B4-BE49-F238E27FC236}">
                <a16:creationId xmlns:a16="http://schemas.microsoft.com/office/drawing/2014/main" id="{C5E61726-4114-4A13-A086-9FE56DDEF0B8}"/>
              </a:ext>
            </a:extLst>
          </p:cNvPr>
          <p:cNvSpPr>
            <a:spLocks xmlns:a="http://schemas.openxmlformats.org/drawingml/2006/main" noGrp="1"/>
          </p:cNvSpPr>
          <p:nvPr/>
        </p:nvSpPr>
        <p:spPr>
          <a:xfrm xmlns:a="http://schemas.openxmlformats.org/drawingml/2006/main">
            <a:off x="2571750" y="4933950"/>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F4FAFB"/>
                </a:solidFill>
                <a:latin typeface="Arial"/>
                <a:ea typeface="Arial"/>
                <a:cs typeface="Arial"/>
              </a:defRPr>
            </a:pPr>
            <a:r>
              <a:rPr sz="2400" b="1">
                <a:solidFill>
                  <a:srgbClr val="F4FAFB"/>
                </a:solidFill>
                <a:latin typeface="Arial"/>
                <a:ea typeface="Arial"/>
                <a:cs typeface="Arial"/>
              </a:rPr>
              <a:t>Launch decision</a:t>
            </a:r>
          </a:p>
        </p:txBody>
      </p:sp>
      <p:sp>
        <p:nvSpPr>
          <p:cNvPr id="14" name="Fix repeated failures, verify privacy, monitoring and cost contro">
            <a:extLst xmlns:a="http://schemas.openxmlformats.org/drawingml/2006/main">
              <a:ext uri="{FF2B5EF4-FFF2-40B4-BE49-F238E27FC236}">
                <a16:creationId xmlns:a16="http://schemas.microsoft.com/office/drawing/2014/main" id="{2C67EDA4-CFB0-4038-AA93-5C157ED5F925}"/>
              </a:ext>
            </a:extLst>
          </p:cNvPr>
          <p:cNvSpPr>
            <a:spLocks xmlns:a="http://schemas.openxmlformats.org/drawingml/2006/main" noGrp="1"/>
          </p:cNvSpPr>
          <p:nvPr/>
        </p:nvSpPr>
        <p:spPr>
          <a:xfrm xmlns:a="http://schemas.openxmlformats.org/drawingml/2006/main">
            <a:off x="2571750" y="5410200"/>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9DB8C8"/>
                </a:solidFill>
                <a:latin typeface="Arial"/>
                <a:ea typeface="Arial"/>
                <a:cs typeface="Arial"/>
              </a:defRPr>
            </a:pPr>
            <a:r>
              <a:rPr sz="1875" b="0">
                <a:solidFill>
                  <a:srgbClr val="9DB8C8"/>
                </a:solidFill>
                <a:latin typeface="Arial"/>
                <a:ea typeface="Arial"/>
                <a:cs typeface="Arial"/>
              </a:rPr>
              <a:t>Fix repeated failures; verify privacy, monitoring, cost and rollback controls.</a:t>
            </a:r>
          </a:p>
        </p:txBody>
      </p:sp>
      <p:sp>
        <p:nvSpPr>
          <p:cNvPr id="15" name="Target plan, not a guaranteed launch date. A seller timing study ">
            <a:extLst xmlns:a="http://schemas.openxmlformats.org/drawingml/2006/main">
              <a:ext uri="{FF2B5EF4-FFF2-40B4-BE49-F238E27FC236}">
                <a16:creationId xmlns:a16="http://schemas.microsoft.com/office/drawing/2014/main" id="{A0CB83F0-A7CD-4430-A854-AE73D9968C9D}"/>
              </a:ext>
            </a:extLst>
          </p:cNvPr>
          <p:cNvSpPr>
            <a:spLocks xmlns:a="http://schemas.openxmlformats.org/drawingml/2006/main" noGrp="1"/>
          </p:cNvSpPr>
          <p:nvPr/>
        </p:nvSpPr>
        <p:spPr>
          <a:xfrm xmlns:a="http://schemas.openxmlformats.org/drawingml/2006/main">
            <a:off x="628650" y="629602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DB8C8"/>
                </a:solidFill>
                <a:latin typeface="Arial"/>
                <a:ea typeface="Arial"/>
                <a:cs typeface="Arial"/>
              </a:defRPr>
            </a:pPr>
            <a:r>
              <a:rPr sz="1425" b="0">
                <a:solidFill>
                  <a:srgbClr val="9DB8C8"/>
                </a:solidFill>
                <a:latin typeface="Arial"/>
                <a:ea typeface="Arial"/>
                <a:cs typeface="Arial"/>
              </a:rPr>
              <a:t>Private beta is free. Accepted testers who finish the checklist receive six months after paid launch.</a:t>
            </a:r>
          </a:p>
        </p:txBody>
      </p:sp>
    </p:spTree>
    <p:extLst>
      <p:ext uri="{BB962C8B-B14F-4D97-AF65-F5344CB8AC3E}">
        <p14:creationId xmlns:p14="http://schemas.microsoft.com/office/powerpoint/2010/main" val="840517232"/>
      </p:ext>
    </p:extLst>
  </p:cSld>
</p:sld>
</file>

<file path=ppt/slides/slide17.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3" name="Feedback that can support V2">
            <a:extLst xmlns:a="http://schemas.openxmlformats.org/drawingml/2006/main">
              <a:ext uri="{FF2B5EF4-FFF2-40B4-BE49-F238E27FC236}">
                <a16:creationId xmlns:a16="http://schemas.microsoft.com/office/drawing/2014/main" id="{6A97AF30-E485-4BB8-9C64-D9890A186566}"/>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132A3C"/>
                </a:solidFill>
                <a:latin typeface="Arial"/>
                <a:ea typeface="Arial"/>
                <a:cs typeface="Arial"/>
              </a:defRPr>
            </a:pPr>
            <a:r>
              <a:rPr sz="3600" b="1">
                <a:solidFill>
                  <a:srgbClr val="132A3C"/>
                </a:solidFill>
                <a:latin typeface="Arial"/>
                <a:ea typeface="Arial"/>
                <a:cs typeface="Arial"/>
              </a:rPr>
              <a:t>Feedback that can support V2</a:t>
            </a:r>
          </a:p>
        </p:txBody>
      </p:sp>
      <p:sp>
        <p:nvSpPr>
          <p:cNvPr id="2" name="17">
            <a:extLst xmlns:a="http://schemas.openxmlformats.org/drawingml/2006/main">
              <a:ext uri="{FF2B5EF4-FFF2-40B4-BE49-F238E27FC236}">
                <a16:creationId xmlns:a16="http://schemas.microsoft.com/office/drawing/2014/main" id="{FF5A8699-9EE5-44B2-90CE-69B14E1F5845}"/>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17</a:t>
            </a:r>
          </a:p>
        </p:txBody>
      </p:sp>
      <p:sp>
        <p:nvSpPr>
          <p:cNvPr id="3" name="A planned pipeline with permission and review">
            <a:extLst xmlns:a="http://schemas.openxmlformats.org/drawingml/2006/main">
              <a:ext uri="{FF2B5EF4-FFF2-40B4-BE49-F238E27FC236}">
                <a16:creationId xmlns:a16="http://schemas.microsoft.com/office/drawing/2014/main" id="{DF5EEBF3-9AC6-4267-B182-B31C2F60F699}"/>
              </a:ext>
            </a:extLst>
          </p:cNvPr>
          <p:cNvSpPr>
            <a:spLocks xmlns:a="http://schemas.openxmlformats.org/drawingml/2006/main" noGrp="1"/>
          </p:cNvSpPr>
          <p:nvPr/>
        </p:nvSpPr>
        <p:spPr>
          <a:xfrm xmlns:a="http://schemas.openxmlformats.org/drawingml/2006/main">
            <a:off x="628650" y="1714500"/>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1">
                <a:solidFill>
                  <a:srgbClr val="256B7F"/>
                </a:solidFill>
                <a:latin typeface="Arial"/>
                <a:ea typeface="Arial"/>
                <a:cs typeface="Arial"/>
              </a:defRPr>
            </a:pPr>
            <a:r>
              <a:rPr sz="2700" b="1">
                <a:solidFill>
                  <a:srgbClr val="256B7F"/>
                </a:solidFill>
                <a:latin typeface="Arial"/>
                <a:ea typeface="Arial"/>
                <a:cs typeface="Arial"/>
              </a:rPr>
              <a:t>A live capture path with permission and review</a:t>
            </a:r>
          </a:p>
        </p:txBody>
      </p:sp>
      <p:sp>
        <p:nvSpPr>
          <p:cNvPr id="4" name="Report or correct">
            <a:extLst xmlns:a="http://schemas.openxmlformats.org/drawingml/2006/main">
              <a:ext uri="{FF2B5EF4-FFF2-40B4-BE49-F238E27FC236}">
                <a16:creationId xmlns:a16="http://schemas.microsoft.com/office/drawing/2014/main" id="{8F1678F8-9CCA-47FE-857E-EC8C4D66CB74}"/>
              </a:ext>
            </a:extLst>
          </p:cNvPr>
          <p:cNvSpPr>
            <a:spLocks xmlns:a="http://schemas.openxmlformats.org/drawingml/2006/main" noGrp="1"/>
          </p:cNvSpPr>
          <p:nvPr/>
        </p:nvSpPr>
        <p:spPr>
          <a:xfrm xmlns:a="http://schemas.openxmlformats.org/drawingml/2006/main">
            <a:off x="628650" y="2752725"/>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32A3C"/>
                </a:solidFill>
                <a:latin typeface="Arial"/>
                <a:ea typeface="Arial"/>
                <a:cs typeface="Arial"/>
              </a:defRPr>
            </a:pPr>
            <a:r>
              <a:rPr sz="2175" b="1">
                <a:solidFill>
                  <a:srgbClr val="132A3C"/>
                </a:solidFill>
                <a:latin typeface="Arial"/>
                <a:ea typeface="Arial"/>
                <a:cs typeface="Arial"/>
              </a:rPr>
              <a:t>Right, wrong or unresolved</a:t>
            </a:r>
          </a:p>
        </p:txBody>
      </p:sp>
      <p:sp>
        <p:nvSpPr>
          <p:cNvPr id="5" name="Keep the prediction, failure category and useful context.">
            <a:extLst xmlns:a="http://schemas.openxmlformats.org/drawingml/2006/main">
              <a:ext uri="{FF2B5EF4-FFF2-40B4-BE49-F238E27FC236}">
                <a16:creationId xmlns:a16="http://schemas.microsoft.com/office/drawing/2014/main" id="{8D34281B-2A09-420D-A642-FB84A75CB254}"/>
              </a:ext>
            </a:extLst>
          </p:cNvPr>
          <p:cNvSpPr>
            <a:spLocks xmlns:a="http://schemas.openxmlformats.org/drawingml/2006/main" noGrp="1"/>
          </p:cNvSpPr>
          <p:nvPr/>
        </p:nvSpPr>
        <p:spPr>
          <a:xfrm xmlns:a="http://schemas.openxmlformats.org/drawingml/2006/main">
            <a:off x="4572000" y="2771775"/>
            <a:ext cx="6962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32A3C"/>
                </a:solidFill>
                <a:latin typeface="Arial"/>
                <a:ea typeface="Arial"/>
                <a:cs typeface="Arial"/>
              </a:defRPr>
            </a:pPr>
            <a:r>
              <a:rPr sz="2025" b="0">
                <a:solidFill>
                  <a:srgbClr val="132A3C"/>
                </a:solidFill>
                <a:latin typeface="Arial"/>
                <a:ea typeface="Arial"/>
                <a:cs typeface="Arial"/>
              </a:rPr>
              <a:t>Keep the prediction, failure category and useful context.</a:t>
            </a:r>
          </a:p>
        </p:txBody>
      </p:sp>
      <p:sp>
        <p:nvSpPr>
          <p:cNvPr id="6" name="Consent and privacy">
            <a:extLst xmlns:a="http://schemas.openxmlformats.org/drawingml/2006/main">
              <a:ext uri="{FF2B5EF4-FFF2-40B4-BE49-F238E27FC236}">
                <a16:creationId xmlns:a16="http://schemas.microsoft.com/office/drawing/2014/main" id="{5D7E2A02-8A6B-4315-86B9-F163C78556C3}"/>
              </a:ext>
            </a:extLst>
          </p:cNvPr>
          <p:cNvSpPr>
            <a:spLocks xmlns:a="http://schemas.openxmlformats.org/drawingml/2006/main" noGrp="1"/>
          </p:cNvSpPr>
          <p:nvPr/>
        </p:nvSpPr>
        <p:spPr>
          <a:xfrm xmlns:a="http://schemas.openxmlformats.org/drawingml/2006/main">
            <a:off x="628650" y="3505200"/>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32A3C"/>
                </a:solidFill>
                <a:latin typeface="Arial"/>
                <a:ea typeface="Arial"/>
                <a:cs typeface="Arial"/>
              </a:defRPr>
            </a:pPr>
            <a:r>
              <a:rPr sz="2175" b="1">
                <a:solidFill>
                  <a:srgbClr val="132A3C"/>
                </a:solidFill>
                <a:latin typeface="Arial"/>
                <a:ea typeface="Arial"/>
                <a:cs typeface="Arial"/>
              </a:rPr>
              <a:t>Consent stays separate</a:t>
            </a:r>
          </a:p>
        </p:txBody>
      </p:sp>
      <p:sp>
        <p:nvSpPr>
          <p:cNvPr id="7" name="Record permission and screen out unsuitable information.">
            <a:extLst xmlns:a="http://schemas.openxmlformats.org/drawingml/2006/main">
              <a:ext uri="{FF2B5EF4-FFF2-40B4-BE49-F238E27FC236}">
                <a16:creationId xmlns:a16="http://schemas.microsoft.com/office/drawing/2014/main" id="{F527E1CA-EF83-4E2C-BB66-9792C85044CE}"/>
              </a:ext>
            </a:extLst>
          </p:cNvPr>
          <p:cNvSpPr>
            <a:spLocks xmlns:a="http://schemas.openxmlformats.org/drawingml/2006/main" noGrp="1"/>
          </p:cNvSpPr>
          <p:nvPr/>
        </p:nvSpPr>
        <p:spPr>
          <a:xfrm xmlns:a="http://schemas.openxmlformats.org/drawingml/2006/main">
            <a:off x="4572000" y="3524250"/>
            <a:ext cx="6962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32A3C"/>
                </a:solidFill>
                <a:latin typeface="Arial"/>
                <a:ea typeface="Arial"/>
                <a:cs typeface="Arial"/>
              </a:defRPr>
            </a:pPr>
            <a:r>
              <a:rPr sz="2025" b="0">
                <a:solidFill>
                  <a:srgbClr val="132A3C"/>
                </a:solidFill>
                <a:latin typeface="Arial"/>
                <a:ea typeface="Arial"/>
                <a:cs typeface="Arial"/>
              </a:rPr>
              <a:t>Store review permission explicitly; no upload joins training automatically.</a:t>
            </a:r>
          </a:p>
        </p:txBody>
      </p:sp>
      <p:sp>
        <p:nvSpPr>
          <p:cNvPr id="8" name="Verify the example">
            <a:extLst xmlns:a="http://schemas.openxmlformats.org/drawingml/2006/main">
              <a:ext uri="{FF2B5EF4-FFF2-40B4-BE49-F238E27FC236}">
                <a16:creationId xmlns:a16="http://schemas.microsoft.com/office/drawing/2014/main" id="{B9B4D534-97F7-4852-96F6-38D08B1E00E8}"/>
              </a:ext>
            </a:extLst>
          </p:cNvPr>
          <p:cNvSpPr>
            <a:spLocks xmlns:a="http://schemas.openxmlformats.org/drawingml/2006/main" noGrp="1"/>
          </p:cNvSpPr>
          <p:nvPr/>
        </p:nvSpPr>
        <p:spPr>
          <a:xfrm xmlns:a="http://schemas.openxmlformats.org/drawingml/2006/main">
            <a:off x="628650" y="4257675"/>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32A3C"/>
                </a:solidFill>
                <a:latin typeface="Arial"/>
                <a:ea typeface="Arial"/>
                <a:cs typeface="Arial"/>
              </a:defRPr>
            </a:pPr>
            <a:r>
              <a:rPr sz="2175" b="1">
                <a:solidFill>
                  <a:srgbClr val="132A3C"/>
                </a:solidFill>
                <a:latin typeface="Arial"/>
                <a:ea typeface="Arial"/>
                <a:cs typeface="Arial"/>
              </a:rPr>
              <a:t>Verify the example</a:t>
            </a:r>
          </a:p>
        </p:txBody>
      </p:sp>
      <p:sp>
        <p:nvSpPr>
          <p:cNvPr id="9" name="Review the correction against evidence before approval.">
            <a:extLst xmlns:a="http://schemas.openxmlformats.org/drawingml/2006/main">
              <a:ext uri="{FF2B5EF4-FFF2-40B4-BE49-F238E27FC236}">
                <a16:creationId xmlns:a16="http://schemas.microsoft.com/office/drawing/2014/main" id="{AA8D8838-6D5F-474E-B6F7-DE3089F04917}"/>
              </a:ext>
            </a:extLst>
          </p:cNvPr>
          <p:cNvSpPr>
            <a:spLocks xmlns:a="http://schemas.openxmlformats.org/drawingml/2006/main" noGrp="1"/>
          </p:cNvSpPr>
          <p:nvPr/>
        </p:nvSpPr>
        <p:spPr>
          <a:xfrm xmlns:a="http://schemas.openxmlformats.org/drawingml/2006/main">
            <a:off x="4572000" y="4276725"/>
            <a:ext cx="6962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32A3C"/>
                </a:solidFill>
                <a:latin typeface="Arial"/>
                <a:ea typeface="Arial"/>
                <a:cs typeface="Arial"/>
              </a:defRPr>
            </a:pPr>
            <a:r>
              <a:rPr sz="2025" b="0">
                <a:solidFill>
                  <a:srgbClr val="132A3C"/>
                </a:solidFill>
                <a:latin typeface="Arial"/>
                <a:ea typeface="Arial"/>
                <a:cs typeface="Arial"/>
              </a:rPr>
              <a:t>Review the correction against evidence before approval.</a:t>
            </a:r>
          </a:p>
        </p:txBody>
      </p:sp>
      <p:sp>
        <p:nvSpPr>
          <p:cNvPr id="10" name="Version and evaluate">
            <a:extLst xmlns:a="http://schemas.openxmlformats.org/drawingml/2006/main">
              <a:ext uri="{FF2B5EF4-FFF2-40B4-BE49-F238E27FC236}">
                <a16:creationId xmlns:a16="http://schemas.microsoft.com/office/drawing/2014/main" id="{4F103FFF-F7E7-4884-94B1-98B52C5F5FF6}"/>
              </a:ext>
            </a:extLst>
          </p:cNvPr>
          <p:cNvSpPr>
            <a:spLocks xmlns:a="http://schemas.openxmlformats.org/drawingml/2006/main" noGrp="1"/>
          </p:cNvSpPr>
          <p:nvPr/>
        </p:nvSpPr>
        <p:spPr>
          <a:xfrm xmlns:a="http://schemas.openxmlformats.org/drawingml/2006/main">
            <a:off x="628650" y="5010150"/>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32A3C"/>
                </a:solidFill>
                <a:latin typeface="Arial"/>
                <a:ea typeface="Arial"/>
                <a:cs typeface="Arial"/>
              </a:defRPr>
            </a:pPr>
            <a:r>
              <a:rPr sz="2175" b="1">
                <a:solidFill>
                  <a:srgbClr val="132A3C"/>
                </a:solidFill>
                <a:latin typeface="Arial"/>
                <a:ea typeface="Arial"/>
                <a:cs typeface="Arial"/>
              </a:rPr>
              <a:t>Version and evaluate</a:t>
            </a:r>
          </a:p>
        </p:txBody>
      </p:sp>
      <p:sp>
        <p:nvSpPr>
          <p:cNvPr id="11" name="Track dataset membership, then test changes before training.">
            <a:extLst xmlns:a="http://schemas.openxmlformats.org/drawingml/2006/main">
              <a:ext uri="{FF2B5EF4-FFF2-40B4-BE49-F238E27FC236}">
                <a16:creationId xmlns:a16="http://schemas.microsoft.com/office/drawing/2014/main" id="{2AE0A07A-9FA7-451B-928D-7D0D3DD7A4F2}"/>
              </a:ext>
            </a:extLst>
          </p:cNvPr>
          <p:cNvSpPr>
            <a:spLocks xmlns:a="http://schemas.openxmlformats.org/drawingml/2006/main" noGrp="1"/>
          </p:cNvSpPr>
          <p:nvPr/>
        </p:nvSpPr>
        <p:spPr>
          <a:xfrm xmlns:a="http://schemas.openxmlformats.org/drawingml/2006/main">
            <a:off x="4572000" y="5029200"/>
            <a:ext cx="6962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32A3C"/>
                </a:solidFill>
                <a:latin typeface="Arial"/>
                <a:ea typeface="Arial"/>
                <a:cs typeface="Arial"/>
              </a:defRPr>
            </a:pPr>
            <a:r>
              <a:rPr sz="2025" b="0">
                <a:solidFill>
                  <a:srgbClr val="132A3C"/>
                </a:solidFill>
                <a:latin typeface="Arial"/>
                <a:ea typeface="Arial"/>
                <a:cs typeface="Arial"/>
              </a:rPr>
              <a:t>Track dataset membership, then test changes before training.</a:t>
            </a:r>
          </a:p>
        </p:txBody>
      </p:sp>
      <p:sp>
        <p:nvSpPr>
          <p:cNvPr id="12" name="Current ratings and corrections provide a starting point. Uploads">
            <a:extLst xmlns:a="http://schemas.openxmlformats.org/drawingml/2006/main">
              <a:ext uri="{FF2B5EF4-FFF2-40B4-BE49-F238E27FC236}">
                <a16:creationId xmlns:a16="http://schemas.microsoft.com/office/drawing/2014/main" id="{5DDC06A5-FB06-459F-A819-00C048DCE897}"/>
              </a:ext>
            </a:extLst>
          </p:cNvPr>
          <p:cNvSpPr>
            <a:spLocks xmlns:a="http://schemas.openxmlformats.org/drawingml/2006/main" noGrp="1"/>
          </p:cNvSpPr>
          <p:nvPr/>
        </p:nvSpPr>
        <p:spPr>
          <a:xfrm xmlns:a="http://schemas.openxmlformats.org/drawingml/2006/main">
            <a:off x="628650" y="60674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256B7F"/>
                </a:solidFill>
                <a:latin typeface="Arial"/>
                <a:ea typeface="Arial"/>
                <a:cs typeface="Arial"/>
              </a:defRPr>
            </a:pPr>
            <a:r>
              <a:rPr sz="1800" b="0">
                <a:solidFill>
                  <a:srgbClr val="256B7F"/>
                </a:solidFill>
                <a:latin typeface="Arial"/>
                <a:ea typeface="Arial"/>
                <a:cs typeface="Arial"/>
              </a:rPr>
              <a:t>Ratings, corrections and opt-in records are live. Dataset approval and training remain review-gated.</a:t>
            </a:r>
          </a:p>
        </p:txBody>
      </p:sp>
    </p:spTree>
    <p:extLst>
      <p:ext uri="{BB962C8B-B14F-4D97-AF65-F5344CB8AC3E}">
        <p14:creationId xmlns:p14="http://schemas.microsoft.com/office/powerpoint/2010/main" val="889349862"/>
      </p:ext>
    </p:extLst>
  </p:cSld>
</p:sld>
</file>

<file path=ppt/slides/slide18.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6" name="18">
            <a:extLst xmlns:a="http://schemas.openxmlformats.org/drawingml/2006/main">
              <a:ext uri="{FF2B5EF4-FFF2-40B4-BE49-F238E27FC236}">
                <a16:creationId xmlns:a16="http://schemas.microsoft.com/office/drawing/2014/main" id="{847ECCB5-1162-4FD1-95EF-F4BC1ACD721C}"/>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56B7F"/>
                </a:solidFill>
                <a:latin typeface="Arial"/>
                <a:ea typeface="Arial"/>
                <a:cs typeface="Arial"/>
              </a:defRPr>
            </a:pPr>
            <a:r>
              <a:rPr sz="1275" b="0">
                <a:solidFill>
                  <a:srgbClr val="256B7F"/>
                </a:solidFill>
                <a:latin typeface="Arial"/>
                <a:ea typeface="Arial"/>
                <a:cs typeface="Arial"/>
              </a:rPr>
              <a:t>18</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a26a017b1f74bca"/>
          <a:stretch xmlns:a="http://schemas.openxmlformats.org/drawingml/2006/main"/>
        </p:blipFill>
        <p:spPr>
          <a:xfrm xmlns:a="http://schemas.openxmlformats.org/drawingml/2006/main">
            <a:off x="628650" y="537287"/>
            <a:ext cx="5286375" cy="1773400"/>
          </a:xfrm>
          <a:prstGeom xmlns:a="http://schemas.openxmlformats.org/drawingml/2006/main" prst="rect">
            <a:avLst/>
          </a:prstGeom>
        </p:spPr>
      </p:pic>
      <p:sp>
        <p:nvSpPr>
          <p:cNvPr id="3" name="A photo that helps you">
            <a:extLst xmlns:a="http://schemas.openxmlformats.org/drawingml/2006/main">
              <a:ext uri="{FF2B5EF4-FFF2-40B4-BE49-F238E27FC236}">
                <a16:creationId xmlns:a16="http://schemas.microsoft.com/office/drawing/2014/main" id="{12C9D05C-BB05-43F8-8272-5D3A00ACC265}"/>
              </a:ext>
            </a:extLst>
          </p:cNvPr>
          <p:cNvSpPr>
            <a:spLocks xmlns:a="http://schemas.openxmlformats.org/drawingml/2006/main" noGrp="1"/>
          </p:cNvSpPr>
          <p:nvPr/>
        </p:nvSpPr>
        <p:spPr>
          <a:xfrm xmlns:a="http://schemas.openxmlformats.org/drawingml/2006/main">
            <a:off x="628650" y="2724150"/>
            <a:ext cx="107537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32A3C"/>
                </a:solidFill>
                <a:latin typeface="Arial"/>
                <a:ea typeface="Arial"/>
                <a:cs typeface="Arial"/>
              </a:defRPr>
            </a:pPr>
            <a:r>
              <a:rPr sz="4275" b="1">
                <a:solidFill>
                  <a:srgbClr val="132A3C"/>
                </a:solidFill>
                <a:latin typeface="Arial"/>
                <a:ea typeface="Arial"/>
                <a:cs typeface="Arial"/>
              </a:rPr>
              <a:t>A photo that helps you</a:t>
            </a:r>
          </a:p>
          <a:p xmlns:a="http://schemas.openxmlformats.org/drawingml/2006/main">
            <a:pPr>
              <a:buNone/>
              <a:defRPr sz="4275" b="1">
                <a:solidFill>
                  <a:srgbClr val="132A3C"/>
                </a:solidFill>
                <a:latin typeface="Arial"/>
                <a:ea typeface="Arial"/>
                <a:cs typeface="Arial"/>
              </a:defRPr>
            </a:pPr>
            <a:r>
              <a:rPr sz="4275" b="1">
                <a:solidFill>
                  <a:srgbClr val="132A3C"/>
                </a:solidFill>
                <a:latin typeface="Arial"/>
                <a:ea typeface="Arial"/>
                <a:cs typeface="Arial"/>
              </a:rPr>
              <a:t>understand the part</a:t>
            </a:r>
          </a:p>
        </p:txBody>
      </p:sp>
      <p:sp>
        <p:nvSpPr>
          <p:cNvPr id="4" name="Useful information. Clear evidence.">
            <a:extLst xmlns:a="http://schemas.openxmlformats.org/drawingml/2006/main">
              <a:ext uri="{FF2B5EF4-FFF2-40B4-BE49-F238E27FC236}">
                <a16:creationId xmlns:a16="http://schemas.microsoft.com/office/drawing/2014/main" id="{F5D74132-56DE-4912-9929-712FFEAB743F}"/>
              </a:ext>
            </a:extLst>
          </p:cNvPr>
          <p:cNvSpPr>
            <a:spLocks xmlns:a="http://schemas.openxmlformats.org/drawingml/2006/main" noGrp="1"/>
          </p:cNvSpPr>
          <p:nvPr/>
        </p:nvSpPr>
        <p:spPr>
          <a:xfrm xmlns:a="http://schemas.openxmlformats.org/drawingml/2006/main">
            <a:off x="628650" y="4733925"/>
            <a:ext cx="1052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0">
                <a:solidFill>
                  <a:srgbClr val="256B7F"/>
                </a:solidFill>
                <a:latin typeface="Arial"/>
                <a:ea typeface="Arial"/>
                <a:cs typeface="Arial"/>
              </a:defRPr>
            </a:pPr>
            <a:r>
              <a:rPr sz="2475" b="0">
                <a:solidFill>
                  <a:srgbClr val="256B7F"/>
                </a:solidFill>
                <a:latin typeface="Arial"/>
                <a:ea typeface="Arial"/>
                <a:cs typeface="Arial"/>
              </a:rPr>
              <a:t>Useful information. Focused follow-ups.</a:t>
            </a:r>
          </a:p>
          <a:p xmlns:a="http://schemas.openxmlformats.org/drawingml/2006/main">
            <a:pPr>
              <a:buNone/>
              <a:defRPr sz="2475" b="0">
                <a:solidFill>
                  <a:srgbClr val="256B7F"/>
                </a:solidFill>
                <a:latin typeface="Arial"/>
                <a:ea typeface="Arial"/>
                <a:cs typeface="Arial"/>
              </a:defRPr>
            </a:pPr>
            <a:r>
              <a:rPr sz="2475" b="0">
                <a:solidFill>
                  <a:srgbClr val="256B7F"/>
                </a:solidFill>
                <a:latin typeface="Arial"/>
                <a:ea typeface="Arial"/>
                <a:cs typeface="Arial"/>
              </a:rPr>
              <a:t>Mark what went wrong or remains unclear.</a:t>
            </a:r>
          </a:p>
        </p:txBody>
      </p:sp>
      <p:sp>
        <p:nvSpPr>
          <p:cNvPr id="5" name="Next: finish the focused V1, test with real users and let the evi">
            <a:extLst xmlns:a="http://schemas.openxmlformats.org/drawingml/2006/main">
              <a:ext uri="{FF2B5EF4-FFF2-40B4-BE49-F238E27FC236}">
                <a16:creationId xmlns:a16="http://schemas.microsoft.com/office/drawing/2014/main" id="{A35B6AAF-233E-4BD6-91DC-0A8959490296}"/>
              </a:ext>
            </a:extLst>
          </p:cNvPr>
          <p:cNvSpPr>
            <a:spLocks xmlns:a="http://schemas.openxmlformats.org/drawingml/2006/main" noGrp="1"/>
          </p:cNvSpPr>
          <p:nvPr/>
        </p:nvSpPr>
        <p:spPr>
          <a:xfrm xmlns:a="http://schemas.openxmlformats.org/drawingml/2006/main">
            <a:off x="628650" y="6115050"/>
            <a:ext cx="105060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132A3C"/>
                </a:solidFill>
                <a:latin typeface="Arial"/>
                <a:ea typeface="Arial"/>
                <a:cs typeface="Arial"/>
              </a:defRPr>
            </a:pPr>
            <a:r>
              <a:rPr sz="1800" b="0">
                <a:solidFill>
                  <a:srgbClr val="132A3C"/>
                </a:solidFill>
                <a:latin typeface="Arial"/>
                <a:ea typeface="Arial"/>
                <a:cs typeface="Arial"/>
              </a:rPr>
              <a:t>Next: run the founding tester program, measure failures and let the evidence decide V1.</a:t>
            </a:r>
          </a:p>
        </p:txBody>
      </p:sp>
    </p:spTree>
    <p:extLst>
      <p:ext uri="{BB962C8B-B14F-4D97-AF65-F5344CB8AC3E}">
        <p14:creationId xmlns:p14="http://schemas.microsoft.com/office/powerpoint/2010/main" val="5951818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2026-10-02T02:02:59.1020000Z</dcterms:created>
  <dcterms:modified xsi:type="dcterms:W3CDTF">2026-10-02T02:02:59.1020000Z</dcterms:modified>
</coreProperties>
</file>